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Montserrat"/>
      <p:regular r:id="rId21"/>
      <p:bold r:id="rId22"/>
      <p:italic r:id="rId23"/>
      <p:boldItalic r:id="rId24"/>
    </p:embeddedFont>
    <p:embeddedFont>
      <p:font typeface="Urbanis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Urbanist-bold.fntdata"/><Relationship Id="rId25" Type="http://schemas.openxmlformats.org/officeDocument/2006/relationships/font" Target="fonts/Urbanist-regular.fntdata"/><Relationship Id="rId28" Type="http://schemas.openxmlformats.org/officeDocument/2006/relationships/font" Target="fonts/Urbanist-boldItalic.fntdata"/><Relationship Id="rId27" Type="http://schemas.openxmlformats.org/officeDocument/2006/relationships/font" Target="fonts/Urbanis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25.png"/><Relationship Id="rId7" Type="http://schemas.openxmlformats.org/officeDocument/2006/relationships/image" Target="../media/image13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8.png"/><Relationship Id="rId10" Type="http://schemas.openxmlformats.org/officeDocument/2006/relationships/image" Target="../media/image19.png"/><Relationship Id="rId13" Type="http://schemas.openxmlformats.org/officeDocument/2006/relationships/image" Target="../media/image22.png"/><Relationship Id="rId1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14.png"/><Relationship Id="rId14" Type="http://schemas.openxmlformats.org/officeDocument/2006/relationships/image" Target="../media/image18.png"/><Relationship Id="rId5" Type="http://schemas.openxmlformats.org/officeDocument/2006/relationships/image" Target="../media/image9.png"/><Relationship Id="rId6" Type="http://schemas.openxmlformats.org/officeDocument/2006/relationships/image" Target="../media/image11.png"/><Relationship Id="rId7" Type="http://schemas.openxmlformats.org/officeDocument/2006/relationships/image" Target="../media/image10.png"/><Relationship Id="rId8" Type="http://schemas.openxmlformats.org/officeDocument/2006/relationships/image" Target="../media/image1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4.png"/><Relationship Id="rId5" Type="http://schemas.openxmlformats.org/officeDocument/2006/relationships/image" Target="../media/image34.png"/><Relationship Id="rId6" Type="http://schemas.openxmlformats.org/officeDocument/2006/relationships/image" Target="../media/image2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3.png"/><Relationship Id="rId5" Type="http://schemas.openxmlformats.org/officeDocument/2006/relationships/image" Target="../media/image41.png"/><Relationship Id="rId6" Type="http://schemas.openxmlformats.org/officeDocument/2006/relationships/image" Target="../media/image32.png"/><Relationship Id="rId7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0.png"/><Relationship Id="rId5" Type="http://schemas.openxmlformats.org/officeDocument/2006/relationships/image" Target="../media/image16.png"/><Relationship Id="rId6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1.png"/><Relationship Id="rId10" Type="http://schemas.openxmlformats.org/officeDocument/2006/relationships/image" Target="../media/image33.png"/><Relationship Id="rId13" Type="http://schemas.openxmlformats.org/officeDocument/2006/relationships/image" Target="../media/image36.png"/><Relationship Id="rId1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7.png"/><Relationship Id="rId9" Type="http://schemas.openxmlformats.org/officeDocument/2006/relationships/image" Target="../media/image27.png"/><Relationship Id="rId5" Type="http://schemas.openxmlformats.org/officeDocument/2006/relationships/image" Target="../media/image40.png"/><Relationship Id="rId6" Type="http://schemas.openxmlformats.org/officeDocument/2006/relationships/image" Target="../media/image39.png"/><Relationship Id="rId7" Type="http://schemas.openxmlformats.org/officeDocument/2006/relationships/image" Target="../media/image28.png"/><Relationship Id="rId8" Type="http://schemas.openxmlformats.org/officeDocument/2006/relationships/image" Target="../media/image3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5.png"/><Relationship Id="rId9" Type="http://schemas.openxmlformats.org/officeDocument/2006/relationships/image" Target="../media/image59.png"/><Relationship Id="rId5" Type="http://schemas.openxmlformats.org/officeDocument/2006/relationships/image" Target="../media/image42.png"/><Relationship Id="rId6" Type="http://schemas.openxmlformats.org/officeDocument/2006/relationships/image" Target="../media/image46.png"/><Relationship Id="rId7" Type="http://schemas.openxmlformats.org/officeDocument/2006/relationships/image" Target="../media/image55.png"/><Relationship Id="rId8" Type="http://schemas.openxmlformats.org/officeDocument/2006/relationships/image" Target="../media/image4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44.png"/><Relationship Id="rId5" Type="http://schemas.openxmlformats.org/officeDocument/2006/relationships/image" Target="../media/image5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43.png"/><Relationship Id="rId5" Type="http://schemas.openxmlformats.org/officeDocument/2006/relationships/image" Target="../media/image45.png"/><Relationship Id="rId6" Type="http://schemas.openxmlformats.org/officeDocument/2006/relationships/image" Target="../media/image61.png"/><Relationship Id="rId7" Type="http://schemas.openxmlformats.org/officeDocument/2006/relationships/image" Target="../media/image57.png"/><Relationship Id="rId8" Type="http://schemas.openxmlformats.org/officeDocument/2006/relationships/image" Target="../media/image6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4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56.png"/><Relationship Id="rId5" Type="http://schemas.openxmlformats.org/officeDocument/2006/relationships/image" Target="../media/image50.png"/><Relationship Id="rId6" Type="http://schemas.openxmlformats.org/officeDocument/2006/relationships/image" Target="../media/image6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Relationship Id="rId6" Type="http://schemas.openxmlformats.org/officeDocument/2006/relationships/image" Target="../media/image31.png"/><Relationship Id="rId7" Type="http://schemas.openxmlformats.org/officeDocument/2006/relationships/image" Target="../media/image6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62.png"/><Relationship Id="rId5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4046041"/>
            <a:ext cx="1009828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485775" y="1554658"/>
            <a:ext cx="10603200" cy="1131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SPOTIFY PLAYLIST EXTENSION WITH </a:t>
            </a:r>
            <a:r>
              <a:rPr b="1" i="0" lang="en-US" sz="4050" u="none" cap="none" strike="noStrik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PATTERN MINING</a:t>
            </a:r>
            <a:r>
              <a:rPr b="1" i="0" lang="en-US" sz="40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AND CLUSTERING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485775" y="2876550"/>
            <a:ext cx="8572500" cy="693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Automatic Playlist Continuation Using Association Rules, Clustering, and Hybrid Recommendation Models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485775" y="4512766"/>
            <a:ext cx="444430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Adarsh Singh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485775" y="4922341"/>
            <a:ext cx="444430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CSCI 6443: Data Mining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311080" y="4512766"/>
            <a:ext cx="52729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Fall 2025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311080" y="4922341"/>
            <a:ext cx="52729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Project Repo: spotify-playlist-mining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6" name="Google Shape;9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1598860"/>
            <a:ext cx="11220450" cy="48686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1685180"/>
            <a:ext cx="2662237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338512" y="1685180"/>
            <a:ext cx="2662237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91250" y="1685180"/>
            <a:ext cx="2662237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043987" y="1685180"/>
            <a:ext cx="2662237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676275" y="722560"/>
            <a:ext cx="115157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Dataset Overview: The "Long Tail"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485775" y="722560"/>
            <a:ext cx="47625" cy="4953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485775" y="3028205"/>
            <a:ext cx="11706225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AAAAAA"/>
                </a:solidFill>
                <a:latin typeface="Montserrat"/>
                <a:ea typeface="Montserrat"/>
                <a:cs typeface="Montserrat"/>
                <a:sym typeface="Montserrat"/>
              </a:rPr>
              <a:t>Track Frequency Distribution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76275" y="1875680"/>
            <a:ext cx="228123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1.0M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76275" y="2342405"/>
            <a:ext cx="22812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3B3B3"/>
                </a:solidFill>
                <a:latin typeface="Montserrat"/>
                <a:ea typeface="Montserrat"/>
                <a:cs typeface="Montserrat"/>
                <a:sym typeface="Montserrat"/>
              </a:rPr>
              <a:t>PLAYLISTS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3529012" y="1875680"/>
            <a:ext cx="228123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66.3M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3529012" y="2342405"/>
            <a:ext cx="22812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3B3B3"/>
                </a:solidFill>
                <a:latin typeface="Montserrat"/>
                <a:ea typeface="Montserrat"/>
                <a:cs typeface="Montserrat"/>
                <a:sym typeface="Montserrat"/>
              </a:rPr>
              <a:t>TRACKS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6381750" y="1875680"/>
            <a:ext cx="228123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2.26M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381750" y="2342405"/>
            <a:ext cx="22812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3B3B3"/>
                </a:solidFill>
                <a:latin typeface="Montserrat"/>
                <a:ea typeface="Montserrat"/>
                <a:cs typeface="Montserrat"/>
                <a:sym typeface="Montserrat"/>
              </a:rPr>
              <a:t>UNIQUE TRACKS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9234487" y="1875680"/>
            <a:ext cx="2281237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66.3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9234487" y="2342405"/>
            <a:ext cx="2281237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3B3B3"/>
                </a:solidFill>
                <a:latin typeface="Montserrat"/>
                <a:ea typeface="Montserrat"/>
                <a:cs typeface="Montserrat"/>
                <a:sym typeface="Montserrat"/>
              </a:rPr>
              <a:t>AVG LENGTH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7" name="Google Shape;11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175718"/>
            <a:ext cx="5372100" cy="3714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676275" y="722560"/>
            <a:ext cx="115157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Challenge: Sparsity &amp; Inequality</a:t>
            </a: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485775" y="722560"/>
            <a:ext cx="47625" cy="4953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485775" y="3071068"/>
            <a:ext cx="564070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Key Insights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53300" y="2366218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771525" y="3499693"/>
            <a:ext cx="5086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Extreme Sparsity: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47% of tracks appear in only 1 playlist. This creates a massive "Cold Start" problem.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771525" y="4156918"/>
            <a:ext cx="5086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Inequality: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A Gini Coefficient of </a:t>
            </a: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0.921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indicates an extreme popularity bias.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71525" y="4814143"/>
            <a:ext cx="5086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Oligarchy: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A tiny fraction of "superstar" songs dominate the dataset.</a:t>
            </a:r>
            <a:endParaRPr/>
          </a:p>
        </p:txBody>
      </p:sp>
      <p:pic>
        <p:nvPicPr>
          <p:cNvPr descr="image.png" id="126" name="Google Shape;12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775" y="3547318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5775" y="4204543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8" name="Google Shape;128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5775" y="4861768"/>
            <a:ext cx="1905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385292"/>
            <a:ext cx="5372100" cy="5295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24625" y="2175867"/>
            <a:ext cx="49911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24625" y="3090267"/>
            <a:ext cx="49911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24625" y="4004667"/>
            <a:ext cx="49911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24625" y="4919067"/>
            <a:ext cx="4991100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24625" y="5833467"/>
            <a:ext cx="4991100" cy="561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676275" y="508992"/>
            <a:ext cx="115157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Phase 1: Data Processing</a:t>
            </a:r>
            <a:endParaRPr/>
          </a:p>
        </p:txBody>
      </p:sp>
      <p:sp>
        <p:nvSpPr>
          <p:cNvPr id="141" name="Google Shape;141;p16"/>
          <p:cNvSpPr/>
          <p:nvPr/>
        </p:nvSpPr>
        <p:spPr>
          <a:xfrm>
            <a:off x="485775" y="508992"/>
            <a:ext cx="47625" cy="4953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 txBox="1"/>
          <p:nvPr/>
        </p:nvSpPr>
        <p:spPr>
          <a:xfrm>
            <a:off x="485775" y="3104554"/>
            <a:ext cx="564070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Infrastructure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485775" y="3552229"/>
            <a:ext cx="53721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Processing 66M+ entries required careful optimization on local hardware.</a:t>
            </a:r>
            <a:endParaRPr/>
          </a:p>
        </p:txBody>
      </p:sp>
      <p:sp>
        <p:nvSpPr>
          <p:cNvPr id="144" name="Google Shape;144;p16"/>
          <p:cNvSpPr txBox="1"/>
          <p:nvPr/>
        </p:nvSpPr>
        <p:spPr>
          <a:xfrm>
            <a:off x="6399847" y="1804392"/>
            <a:ext cx="524065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Pipeline Flow</a:t>
            </a:r>
            <a:endParaRPr/>
          </a:p>
        </p:txBody>
      </p:sp>
      <p:pic>
        <p:nvPicPr>
          <p:cNvPr descr="image.png" id="145" name="Google Shape;145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85775" y="3123604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6" name="Google Shape;146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953500" y="2852142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953500" y="3766542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953500" y="4680942"/>
            <a:ext cx="1333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8953500" y="5595342"/>
            <a:ext cx="1333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6"/>
          <p:cNvSpPr txBox="1"/>
          <p:nvPr/>
        </p:nvSpPr>
        <p:spPr>
          <a:xfrm>
            <a:off x="771525" y="3980854"/>
            <a:ext cx="5086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Hardware: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Local processing on M4 MacBook (32GB RAM).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771525" y="4380904"/>
            <a:ext cx="5086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Optimization: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Optimized Pandas operations for memory efficiency.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771525" y="4780954"/>
            <a:ext cx="5086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Format: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Used </a:t>
            </a: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Parquet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format for fast I/O and compression.</a:t>
            </a:r>
            <a:endParaRPr/>
          </a:p>
        </p:txBody>
      </p:sp>
      <p:pic>
        <p:nvPicPr>
          <p:cNvPr descr="image.png" id="153" name="Google Shape;153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5775" y="4028479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85775" y="4428529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85775" y="4828579"/>
            <a:ext cx="13335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1942355"/>
            <a:ext cx="5372100" cy="4181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42355"/>
            <a:ext cx="5372100" cy="4181475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676275" y="722560"/>
            <a:ext cx="115157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Phase 2: Mining &amp; Clustering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485775" y="722560"/>
            <a:ext cx="47625" cy="4953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819150" y="2504330"/>
            <a:ext cx="494061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Phase 2A: Association Rules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19150" y="3047255"/>
            <a:ext cx="4705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Algorithm: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FP-Growth (Fast Pattern Growth)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819150" y="3647330"/>
            <a:ext cx="4705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Input: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1M Playlists as Transactions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819150" y="4247405"/>
            <a:ext cx="4705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Metrics: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6667500" y="2761505"/>
            <a:ext cx="494061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7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Phase 2B: Clustering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667500" y="3304430"/>
            <a:ext cx="4705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Algorithm: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K-Means on Track Features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6667500" y="3904505"/>
            <a:ext cx="4705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Input: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Playlist Embeddings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6667500" y="4504580"/>
            <a:ext cx="4705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Purpose: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Group similar playlists together.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6667500" y="5104655"/>
            <a:ext cx="4705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DB954"/>
                </a:solidFill>
                <a:latin typeface="Urbanist"/>
                <a:ea typeface="Urbanist"/>
                <a:cs typeface="Urbanist"/>
                <a:sym typeface="Urbanist"/>
              </a:rPr>
              <a:t>Result: 5 distinct cluster groups representing playlist "types".</a:t>
            </a:r>
            <a:endParaRPr/>
          </a:p>
        </p:txBody>
      </p:sp>
      <p:pic>
        <p:nvPicPr>
          <p:cNvPr descr="image.png" id="174" name="Google Shape;17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" y="252338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7"/>
          <p:cNvSpPr txBox="1"/>
          <p:nvPr/>
        </p:nvSpPr>
        <p:spPr>
          <a:xfrm>
            <a:off x="1171575" y="484748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1200150" y="4847480"/>
            <a:ext cx="432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Support: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How many playlists have A &amp; B?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1171575" y="5104655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1200150" y="5104655"/>
            <a:ext cx="432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Confidence: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If A appears, how likely is B?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1171575" y="5361830"/>
            <a:ext cx="285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80" name="Google Shape;180;p17"/>
          <p:cNvSpPr txBox="1"/>
          <p:nvPr/>
        </p:nvSpPr>
        <p:spPr>
          <a:xfrm>
            <a:off x="1200150" y="5361830"/>
            <a:ext cx="4324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Lift: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How much more likely than random chance?</a:t>
            </a:r>
            <a:endParaRPr/>
          </a:p>
        </p:txBody>
      </p:sp>
      <p:pic>
        <p:nvPicPr>
          <p:cNvPr descr="image.png" id="181" name="Google Shape;18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67500" y="2780555"/>
            <a:ext cx="25717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1994743"/>
            <a:ext cx="5467350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994743"/>
            <a:ext cx="5467350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775" y="3966418"/>
            <a:ext cx="5467350" cy="1914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38875" y="3966418"/>
            <a:ext cx="5467350" cy="19145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676275" y="722560"/>
            <a:ext cx="115157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Phase 3: Build &amp; Test Four Models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485775" y="722560"/>
            <a:ext cx="47625" cy="4953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676275" y="2413843"/>
            <a:ext cx="534066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1. Popularity Baseline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76275" y="2842468"/>
            <a:ext cx="5086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Rec:</a:t>
            </a:r>
            <a:r>
              <a:rPr b="0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Most-played global songs.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Reasoning:</a:t>
            </a:r>
            <a:r>
              <a:rPr b="0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"Wisdom of Crowds". If many like it, you probably will too.</a:t>
            </a:r>
            <a:endParaRPr/>
          </a:p>
        </p:txBody>
      </p:sp>
      <p:sp>
        <p:nvSpPr>
          <p:cNvPr id="195" name="Google Shape;195;p18"/>
          <p:cNvSpPr txBox="1"/>
          <p:nvPr/>
        </p:nvSpPr>
        <p:spPr>
          <a:xfrm>
            <a:off x="6429375" y="2413843"/>
            <a:ext cx="534066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2. Co-occurrence Based</a:t>
            </a:r>
            <a:endParaRPr/>
          </a:p>
        </p:txBody>
      </p:sp>
      <p:sp>
        <p:nvSpPr>
          <p:cNvPr id="196" name="Google Shape;196;p18"/>
          <p:cNvSpPr txBox="1"/>
          <p:nvPr/>
        </p:nvSpPr>
        <p:spPr>
          <a:xfrm>
            <a:off x="6429375" y="2842468"/>
            <a:ext cx="5086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Rec:</a:t>
            </a:r>
            <a:r>
              <a:rPr b="0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Using association rules.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Reasoning:</a:t>
            </a:r>
            <a:r>
              <a:rPr b="0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Find songs that frequently appear with your tracks (Lift &gt; 2.0).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676275" y="4385518"/>
            <a:ext cx="534066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3. SVD (Collab Filtering)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676275" y="4814143"/>
            <a:ext cx="50863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Rec:</a:t>
            </a:r>
            <a:r>
              <a:rPr b="0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Matrix factorization.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Reasoning:</a:t>
            </a:r>
            <a:r>
              <a:rPr b="0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Find playlists mathematically similar to yours and suggest their songs.</a:t>
            </a:r>
            <a:endParaRPr/>
          </a:p>
        </p:txBody>
      </p:sp>
      <p:sp>
        <p:nvSpPr>
          <p:cNvPr id="199" name="Google Shape;199;p18"/>
          <p:cNvSpPr txBox="1"/>
          <p:nvPr/>
        </p:nvSpPr>
        <p:spPr>
          <a:xfrm>
            <a:off x="6429375" y="4385518"/>
            <a:ext cx="534066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4. Neural Network (PCA)</a:t>
            </a:r>
            <a:endParaRPr/>
          </a:p>
        </p:txBody>
      </p:sp>
      <p:sp>
        <p:nvSpPr>
          <p:cNvPr id="200" name="Google Shape;200;p18"/>
          <p:cNvSpPr txBox="1"/>
          <p:nvPr/>
        </p:nvSpPr>
        <p:spPr>
          <a:xfrm>
            <a:off x="6429375" y="4814143"/>
            <a:ext cx="50863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Rec:</a:t>
            </a:r>
            <a:r>
              <a:rPr b="0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Deep learning on embeddings.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Reasoning:</a:t>
            </a:r>
            <a:r>
              <a:rPr b="0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Learn complex non-linear patterns from playlist vectors.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5" name="Google Shape;205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6" name="Google Shape;206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2961530"/>
            <a:ext cx="5372100" cy="21431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7" name="Google Shape;207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066180"/>
            <a:ext cx="5372100" cy="393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19"/>
          <p:cNvSpPr txBox="1"/>
          <p:nvPr/>
        </p:nvSpPr>
        <p:spPr>
          <a:xfrm>
            <a:off x="676275" y="722560"/>
            <a:ext cx="115157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Association Mining Results</a:t>
            </a:r>
            <a:endParaRPr/>
          </a:p>
        </p:txBody>
      </p:sp>
      <p:sp>
        <p:nvSpPr>
          <p:cNvPr id="209" name="Google Shape;209;p19"/>
          <p:cNvSpPr/>
          <p:nvPr/>
        </p:nvSpPr>
        <p:spPr>
          <a:xfrm>
            <a:off x="485775" y="722560"/>
            <a:ext cx="47625" cy="4953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485775" y="3132980"/>
            <a:ext cx="53721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We discovered </a:t>
            </a: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10,000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high-confidence patterns.</a:t>
            </a:r>
            <a:endParaRPr/>
          </a:p>
        </p:txBody>
      </p:sp>
      <p:pic>
        <p:nvPicPr>
          <p:cNvPr descr="image.png" id="211" name="Google Shape;21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10625" y="2456705"/>
            <a:ext cx="4191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9"/>
          <p:cNvSpPr txBox="1"/>
          <p:nvPr/>
        </p:nvSpPr>
        <p:spPr>
          <a:xfrm>
            <a:off x="6724650" y="3123455"/>
            <a:ext cx="4591050" cy="695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1,282x</a:t>
            </a:r>
            <a:endParaRPr/>
          </a:p>
        </p:txBody>
      </p:sp>
      <p:sp>
        <p:nvSpPr>
          <p:cNvPr id="213" name="Google Shape;213;p19"/>
          <p:cNvSpPr txBox="1"/>
          <p:nvPr/>
        </p:nvSpPr>
        <p:spPr>
          <a:xfrm>
            <a:off x="6724650" y="3818780"/>
            <a:ext cx="45910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AVERAGE LIFT</a:t>
            </a:r>
            <a:endParaRPr/>
          </a:p>
        </p:txBody>
      </p:sp>
      <p:sp>
        <p:nvSpPr>
          <p:cNvPr id="214" name="Google Shape;214;p19"/>
          <p:cNvSpPr txBox="1"/>
          <p:nvPr/>
        </p:nvSpPr>
        <p:spPr>
          <a:xfrm>
            <a:off x="6724650" y="4399805"/>
            <a:ext cx="45910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10,960x</a:t>
            </a:r>
            <a:endParaRPr/>
          </a:p>
        </p:txBody>
      </p:sp>
      <p:sp>
        <p:nvSpPr>
          <p:cNvPr id="215" name="Google Shape;215;p19"/>
          <p:cNvSpPr txBox="1"/>
          <p:nvPr/>
        </p:nvSpPr>
        <p:spPr>
          <a:xfrm>
            <a:off x="6724650" y="4866530"/>
            <a:ext cx="45910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Montserrat"/>
                <a:ea typeface="Montserrat"/>
                <a:cs typeface="Montserrat"/>
                <a:sym typeface="Montserrat"/>
              </a:rPr>
              <a:t>MAX LIFT</a:t>
            </a:r>
            <a:endParaRPr/>
          </a:p>
        </p:txBody>
      </p:sp>
      <p:sp>
        <p:nvSpPr>
          <p:cNvPr id="216" name="Google Shape;216;p19"/>
          <p:cNvSpPr txBox="1"/>
          <p:nvPr/>
        </p:nvSpPr>
        <p:spPr>
          <a:xfrm>
            <a:off x="6724650" y="5228480"/>
            <a:ext cx="4591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Songs with this lift are mathematically inseparable.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1" name="Google Shape;22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366218"/>
            <a:ext cx="53721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63175" y="4033093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4" name="Google Shape;22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686925" y="4699843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5" name="Google Shape;225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877175" y="4699843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210550" y="3747343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7" name="Google Shape;227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210675" y="2985343"/>
            <a:ext cx="285750" cy="28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8" name="Google Shape;228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39175" y="3652093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0"/>
          <p:cNvSpPr txBox="1"/>
          <p:nvPr/>
        </p:nvSpPr>
        <p:spPr>
          <a:xfrm>
            <a:off x="676275" y="722560"/>
            <a:ext cx="115157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Network Structure</a:t>
            </a:r>
            <a:endParaRPr/>
          </a:p>
        </p:txBody>
      </p:sp>
      <p:sp>
        <p:nvSpPr>
          <p:cNvPr id="230" name="Google Shape;230;p20"/>
          <p:cNvSpPr/>
          <p:nvPr/>
        </p:nvSpPr>
        <p:spPr>
          <a:xfrm>
            <a:off x="485775" y="722560"/>
            <a:ext cx="47625" cy="4953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 txBox="1"/>
          <p:nvPr/>
        </p:nvSpPr>
        <p:spPr>
          <a:xfrm>
            <a:off x="485775" y="2975818"/>
            <a:ext cx="564070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"Superstar" Hubs</a:t>
            </a:r>
            <a:endParaRPr/>
          </a:p>
        </p:txBody>
      </p:sp>
      <p:sp>
        <p:nvSpPr>
          <p:cNvPr id="232" name="Google Shape;232;p20"/>
          <p:cNvSpPr txBox="1"/>
          <p:nvPr/>
        </p:nvSpPr>
        <p:spPr>
          <a:xfrm>
            <a:off x="485775" y="3423493"/>
            <a:ext cx="53721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The recommendation graph relies heavily on central hubs.</a:t>
            </a:r>
            <a:endParaRPr/>
          </a:p>
        </p:txBody>
      </p:sp>
      <p:sp>
        <p:nvSpPr>
          <p:cNvPr id="233" name="Google Shape;233;p20"/>
          <p:cNvSpPr/>
          <p:nvPr/>
        </p:nvSpPr>
        <p:spPr>
          <a:xfrm>
            <a:off x="9020175" y="4033093"/>
            <a:ext cx="1143000" cy="1905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9013439" y="4035883"/>
            <a:ext cx="686989" cy="686989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8345176" y="4037855"/>
            <a:ext cx="683247" cy="1164369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8211365" y="3740471"/>
            <a:ext cx="812067" cy="311097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0"/>
          <p:cNvSpPr/>
          <p:nvPr/>
        </p:nvSpPr>
        <p:spPr>
          <a:xfrm>
            <a:off x="9010794" y="3009132"/>
            <a:ext cx="200700" cy="103514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0"/>
          <p:cNvSpPr/>
          <p:nvPr/>
        </p:nvSpPr>
        <p:spPr>
          <a:xfrm>
            <a:off x="6871245" y="3032968"/>
            <a:ext cx="38100" cy="381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0"/>
          <p:cNvSpPr/>
          <p:nvPr/>
        </p:nvSpPr>
        <p:spPr>
          <a:xfrm>
            <a:off x="11168955" y="5033218"/>
            <a:ext cx="38100" cy="38100"/>
          </a:xfrm>
          <a:prstGeom prst="roundRect">
            <a:avLst>
              <a:gd fmla="val 16667" name="adj"/>
            </a:avLst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771525" y="3852118"/>
            <a:ext cx="5086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Graph Density: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0.74 (Very High connectivity).</a:t>
            </a:r>
            <a:endParaRPr/>
          </a:p>
        </p:txBody>
      </p:sp>
      <p:sp>
        <p:nvSpPr>
          <p:cNvPr id="241" name="Google Shape;241;p20"/>
          <p:cNvSpPr txBox="1"/>
          <p:nvPr/>
        </p:nvSpPr>
        <p:spPr>
          <a:xfrm>
            <a:off x="771525" y="4252168"/>
            <a:ext cx="5086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Hub Nodes: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A single song can connect to 3.56 Million other paths.</a:t>
            </a:r>
            <a:endParaRPr/>
          </a:p>
        </p:txBody>
      </p:sp>
      <p:sp>
        <p:nvSpPr>
          <p:cNvPr id="242" name="Google Shape;242;p20"/>
          <p:cNvSpPr txBox="1"/>
          <p:nvPr/>
        </p:nvSpPr>
        <p:spPr>
          <a:xfrm>
            <a:off x="771525" y="4652218"/>
            <a:ext cx="5086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These hubs act as "bridges" between different clusters, crucial for the Popularity model.</a:t>
            </a:r>
            <a:endParaRPr/>
          </a:p>
        </p:txBody>
      </p:sp>
      <p:pic>
        <p:nvPicPr>
          <p:cNvPr descr="image.png" id="243" name="Google Shape;243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5775" y="3899743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85775" y="4299793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0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85775" y="4699843"/>
            <a:ext cx="1524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1" name="Google Shape;25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4490293"/>
            <a:ext cx="1122045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2" name="Google Shape;25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2899618"/>
            <a:ext cx="216783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748855" y="2899618"/>
            <a:ext cx="216783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11935" y="2899618"/>
            <a:ext cx="2167979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275165" y="2899618"/>
            <a:ext cx="2167830" cy="1209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538245" y="2899618"/>
            <a:ext cx="2167979" cy="120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1"/>
          <p:cNvSpPr txBox="1"/>
          <p:nvPr/>
        </p:nvSpPr>
        <p:spPr>
          <a:xfrm>
            <a:off x="676275" y="722560"/>
            <a:ext cx="115157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Clustering Results: Listener Archetypes</a:t>
            </a:r>
            <a:endParaRPr/>
          </a:p>
        </p:txBody>
      </p:sp>
      <p:sp>
        <p:nvSpPr>
          <p:cNvPr id="258" name="Google Shape;258;p21"/>
          <p:cNvSpPr/>
          <p:nvPr/>
        </p:nvSpPr>
        <p:spPr>
          <a:xfrm>
            <a:off x="485775" y="722560"/>
            <a:ext cx="47625" cy="4953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1"/>
          <p:cNvSpPr txBox="1"/>
          <p:nvPr/>
        </p:nvSpPr>
        <p:spPr>
          <a:xfrm>
            <a:off x="485775" y="2451943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We found </a:t>
            </a: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5 Distinct Patterns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automatically without genre labels. Users naturally gravitate toward these "styles".</a:t>
            </a:r>
            <a:endParaRPr/>
          </a:p>
        </p:txBody>
      </p:sp>
      <p:sp>
        <p:nvSpPr>
          <p:cNvPr id="260" name="Google Shape;260;p21"/>
          <p:cNvSpPr txBox="1"/>
          <p:nvPr/>
        </p:nvSpPr>
        <p:spPr>
          <a:xfrm>
            <a:off x="676275" y="4680793"/>
            <a:ext cx="10839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How Clustering Improves Recommendations: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1. Identify which cluster the input playlist belongs to.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2. Only suggest songs from similar playlists (Preserve Context).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3. Tradeoff: Better thematic consistency vs. potential reduction in diversity.</a:t>
            </a:r>
            <a:endParaRPr/>
          </a:p>
        </p:txBody>
      </p:sp>
      <p:sp>
        <p:nvSpPr>
          <p:cNvPr id="261" name="Google Shape;261;p21"/>
          <p:cNvSpPr txBox="1"/>
          <p:nvPr/>
        </p:nvSpPr>
        <p:spPr>
          <a:xfrm>
            <a:off x="631604" y="3090118"/>
            <a:ext cx="187617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Cluster 0</a:t>
            </a:r>
            <a:endParaRPr/>
          </a:p>
        </p:txBody>
      </p:sp>
      <p:sp>
        <p:nvSpPr>
          <p:cNvPr id="262" name="Google Shape;262;p21"/>
          <p:cNvSpPr txBox="1"/>
          <p:nvPr/>
        </p:nvSpPr>
        <p:spPr>
          <a:xfrm>
            <a:off x="676275" y="3404443"/>
            <a:ext cx="178683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Mainstream Fans</a:t>
            </a:r>
            <a:endParaRPr/>
          </a:p>
        </p:txBody>
      </p:sp>
      <p:sp>
        <p:nvSpPr>
          <p:cNvPr id="263" name="Google Shape;263;p21"/>
          <p:cNvSpPr txBox="1"/>
          <p:nvPr/>
        </p:nvSpPr>
        <p:spPr>
          <a:xfrm>
            <a:off x="676275" y="3737818"/>
            <a:ext cx="178683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ECC71"/>
                </a:solidFill>
                <a:latin typeface="Montserrat"/>
                <a:ea typeface="Montserrat"/>
                <a:cs typeface="Montserrat"/>
                <a:sym typeface="Montserrat"/>
              </a:rPr>
              <a:t>High Artist Pop</a:t>
            </a:r>
            <a:endParaRPr/>
          </a:p>
        </p:txBody>
      </p:sp>
      <p:sp>
        <p:nvSpPr>
          <p:cNvPr id="264" name="Google Shape;264;p21"/>
          <p:cNvSpPr txBox="1"/>
          <p:nvPr/>
        </p:nvSpPr>
        <p:spPr>
          <a:xfrm>
            <a:off x="2894684" y="3090118"/>
            <a:ext cx="187617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Cluster 1</a:t>
            </a:r>
            <a:endParaRPr/>
          </a:p>
        </p:txBody>
      </p:sp>
      <p:sp>
        <p:nvSpPr>
          <p:cNvPr id="265" name="Google Shape;265;p21"/>
          <p:cNvSpPr txBox="1"/>
          <p:nvPr/>
        </p:nvSpPr>
        <p:spPr>
          <a:xfrm>
            <a:off x="2939355" y="3404443"/>
            <a:ext cx="178683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Album Listeners</a:t>
            </a:r>
            <a:endParaRPr/>
          </a:p>
        </p:txBody>
      </p:sp>
      <p:sp>
        <p:nvSpPr>
          <p:cNvPr id="266" name="Google Shape;266;p21"/>
          <p:cNvSpPr txBox="1"/>
          <p:nvPr/>
        </p:nvSpPr>
        <p:spPr>
          <a:xfrm>
            <a:off x="2939355" y="3737818"/>
            <a:ext cx="178683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498DB"/>
                </a:solidFill>
                <a:latin typeface="Montserrat"/>
                <a:ea typeface="Montserrat"/>
                <a:cs typeface="Montserrat"/>
                <a:sym typeface="Montserrat"/>
              </a:rPr>
              <a:t>High Consistency</a:t>
            </a:r>
            <a:endParaRPr/>
          </a:p>
        </p:txBody>
      </p:sp>
      <p:sp>
        <p:nvSpPr>
          <p:cNvPr id="267" name="Google Shape;267;p21"/>
          <p:cNvSpPr txBox="1"/>
          <p:nvPr/>
        </p:nvSpPr>
        <p:spPr>
          <a:xfrm>
            <a:off x="5157761" y="3090118"/>
            <a:ext cx="187632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Cluster 2</a:t>
            </a:r>
            <a:endParaRPr/>
          </a:p>
        </p:txBody>
      </p:sp>
      <p:sp>
        <p:nvSpPr>
          <p:cNvPr id="268" name="Google Shape;268;p21"/>
          <p:cNvSpPr txBox="1"/>
          <p:nvPr/>
        </p:nvSpPr>
        <p:spPr>
          <a:xfrm>
            <a:off x="5202435" y="3404443"/>
            <a:ext cx="178697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Mixed/Eclectic</a:t>
            </a:r>
            <a:endParaRPr/>
          </a:p>
        </p:txBody>
      </p:sp>
      <p:sp>
        <p:nvSpPr>
          <p:cNvPr id="269" name="Google Shape;269;p21"/>
          <p:cNvSpPr txBox="1"/>
          <p:nvPr/>
        </p:nvSpPr>
        <p:spPr>
          <a:xfrm>
            <a:off x="5202435" y="3737818"/>
            <a:ext cx="178697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9B59B6"/>
                </a:solidFill>
                <a:latin typeface="Montserrat"/>
                <a:ea typeface="Montserrat"/>
                <a:cs typeface="Montserrat"/>
                <a:sym typeface="Montserrat"/>
              </a:rPr>
              <a:t>No Strong Bias</a:t>
            </a:r>
            <a:endParaRPr/>
          </a:p>
        </p:txBody>
      </p:sp>
      <p:sp>
        <p:nvSpPr>
          <p:cNvPr id="270" name="Google Shape;270;p21"/>
          <p:cNvSpPr txBox="1"/>
          <p:nvPr/>
        </p:nvSpPr>
        <p:spPr>
          <a:xfrm>
            <a:off x="7420994" y="3090118"/>
            <a:ext cx="1876171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Cluster 3</a:t>
            </a:r>
            <a:endParaRPr/>
          </a:p>
        </p:txBody>
      </p:sp>
      <p:sp>
        <p:nvSpPr>
          <p:cNvPr id="271" name="Google Shape;271;p21"/>
          <p:cNvSpPr txBox="1"/>
          <p:nvPr/>
        </p:nvSpPr>
        <p:spPr>
          <a:xfrm>
            <a:off x="7465665" y="3404443"/>
            <a:ext cx="178683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Album Listeners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7465665" y="3737818"/>
            <a:ext cx="1786830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67E22"/>
                </a:solidFill>
                <a:latin typeface="Montserrat"/>
                <a:ea typeface="Montserrat"/>
                <a:cs typeface="Montserrat"/>
                <a:sym typeface="Montserrat"/>
              </a:rPr>
              <a:t>High Consistency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9684071" y="3090118"/>
            <a:ext cx="1876328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Cluster 4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9728745" y="3404443"/>
            <a:ext cx="1786979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Mainstream Fans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9728745" y="3737818"/>
            <a:ext cx="1786979" cy="14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E74C3C"/>
                </a:solidFill>
                <a:latin typeface="Montserrat"/>
                <a:ea typeface="Montserrat"/>
                <a:cs typeface="Montserrat"/>
                <a:sym typeface="Montserrat"/>
              </a:rPr>
              <a:t>High Artist Pop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1598860"/>
            <a:ext cx="11220450" cy="48686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2" name="Google Shape;28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5252293"/>
            <a:ext cx="11220450" cy="5143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2"/>
          <p:cNvSpPr txBox="1"/>
          <p:nvPr/>
        </p:nvSpPr>
        <p:spPr>
          <a:xfrm>
            <a:off x="676275" y="722560"/>
            <a:ext cx="115157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Model Evaluation: Precision@10</a:t>
            </a:r>
            <a:endParaRPr/>
          </a:p>
        </p:txBody>
      </p:sp>
      <p:sp>
        <p:nvSpPr>
          <p:cNvPr id="284" name="Google Shape;284;p22"/>
          <p:cNvSpPr/>
          <p:nvPr/>
        </p:nvSpPr>
        <p:spPr>
          <a:xfrm>
            <a:off x="485775" y="722560"/>
            <a:ext cx="47625" cy="4953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2"/>
          <p:cNvSpPr txBox="1"/>
          <p:nvPr/>
        </p:nvSpPr>
        <p:spPr>
          <a:xfrm>
            <a:off x="485775" y="2470993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Comparison of 4 recommendation approaches. Surprisingly, </a:t>
            </a: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simplicity wins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on sparse data.</a:t>
            </a:r>
            <a:endParaRPr/>
          </a:p>
        </p:txBody>
      </p:sp>
      <p:sp>
        <p:nvSpPr>
          <p:cNvPr id="286" name="Google Shape;286;p22"/>
          <p:cNvSpPr txBox="1"/>
          <p:nvPr/>
        </p:nvSpPr>
        <p:spPr>
          <a:xfrm>
            <a:off x="666750" y="5395168"/>
            <a:ext cx="10896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80AB"/>
                </a:solidFill>
                <a:latin typeface="Urbanist"/>
                <a:ea typeface="Urbanist"/>
                <a:cs typeface="Urbanist"/>
                <a:sym typeface="Urbanist"/>
              </a:rPr>
              <a:t>Why?</a:t>
            </a:r>
            <a:r>
              <a:rPr b="0" i="0" lang="en-US" sz="1200" u="none" cap="none" strike="noStrike">
                <a:solidFill>
                  <a:srgbClr val="FF80AB"/>
                </a:solidFill>
                <a:latin typeface="Urbanist"/>
                <a:ea typeface="Urbanist"/>
                <a:cs typeface="Urbanist"/>
                <a:sym typeface="Urbanist"/>
              </a:rPr>
              <a:t> The Neural Network overfits on the sparse long tail. The Popularity Baseline leverages the Gini inequality (the "Wisdom of Crowds") to maximize precision.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1" name="Google Shape;29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2" name="Google Shape;292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2842468"/>
            <a:ext cx="53721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542430"/>
            <a:ext cx="5372100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10525" y="4952255"/>
            <a:ext cx="2019300" cy="28575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3"/>
          <p:cNvSpPr txBox="1"/>
          <p:nvPr/>
        </p:nvSpPr>
        <p:spPr>
          <a:xfrm>
            <a:off x="676275" y="722560"/>
            <a:ext cx="115157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But Precision Isn't Everything</a:t>
            </a:r>
            <a:endParaRPr/>
          </a:p>
        </p:txBody>
      </p:sp>
      <p:sp>
        <p:nvSpPr>
          <p:cNvPr id="296" name="Google Shape;296;p23"/>
          <p:cNvSpPr/>
          <p:nvPr/>
        </p:nvSpPr>
        <p:spPr>
          <a:xfrm>
            <a:off x="485775" y="722560"/>
            <a:ext cx="47625" cy="4953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3"/>
          <p:cNvSpPr txBox="1"/>
          <p:nvPr/>
        </p:nvSpPr>
        <p:spPr>
          <a:xfrm>
            <a:off x="485775" y="3071068"/>
            <a:ext cx="564070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The Diversity Gap</a:t>
            </a:r>
            <a:endParaRPr/>
          </a:p>
        </p:txBody>
      </p:sp>
      <p:sp>
        <p:nvSpPr>
          <p:cNvPr id="298" name="Google Shape;298;p23"/>
          <p:cNvSpPr txBox="1"/>
          <p:nvPr/>
        </p:nvSpPr>
        <p:spPr>
          <a:xfrm>
            <a:off x="485775" y="3518743"/>
            <a:ext cx="53721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Popularity models have high precision but </a:t>
            </a: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zero serendipity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. Our mining approach excels at discovery.</a:t>
            </a:r>
            <a:endParaRPr/>
          </a:p>
        </p:txBody>
      </p:sp>
      <p:pic>
        <p:nvPicPr>
          <p:cNvPr descr="image.png" id="299" name="Google Shape;299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82050" y="2828180"/>
            <a:ext cx="476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3"/>
          <p:cNvSpPr txBox="1"/>
          <p:nvPr/>
        </p:nvSpPr>
        <p:spPr>
          <a:xfrm>
            <a:off x="6499860" y="3723530"/>
            <a:ext cx="504063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196F3"/>
                </a:solidFill>
                <a:latin typeface="Montserrat"/>
                <a:ea typeface="Montserrat"/>
                <a:cs typeface="Montserrat"/>
                <a:sym typeface="Montserrat"/>
              </a:rPr>
              <a:t>Discovery Score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6619875" y="4152155"/>
            <a:ext cx="4800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Our model recommends across </a:t>
            </a:r>
            <a:r>
              <a:rPr b="1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14+ distinct genres</a:t>
            </a:r>
            <a:r>
              <a:rPr b="0" i="0" lang="en-US" sz="120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, whereas popularity models restrict users to the "Top 50".</a:t>
            </a:r>
            <a:endParaRPr/>
          </a:p>
        </p:txBody>
      </p:sp>
      <p:pic>
        <p:nvPicPr>
          <p:cNvPr descr="image.png" id="302" name="Google Shape;302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162925" y="5028455"/>
            <a:ext cx="114300" cy="133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7" name="Google Shape;30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8" name="Google Shape;308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1598860"/>
            <a:ext cx="11220450" cy="4868614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24"/>
          <p:cNvSpPr txBox="1"/>
          <p:nvPr/>
        </p:nvSpPr>
        <p:spPr>
          <a:xfrm>
            <a:off x="676275" y="722560"/>
            <a:ext cx="115157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Genre-Wise Performance</a:t>
            </a:r>
            <a:endParaRPr/>
          </a:p>
        </p:txBody>
      </p:sp>
      <p:sp>
        <p:nvSpPr>
          <p:cNvPr id="310" name="Google Shape;310;p24"/>
          <p:cNvSpPr/>
          <p:nvPr/>
        </p:nvSpPr>
        <p:spPr>
          <a:xfrm>
            <a:off x="485775" y="722560"/>
            <a:ext cx="47625" cy="4953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4"/>
          <p:cNvSpPr txBox="1"/>
          <p:nvPr/>
        </p:nvSpPr>
        <p:spPr>
          <a:xfrm>
            <a:off x="485775" y="2666255"/>
            <a:ext cx="112204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Context determines the algorithm. "Chill" and "Party" playlists dominate usage.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6" name="Google Shape;31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5"/>
          <p:cNvSpPr txBox="1"/>
          <p:nvPr/>
        </p:nvSpPr>
        <p:spPr>
          <a:xfrm>
            <a:off x="676275" y="722560"/>
            <a:ext cx="115157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Key Findings</a:t>
            </a:r>
            <a:endParaRPr/>
          </a:p>
        </p:txBody>
      </p:sp>
      <p:sp>
        <p:nvSpPr>
          <p:cNvPr id="318" name="Google Shape;318;p25"/>
          <p:cNvSpPr/>
          <p:nvPr/>
        </p:nvSpPr>
        <p:spPr>
          <a:xfrm>
            <a:off x="485775" y="722560"/>
            <a:ext cx="47625" cy="4953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 txBox="1"/>
          <p:nvPr/>
        </p:nvSpPr>
        <p:spPr>
          <a:xfrm>
            <a:off x="485775" y="5504705"/>
            <a:ext cx="112204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1DB954"/>
                </a:solidFill>
                <a:latin typeface="Urbanist"/>
                <a:ea typeface="Urbanist"/>
                <a:cs typeface="Urbanist"/>
                <a:sym typeface="Urbanist"/>
              </a:rPr>
              <a:t>Bottom Line: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The co-occurrence patterns + clustering + diversity together create a stronger recommendation system than any single approach alone.</a:t>
            </a:r>
            <a:endParaRPr/>
          </a:p>
        </p:txBody>
      </p:sp>
      <p:sp>
        <p:nvSpPr>
          <p:cNvPr id="320" name="Google Shape;320;p25"/>
          <p:cNvSpPr/>
          <p:nvPr/>
        </p:nvSpPr>
        <p:spPr>
          <a:xfrm>
            <a:off x="485775" y="5314205"/>
            <a:ext cx="112204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5"/>
          <p:cNvSpPr txBox="1"/>
          <p:nvPr/>
        </p:nvSpPr>
        <p:spPr>
          <a:xfrm>
            <a:off x="771525" y="2275730"/>
            <a:ext cx="109347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Strong Patterns Exist &amp; Are Predictive</a:t>
            </a:r>
            <a:endParaRPr/>
          </a:p>
        </p:txBody>
      </p:sp>
      <p:sp>
        <p:nvSpPr>
          <p:cNvPr id="322" name="Google Shape;322;p25"/>
          <p:cNvSpPr txBox="1"/>
          <p:nvPr/>
        </p:nvSpPr>
        <p:spPr>
          <a:xfrm>
            <a:off x="771525" y="3256805"/>
            <a:ext cx="109347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Playlists Naturally Cluster</a:t>
            </a:r>
            <a:endParaRPr/>
          </a:p>
        </p:txBody>
      </p:sp>
      <p:sp>
        <p:nvSpPr>
          <p:cNvPr id="323" name="Google Shape;323;p25"/>
          <p:cNvSpPr txBox="1"/>
          <p:nvPr/>
        </p:nvSpPr>
        <p:spPr>
          <a:xfrm>
            <a:off x="771525" y="4237880"/>
            <a:ext cx="10934700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Simple Models Are Hard to Beat</a:t>
            </a:r>
            <a:endParaRPr/>
          </a:p>
        </p:txBody>
      </p:sp>
      <p:pic>
        <p:nvPicPr>
          <p:cNvPr descr="image.png" id="324" name="Google Shape;324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2323355"/>
            <a:ext cx="1524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5" name="Google Shape;325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3304430"/>
            <a:ext cx="21907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6" name="Google Shape;32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775" y="4285505"/>
            <a:ext cx="1905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1" name="Google Shape;33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2" name="Google Shape;33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747218"/>
            <a:ext cx="5372100" cy="25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26"/>
          <p:cNvSpPr txBox="1"/>
          <p:nvPr/>
        </p:nvSpPr>
        <p:spPr>
          <a:xfrm>
            <a:off x="676275" y="722560"/>
            <a:ext cx="1151572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Conclusion &amp; Future Work</a:t>
            </a:r>
            <a:endParaRPr/>
          </a:p>
        </p:txBody>
      </p:sp>
      <p:sp>
        <p:nvSpPr>
          <p:cNvPr id="334" name="Google Shape;334;p26"/>
          <p:cNvSpPr/>
          <p:nvPr/>
        </p:nvSpPr>
        <p:spPr>
          <a:xfrm>
            <a:off x="485775" y="722560"/>
            <a:ext cx="47625" cy="495300"/>
          </a:xfrm>
          <a:prstGeom prst="rect">
            <a:avLst/>
          </a:prstGeom>
          <a:solidFill>
            <a:srgbClr val="1DB9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6"/>
          <p:cNvSpPr txBox="1"/>
          <p:nvPr/>
        </p:nvSpPr>
        <p:spPr>
          <a:xfrm>
            <a:off x="485775" y="3071068"/>
            <a:ext cx="564070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Future Directions</a:t>
            </a:r>
            <a:endParaRPr/>
          </a:p>
        </p:txBody>
      </p:sp>
      <p:sp>
        <p:nvSpPr>
          <p:cNvPr id="336" name="Google Shape;336;p26"/>
          <p:cNvSpPr txBox="1"/>
          <p:nvPr/>
        </p:nvSpPr>
        <p:spPr>
          <a:xfrm>
            <a:off x="6772275" y="3433018"/>
            <a:ext cx="4780597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"Music taste is learnable."</a:t>
            </a:r>
            <a:endParaRPr/>
          </a:p>
        </p:txBody>
      </p:sp>
      <p:sp>
        <p:nvSpPr>
          <p:cNvPr id="337" name="Google Shape;337;p26"/>
          <p:cNvSpPr txBox="1"/>
          <p:nvPr/>
        </p:nvSpPr>
        <p:spPr>
          <a:xfrm>
            <a:off x="6772275" y="3994993"/>
            <a:ext cx="45529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This project proves that even with sparse data, </a:t>
            </a: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pattern mining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combined with </a:t>
            </a: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clustering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can successfully automate playlist continuation, improving user retention and discovery.</a:t>
            </a:r>
            <a:endParaRPr/>
          </a:p>
        </p:txBody>
      </p:sp>
      <p:sp>
        <p:nvSpPr>
          <p:cNvPr id="338" name="Google Shape;338;p26"/>
          <p:cNvSpPr txBox="1"/>
          <p:nvPr/>
        </p:nvSpPr>
        <p:spPr>
          <a:xfrm>
            <a:off x="771525" y="3499693"/>
            <a:ext cx="5086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Sequential Analysis: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Analyzing order (A → B) rather than just co-occurrence.</a:t>
            </a:r>
            <a:endParaRPr/>
          </a:p>
        </p:txBody>
      </p:sp>
      <p:sp>
        <p:nvSpPr>
          <p:cNvPr id="339" name="Google Shape;339;p26"/>
          <p:cNvSpPr txBox="1"/>
          <p:nvPr/>
        </p:nvSpPr>
        <p:spPr>
          <a:xfrm>
            <a:off x="771525" y="4156918"/>
            <a:ext cx="50863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Graph Networks: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Advanced graph neural networks (GNNs).</a:t>
            </a:r>
            <a:endParaRPr/>
          </a:p>
        </p:txBody>
      </p:sp>
      <p:sp>
        <p:nvSpPr>
          <p:cNvPr id="340" name="Google Shape;340;p26"/>
          <p:cNvSpPr txBox="1"/>
          <p:nvPr/>
        </p:nvSpPr>
        <p:spPr>
          <a:xfrm>
            <a:off x="771525" y="4556968"/>
            <a:ext cx="50863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Hybrid Ensembles:</a:t>
            </a:r>
            <a:r>
              <a:rPr b="0" i="0" lang="en-US" sz="1350" u="none" cap="none" strike="noStrike">
                <a:solidFill>
                  <a:srgbClr val="B3B3B3"/>
                </a:solidFill>
                <a:latin typeface="Urbanist"/>
                <a:ea typeface="Urbanist"/>
                <a:cs typeface="Urbanist"/>
                <a:sym typeface="Urbanist"/>
              </a:rPr>
              <a:t> Weighted average of Popularity (Precision) + Mining (Diversity).</a:t>
            </a:r>
            <a:endParaRPr/>
          </a:p>
        </p:txBody>
      </p:sp>
      <p:pic>
        <p:nvPicPr>
          <p:cNvPr descr="image.png" id="341" name="Google Shape;341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5775" y="3547318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2" name="Google Shape;342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5775" y="4204543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3" name="Google Shape;343;p2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5775" y="4604593"/>
            <a:ext cx="152400" cy="17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8" name="Google Shape;34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9" name="Google Shape;349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5775" y="4600575"/>
            <a:ext cx="6486525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350" name="Google Shape;350;p27"/>
          <p:cNvSpPr txBox="1"/>
          <p:nvPr/>
        </p:nvSpPr>
        <p:spPr>
          <a:xfrm>
            <a:off x="485775" y="1514475"/>
            <a:ext cx="5362575" cy="116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0" u="none" cap="none" strike="noStrike">
                <a:solidFill>
                  <a:srgbClr val="1DB954"/>
                </a:solidFill>
                <a:latin typeface="Montserrat"/>
                <a:ea typeface="Montserrat"/>
                <a:cs typeface="Montserrat"/>
                <a:sym typeface="Montserrat"/>
              </a:rPr>
              <a:t>Questions?</a:t>
            </a:r>
            <a:endParaRPr/>
          </a:p>
        </p:txBody>
      </p:sp>
      <p:sp>
        <p:nvSpPr>
          <p:cNvPr id="351" name="Google Shape;351;p27"/>
          <p:cNvSpPr txBox="1"/>
          <p:nvPr/>
        </p:nvSpPr>
        <p:spPr>
          <a:xfrm>
            <a:off x="485775" y="3267075"/>
            <a:ext cx="1866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Adarsh Singh</a:t>
            </a:r>
            <a:endParaRPr/>
          </a:p>
        </p:txBody>
      </p:sp>
      <p:sp>
        <p:nvSpPr>
          <p:cNvPr id="352" name="Google Shape;352;p27"/>
          <p:cNvSpPr txBox="1"/>
          <p:nvPr/>
        </p:nvSpPr>
        <p:spPr>
          <a:xfrm>
            <a:off x="876300" y="4800600"/>
            <a:ext cx="570547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DB954"/>
                </a:solidFill>
                <a:latin typeface="Arial"/>
                <a:ea typeface="Arial"/>
                <a:cs typeface="Arial"/>
                <a:sym typeface="Arial"/>
              </a:rPr>
              <a:t> github.com/adarsh-singh/spotify-playlist-mining</a:t>
            </a:r>
            <a:endParaRPr/>
          </a:p>
        </p:txBody>
      </p:sp>
      <p:pic>
        <p:nvPicPr>
          <p:cNvPr descr="image.png" id="353" name="Google Shape;353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76300" y="4848225"/>
            <a:ext cx="219075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