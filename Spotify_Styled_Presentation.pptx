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62"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5" r:id="rId19"/>
    <p:sldId id="274" r:id="rId20"/>
    <p:sldId id="276" r:id="rId21"/>
    <p:sldId id="277" r:id="rId22"/>
    <p:sldId id="278" r:id="rId23"/>
    <p:sldId id="279" r:id="rId24"/>
    <p:sldId id="2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13"/>
    <p:restoredTop sz="94663"/>
  </p:normalViewPr>
  <p:slideViewPr>
    <p:cSldViewPr snapToGrid="0">
      <p:cViewPr varScale="1">
        <p:scale>
          <a:sx n="144" d="100"/>
          <a:sy n="144" d="100"/>
        </p:scale>
        <p:origin x="240"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3B6F7A-6CB2-CD47-9027-FDD9DA49DD79}" type="datetimeFigureOut">
              <a:rPr lang="en-US" smtClean="0"/>
              <a:t>11/27/25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EC542A-1277-0C4F-8F99-2B06C06C3663}" type="slidenum">
              <a:rPr lang="en-US" smtClean="0"/>
              <a:t>‹#›</a:t>
            </a:fld>
            <a:endParaRPr lang="en-US"/>
          </a:p>
        </p:txBody>
      </p:sp>
    </p:spTree>
    <p:extLst>
      <p:ext uri="{BB962C8B-B14F-4D97-AF65-F5344CB8AC3E}">
        <p14:creationId xmlns:p14="http://schemas.microsoft.com/office/powerpoint/2010/main" val="1038939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I'm Adarsh Singh. Today I'm presenting my data mining project on Spotify playlist recommendations. Over the next 10 minutes, I'll show you how I discovered strong patterns in 1 million playlists that can power better music recommendations. Let's get started.</a:t>
            </a:r>
          </a:p>
        </p:txBody>
      </p:sp>
      <p:sp>
        <p:nvSpPr>
          <p:cNvPr id="4" name="Slide Number Placeholder 3"/>
          <p:cNvSpPr>
            <a:spLocks noGrp="1"/>
          </p:cNvSpPr>
          <p:nvPr>
            <p:ph type="sldNum" sz="quarter" idx="5"/>
          </p:nvPr>
        </p:nvSpPr>
        <p:spPr/>
        <p:txBody>
          <a:bodyPr/>
          <a:lstStyle/>
          <a:p>
            <a:fld id="{8DEC542A-1277-0C4F-8F99-2B06C06C3663}" type="slidenum">
              <a:rPr lang="en-US" smtClean="0"/>
              <a:t>1</a:t>
            </a:fld>
            <a:endParaRPr lang="en-US"/>
          </a:p>
        </p:txBody>
      </p:sp>
    </p:spTree>
    <p:extLst>
      <p:ext uri="{BB962C8B-B14F-4D97-AF65-F5344CB8AC3E}">
        <p14:creationId xmlns:p14="http://schemas.microsoft.com/office/powerpoint/2010/main" val="2528495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we're solving. When you're building a playlist on Spotify, at some point you run out of ideas. You need the service to suggest 'what comes next.' But that's harder than it sounds. You can't just play the most popular song - that gets boring. You need something that fits the vibe of what they've already chosen. You need diversity so people aren't hearing the same 10 songs. And you want a bit of serendipity - introducing them to new artists they'll love. That's the balance we're trying to strike.</a:t>
            </a:r>
          </a:p>
        </p:txBody>
      </p:sp>
      <p:sp>
        <p:nvSpPr>
          <p:cNvPr id="4" name="Slide Number Placeholder 3"/>
          <p:cNvSpPr>
            <a:spLocks noGrp="1"/>
          </p:cNvSpPr>
          <p:nvPr>
            <p:ph type="sldNum" sz="quarter" idx="5"/>
          </p:nvPr>
        </p:nvSpPr>
        <p:spPr/>
        <p:txBody>
          <a:bodyPr/>
          <a:lstStyle/>
          <a:p>
            <a:fld id="{8DEC542A-1277-0C4F-8F99-2B06C06C3663}" type="slidenum">
              <a:rPr lang="en-US" smtClean="0"/>
              <a:t>2</a:t>
            </a:fld>
            <a:endParaRPr lang="en-US"/>
          </a:p>
        </p:txBody>
      </p:sp>
    </p:spTree>
    <p:extLst>
      <p:ext uri="{BB962C8B-B14F-4D97-AF65-F5344CB8AC3E}">
        <p14:creationId xmlns:p14="http://schemas.microsoft.com/office/powerpoint/2010/main" val="108075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tackle this problem, I framed three research questions. First: do song co-occurrence patterns exist, and are they strong enough to be predictive? Second: can we automatically identify distinct playlist types? And third: which recommendation approach actually works best? Throughout this presentation, I'll answer each question with data.</a:t>
            </a:r>
          </a:p>
        </p:txBody>
      </p:sp>
      <p:sp>
        <p:nvSpPr>
          <p:cNvPr id="4" name="Slide Number Placeholder 3"/>
          <p:cNvSpPr>
            <a:spLocks noGrp="1"/>
          </p:cNvSpPr>
          <p:nvPr>
            <p:ph type="sldNum" sz="quarter" idx="5"/>
          </p:nvPr>
        </p:nvSpPr>
        <p:spPr/>
        <p:txBody>
          <a:bodyPr/>
          <a:lstStyle/>
          <a:p>
            <a:fld id="{8DEC542A-1277-0C4F-8F99-2B06C06C3663}" type="slidenum">
              <a:rPr lang="en-US" smtClean="0"/>
              <a:t>3</a:t>
            </a:fld>
            <a:endParaRPr lang="en-US"/>
          </a:p>
        </p:txBody>
      </p:sp>
    </p:spTree>
    <p:extLst>
      <p:ext uri="{BB962C8B-B14F-4D97-AF65-F5344CB8AC3E}">
        <p14:creationId xmlns:p14="http://schemas.microsoft.com/office/powerpoint/2010/main" val="2509494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worked with the Spotify Million Playlist Dataset - an openly available collection of real playlists. The numbers are massive: 1 million playlists, 66 million track entries total. That represents 2.3 million truly unique tracks from nearly 300,000 artists. To put this in perspective, if you tried to listen to every unique track once, non-stop, it would take you 4 years. The dataset is sparse - most songs appear in only a handful of playlists. But as we'll see, even with that sparseness, very strong patterns emerge.</a:t>
            </a:r>
          </a:p>
          <a:p>
            <a:endParaRPr lang="en-US" dirty="0"/>
          </a:p>
        </p:txBody>
      </p:sp>
      <p:sp>
        <p:nvSpPr>
          <p:cNvPr id="4" name="Slide Number Placeholder 3"/>
          <p:cNvSpPr>
            <a:spLocks noGrp="1"/>
          </p:cNvSpPr>
          <p:nvPr>
            <p:ph type="sldNum" sz="quarter" idx="5"/>
          </p:nvPr>
        </p:nvSpPr>
        <p:spPr/>
        <p:txBody>
          <a:bodyPr/>
          <a:lstStyle/>
          <a:p>
            <a:fld id="{8DEC542A-1277-0C4F-8F99-2B06C06C3663}" type="slidenum">
              <a:rPr lang="en-US" smtClean="0"/>
              <a:t>4</a:t>
            </a:fld>
            <a:endParaRPr lang="en-US"/>
          </a:p>
        </p:txBody>
      </p:sp>
    </p:spTree>
    <p:extLst>
      <p:ext uri="{BB962C8B-B14F-4D97-AF65-F5344CB8AC3E}">
        <p14:creationId xmlns:p14="http://schemas.microsoft.com/office/powerpoint/2010/main" val="292093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data processing. The Spotify dataset comes as JSON files - one per playlist. I parsed these into structured </a:t>
            </a:r>
            <a:r>
              <a:rPr lang="en-US" dirty="0" err="1"/>
              <a:t>DataFrames</a:t>
            </a:r>
            <a:r>
              <a:rPr lang="en-US" dirty="0"/>
              <a:t>, extracted relevant features like track IDs, artist names, and genres. I built co-occurrence matrices to represent which songs appear together. For each playlist, I created a vector representation. All of this was done locally on my M4 MacBook. Many people assume you need cloud infrastructure for 1 million items - but with efficient code and the right data structures, a modern laptop is sufficient.</a:t>
            </a:r>
          </a:p>
        </p:txBody>
      </p:sp>
      <p:sp>
        <p:nvSpPr>
          <p:cNvPr id="4" name="Slide Number Placeholder 3"/>
          <p:cNvSpPr>
            <a:spLocks noGrp="1"/>
          </p:cNvSpPr>
          <p:nvPr>
            <p:ph type="sldNum" sz="quarter" idx="5"/>
          </p:nvPr>
        </p:nvSpPr>
        <p:spPr/>
        <p:txBody>
          <a:bodyPr/>
          <a:lstStyle/>
          <a:p>
            <a:fld id="{8DEC542A-1277-0C4F-8F99-2B06C06C3663}" type="slidenum">
              <a:rPr lang="en-US" smtClean="0"/>
              <a:t>7</a:t>
            </a:fld>
            <a:endParaRPr lang="en-US"/>
          </a:p>
        </p:txBody>
      </p:sp>
    </p:spTree>
    <p:extLst>
      <p:ext uri="{BB962C8B-B14F-4D97-AF65-F5344CB8AC3E}">
        <p14:creationId xmlns:p14="http://schemas.microsoft.com/office/powerpoint/2010/main" val="2927193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two has two parts. First, association rule mining - the same technique used in 'people who buy milk also buy bread.' I used the FP-Growth algorithm which is super efficient even at scale. This generates rules like 'when Song A appears, Song B appears 13.5 times more often than random.' That's powerful. Second, clustering: I took the </a:t>
            </a:r>
            <a:r>
              <a:rPr lang="en-US" dirty="0" err="1"/>
              <a:t>playlistfeatures</a:t>
            </a:r>
            <a:r>
              <a:rPr lang="en-US" dirty="0"/>
              <a:t> and grouped similar playlists. Like your workout playlist is different from your chill playlist. K-means found 5 natural groups without me telling it what genres or moods to look for.</a:t>
            </a:r>
          </a:p>
        </p:txBody>
      </p:sp>
      <p:sp>
        <p:nvSpPr>
          <p:cNvPr id="4" name="Slide Number Placeholder 3"/>
          <p:cNvSpPr>
            <a:spLocks noGrp="1"/>
          </p:cNvSpPr>
          <p:nvPr>
            <p:ph type="sldNum" sz="quarter" idx="5"/>
          </p:nvPr>
        </p:nvSpPr>
        <p:spPr/>
        <p:txBody>
          <a:bodyPr/>
          <a:lstStyle/>
          <a:p>
            <a:fld id="{8DEC542A-1277-0C4F-8F99-2B06C06C3663}" type="slidenum">
              <a:rPr lang="en-US" smtClean="0"/>
              <a:t>8</a:t>
            </a:fld>
            <a:endParaRPr lang="en-US"/>
          </a:p>
        </p:txBody>
      </p:sp>
    </p:spTree>
    <p:extLst>
      <p:ext uri="{BB962C8B-B14F-4D97-AF65-F5344CB8AC3E}">
        <p14:creationId xmlns:p14="http://schemas.microsoft.com/office/powerpoint/2010/main" val="3875203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2B5FA-B3B2-6619-EEA6-9602D60C8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B6861-5C9E-F127-75BE-785957180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9BED6-40D5-ADE6-A554-3D8CF28EE33E}"/>
              </a:ext>
            </a:extLst>
          </p:cNvPr>
          <p:cNvSpPr>
            <a:spLocks noGrp="1"/>
          </p:cNvSpPr>
          <p:nvPr>
            <p:ph type="body" idx="1"/>
          </p:nvPr>
        </p:nvSpPr>
        <p:spPr/>
        <p:txBody>
          <a:bodyPr/>
          <a:lstStyle/>
          <a:p>
            <a:r>
              <a:rPr lang="en-US" dirty="0"/>
              <a:t>I built four different recommendation approaches to compare. The baseline just recommends popular songs - simple but often effective. Co-occurrence uses our association rules - find the strongest song pairs. SVD is collaborative filtering - if your playlist is similar to mine, recommend my songs. Finally, a neural network trained on playlist embeddings. Each has different strengths and weaknesses, which we'll see in the results.</a:t>
            </a:r>
          </a:p>
        </p:txBody>
      </p:sp>
      <p:sp>
        <p:nvSpPr>
          <p:cNvPr id="4" name="Slide Number Placeholder 3">
            <a:extLst>
              <a:ext uri="{FF2B5EF4-FFF2-40B4-BE49-F238E27FC236}">
                <a16:creationId xmlns:a16="http://schemas.microsoft.com/office/drawing/2014/main" id="{F050C6D1-BA65-EC89-DCE9-EDB13F2CD703}"/>
              </a:ext>
            </a:extLst>
          </p:cNvPr>
          <p:cNvSpPr>
            <a:spLocks noGrp="1"/>
          </p:cNvSpPr>
          <p:nvPr>
            <p:ph type="sldNum" sz="quarter" idx="5"/>
          </p:nvPr>
        </p:nvSpPr>
        <p:spPr/>
        <p:txBody>
          <a:bodyPr/>
          <a:lstStyle/>
          <a:p>
            <a:fld id="{8DEC542A-1277-0C4F-8F99-2B06C06C3663}" type="slidenum">
              <a:rPr lang="en-US" smtClean="0"/>
              <a:t>9</a:t>
            </a:fld>
            <a:endParaRPr lang="en-US"/>
          </a:p>
        </p:txBody>
      </p:sp>
    </p:spTree>
    <p:extLst>
      <p:ext uri="{BB962C8B-B14F-4D97-AF65-F5344CB8AC3E}">
        <p14:creationId xmlns:p14="http://schemas.microsoft.com/office/powerpoint/2010/main" val="182222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EC542A-1277-0C4F-8F99-2B06C06C3663}" type="slidenum">
              <a:rPr lang="en-US" smtClean="0"/>
              <a:t>10</a:t>
            </a:fld>
            <a:endParaRPr lang="en-US"/>
          </a:p>
        </p:txBody>
      </p:sp>
    </p:spTree>
    <p:extLst>
      <p:ext uri="{BB962C8B-B14F-4D97-AF65-F5344CB8AC3E}">
        <p14:creationId xmlns:p14="http://schemas.microsoft.com/office/powerpoint/2010/main" val="3116276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results. We generated 10,000 association rules - song pairs that frequently appear together. Nearly all 10,000 have high lift values, meaning they appear together far more often than random chance. The average lift is 1,282. Let me emphasize: a lift of 1,282 means if you play Song A, Song B is 1,282 times more likely to appear in the same playlist than if they were just randomly combined. Some top rules have lift values over 10,000. That's absolutely massive. It tells us these songs are fundamentally connected - probably by artist, genre, mood, or user intent.</a:t>
            </a:r>
          </a:p>
        </p:txBody>
      </p:sp>
      <p:sp>
        <p:nvSpPr>
          <p:cNvPr id="4" name="Slide Number Placeholder 3"/>
          <p:cNvSpPr>
            <a:spLocks noGrp="1"/>
          </p:cNvSpPr>
          <p:nvPr>
            <p:ph type="sldNum" sz="quarter" idx="5"/>
          </p:nvPr>
        </p:nvSpPr>
        <p:spPr/>
        <p:txBody>
          <a:bodyPr/>
          <a:lstStyle/>
          <a:p>
            <a:fld id="{8DEC542A-1277-0C4F-8F99-2B06C06C3663}" type="slidenum">
              <a:rPr lang="en-US" smtClean="0"/>
              <a:t>11</a:t>
            </a:fld>
            <a:endParaRPr lang="en-US"/>
          </a:p>
        </p:txBody>
      </p:sp>
    </p:spTree>
    <p:extLst>
      <p:ext uri="{BB962C8B-B14F-4D97-AF65-F5344CB8AC3E}">
        <p14:creationId xmlns:p14="http://schemas.microsoft.com/office/powerpoint/2010/main" val="1707085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a:t>
            </a:r>
            <a:r>
              <a:rPr lang="en-US" b="1" dirty="0"/>
              <a:t>Network Hubs</a:t>
            </a:r>
            <a:r>
              <a:rPr lang="en-US" dirty="0"/>
              <a:t>. This visualizes the </a:t>
            </a:r>
            <a:r>
              <a:rPr lang="en-US" i="1" dirty="0"/>
              <a:t>structure</a:t>
            </a:r>
            <a:r>
              <a:rPr lang="en-US" dirty="0"/>
              <a:t> of the music graph. It shows that specific "Superstar" tracks have 3.5 Million+ connections.</a:t>
            </a:r>
          </a:p>
          <a:p>
            <a:r>
              <a:rPr lang="en-US" b="1" dirty="0"/>
              <a:t>New Meaning:</a:t>
            </a:r>
            <a:r>
              <a:rPr lang="en-US" dirty="0"/>
              <a:t> "Recommendations are driven by these massive 'Hub' songs that connect everyone together."</a:t>
            </a:r>
          </a:p>
          <a:p>
            <a:endParaRPr lang="en-US" dirty="0"/>
          </a:p>
        </p:txBody>
      </p:sp>
      <p:sp>
        <p:nvSpPr>
          <p:cNvPr id="4" name="Slide Number Placeholder 3"/>
          <p:cNvSpPr>
            <a:spLocks noGrp="1"/>
          </p:cNvSpPr>
          <p:nvPr>
            <p:ph type="sldNum" sz="quarter" idx="5"/>
          </p:nvPr>
        </p:nvSpPr>
        <p:spPr/>
        <p:txBody>
          <a:bodyPr/>
          <a:lstStyle/>
          <a:p>
            <a:fld id="{8DEC542A-1277-0C4F-8F99-2B06C06C3663}" type="slidenum">
              <a:rPr lang="en-US" smtClean="0"/>
              <a:t>12</a:t>
            </a:fld>
            <a:endParaRPr lang="en-US"/>
          </a:p>
        </p:txBody>
      </p:sp>
    </p:spTree>
    <p:extLst>
      <p:ext uri="{BB962C8B-B14F-4D97-AF65-F5344CB8AC3E}">
        <p14:creationId xmlns:p14="http://schemas.microsoft.com/office/powerpoint/2010/main" val="2595700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65EF-0F41-D474-670C-BB1B3219C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49870-7FEA-C896-1F2D-986C178FB6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1F1B6-B31E-458D-F41C-3DD1AE0F875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clustering. I used K-means to automatically identify groups of similar playlists. The algorithm converged on 5 natural clusters. Think about your own playlists: you probably have a workout playlist, maybe a chill playlist, perhaps a party playlist, and maybe one for focusing. The K-means algorithm discovered exactly that kind of differentiation - just based on which songs appear together. No one told it about genres or moods. It learned it from patterns in the data.</a:t>
            </a:r>
          </a:p>
        </p:txBody>
      </p:sp>
      <p:sp>
        <p:nvSpPr>
          <p:cNvPr id="4" name="Slide Number Placeholder 3">
            <a:extLst>
              <a:ext uri="{FF2B5EF4-FFF2-40B4-BE49-F238E27FC236}">
                <a16:creationId xmlns:a16="http://schemas.microsoft.com/office/drawing/2014/main" id="{8018FF5A-8D34-4D12-B1B6-4BE9E7A67454}"/>
              </a:ext>
            </a:extLst>
          </p:cNvPr>
          <p:cNvSpPr>
            <a:spLocks noGrp="1"/>
          </p:cNvSpPr>
          <p:nvPr>
            <p:ph type="sldNum" sz="quarter" idx="5"/>
          </p:nvPr>
        </p:nvSpPr>
        <p:spPr/>
        <p:txBody>
          <a:bodyPr/>
          <a:lstStyle/>
          <a:p>
            <a:fld id="{8DEC542A-1277-0C4F-8F99-2B06C06C3663}" type="slidenum">
              <a:rPr lang="en-US" smtClean="0"/>
              <a:t>13</a:t>
            </a:fld>
            <a:endParaRPr lang="en-US"/>
          </a:p>
        </p:txBody>
      </p:sp>
    </p:spTree>
    <p:extLst>
      <p:ext uri="{BB962C8B-B14F-4D97-AF65-F5344CB8AC3E}">
        <p14:creationId xmlns:p14="http://schemas.microsoft.com/office/powerpoint/2010/main" val="231117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A1993-6F99-B8E4-C536-2609929E8C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39D2A7-53A3-BF4C-403C-69F793CB2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4E948F-CA03-5A09-C895-23935B18E915}"/>
              </a:ext>
            </a:extLst>
          </p:cNvPr>
          <p:cNvSpPr>
            <a:spLocks noGrp="1"/>
          </p:cNvSpPr>
          <p:nvPr>
            <p:ph type="body" idx="1"/>
          </p:nvPr>
        </p:nvSpPr>
        <p:spPr/>
        <p:txBody>
          <a:bodyPr/>
          <a:lstStyle/>
          <a:p>
            <a:r>
              <a:rPr lang="en-US" dirty="0"/>
              <a:t>Here's how clustering helps with recommendations. When a user shares a partial playlist, we can identify which cluster it belongs to - is it more like other workout playlists, or chill playlists? Once we know that, we can search for songs from similar playlists. This creates thematic coherence. You're not getting random popular songs - you're getting songs that fit the context. The tradeoff: if we only recommend within a cluster, we might limit discovery. So in practice, you'd probably blend cluster-aware recommendations with some diversity-seeking recommendations.</a:t>
            </a:r>
          </a:p>
        </p:txBody>
      </p:sp>
      <p:sp>
        <p:nvSpPr>
          <p:cNvPr id="4" name="Slide Number Placeholder 3">
            <a:extLst>
              <a:ext uri="{FF2B5EF4-FFF2-40B4-BE49-F238E27FC236}">
                <a16:creationId xmlns:a16="http://schemas.microsoft.com/office/drawing/2014/main" id="{B3972D1B-1D6F-D6F2-0C97-F39C412D8A4C}"/>
              </a:ext>
            </a:extLst>
          </p:cNvPr>
          <p:cNvSpPr>
            <a:spLocks noGrp="1"/>
          </p:cNvSpPr>
          <p:nvPr>
            <p:ph type="sldNum" sz="quarter" idx="5"/>
          </p:nvPr>
        </p:nvSpPr>
        <p:spPr/>
        <p:txBody>
          <a:bodyPr/>
          <a:lstStyle/>
          <a:p>
            <a:fld id="{8DEC542A-1277-0C4F-8F99-2B06C06C3663}" type="slidenum">
              <a:rPr lang="en-US" smtClean="0"/>
              <a:t>15</a:t>
            </a:fld>
            <a:endParaRPr lang="en-US"/>
          </a:p>
        </p:txBody>
      </p:sp>
    </p:spTree>
    <p:extLst>
      <p:ext uri="{BB962C8B-B14F-4D97-AF65-F5344CB8AC3E}">
        <p14:creationId xmlns:p14="http://schemas.microsoft.com/office/powerpoint/2010/main" val="4233104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model comparison. Precision@10 means: of the 10 recommendations we make, how many are actually in the ground truth playlist? The popularity baseline wins at 14.61%. That might sound low, but for a dataset where tracks appear in &lt;10 playlists on average, this is actually strong. The baseline is just recommending the 10 most-played songs globally. Co-occurrence does worse at 2.61%, probably because the strongest associations are for rare songs. SVD does okay at 5%. And the neural network does poorly at 1% - it's overfitting. This is actually a known issue: neural networks need dense data. When your data is sparse - most features are zero - simple models win.</a:t>
            </a:r>
          </a:p>
        </p:txBody>
      </p:sp>
      <p:sp>
        <p:nvSpPr>
          <p:cNvPr id="4" name="Slide Number Placeholder 3"/>
          <p:cNvSpPr>
            <a:spLocks noGrp="1"/>
          </p:cNvSpPr>
          <p:nvPr>
            <p:ph type="sldNum" sz="quarter" idx="5"/>
          </p:nvPr>
        </p:nvSpPr>
        <p:spPr/>
        <p:txBody>
          <a:bodyPr/>
          <a:lstStyle/>
          <a:p>
            <a:fld id="{8DEC542A-1277-0C4F-8F99-2B06C06C3663}" type="slidenum">
              <a:rPr lang="en-US" smtClean="0"/>
              <a:t>16</a:t>
            </a:fld>
            <a:endParaRPr lang="en-US"/>
          </a:p>
        </p:txBody>
      </p:sp>
    </p:spTree>
    <p:extLst>
      <p:ext uri="{BB962C8B-B14F-4D97-AF65-F5344CB8AC3E}">
        <p14:creationId xmlns:p14="http://schemas.microsoft.com/office/powerpoint/2010/main" val="4091331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C5D69-4FFD-86D5-9416-7956A02F6E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3DACF5-C215-D558-4128-9ABFDAD9B4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FF5123-077B-5640-332D-F2134E7693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Here's something important: precision isn't the whole story. Look at diversity. Our recommendations span 64% of all artists in the dataset - that's good variety. We cover 79% of albums - excellent. The popularity Gini coefficient of 0.921 means we're not just recommending the same 100 popular songs. We're recommending both huge hits and obscure deep cuts. For a music service, this is valuable. It means recommendations can introduce users to new artists while still being relevant. A system that only suggests the top 10 songs gets boring. A system that balances relevance with discovery keeps users engaged</a:t>
            </a:r>
          </a:p>
        </p:txBody>
      </p:sp>
      <p:sp>
        <p:nvSpPr>
          <p:cNvPr id="4" name="Slide Number Placeholder 3">
            <a:extLst>
              <a:ext uri="{FF2B5EF4-FFF2-40B4-BE49-F238E27FC236}">
                <a16:creationId xmlns:a16="http://schemas.microsoft.com/office/drawing/2014/main" id="{4BB1EB5F-00F3-0149-E859-D458457C5E7D}"/>
              </a:ext>
            </a:extLst>
          </p:cNvPr>
          <p:cNvSpPr>
            <a:spLocks noGrp="1"/>
          </p:cNvSpPr>
          <p:nvPr>
            <p:ph type="sldNum" sz="quarter" idx="5"/>
          </p:nvPr>
        </p:nvSpPr>
        <p:spPr/>
        <p:txBody>
          <a:bodyPr/>
          <a:lstStyle/>
          <a:p>
            <a:fld id="{8DEC542A-1277-0C4F-8F99-2B06C06C3663}" type="slidenum">
              <a:rPr lang="en-US" smtClean="0"/>
              <a:t>17</a:t>
            </a:fld>
            <a:endParaRPr lang="en-US"/>
          </a:p>
        </p:txBody>
      </p:sp>
    </p:spTree>
    <p:extLst>
      <p:ext uri="{BB962C8B-B14F-4D97-AF65-F5344CB8AC3E}">
        <p14:creationId xmlns:p14="http://schemas.microsoft.com/office/powerpoint/2010/main" val="3419828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FF597-63F3-EBAE-1FAC-8EA6A9F65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AAD5C-1EB5-F981-0AA5-81DB2E71A6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8DA36-757C-3A76-AC25-5D6FED2A00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patterns we're finding exist across all genres. Chill playlists are the most common in the dataset - 38,350 of them. Party playlists tend to be longer on average - 74 tracks. Each genre has its own characteristics. The association rules are genre-specific. Songs that co-occur in rock playlists don't necessarily co-occur in hip-hop playlists. This is actually good for our approach - it means we can build genre-aware models. We can learn different co-occurrence patterns for different genres. And the clustering naturally respects these boundaries.</a:t>
            </a:r>
          </a:p>
        </p:txBody>
      </p:sp>
      <p:sp>
        <p:nvSpPr>
          <p:cNvPr id="4" name="Slide Number Placeholder 3">
            <a:extLst>
              <a:ext uri="{FF2B5EF4-FFF2-40B4-BE49-F238E27FC236}">
                <a16:creationId xmlns:a16="http://schemas.microsoft.com/office/drawing/2014/main" id="{B8E0C65C-2BF1-60A5-73F4-AACCB94087E0}"/>
              </a:ext>
            </a:extLst>
          </p:cNvPr>
          <p:cNvSpPr>
            <a:spLocks noGrp="1"/>
          </p:cNvSpPr>
          <p:nvPr>
            <p:ph type="sldNum" sz="quarter" idx="5"/>
          </p:nvPr>
        </p:nvSpPr>
        <p:spPr/>
        <p:txBody>
          <a:bodyPr/>
          <a:lstStyle/>
          <a:p>
            <a:fld id="{8DEC542A-1277-0C4F-8F99-2B06C06C3663}" type="slidenum">
              <a:rPr lang="en-US" smtClean="0"/>
              <a:t>19</a:t>
            </a:fld>
            <a:endParaRPr lang="en-US"/>
          </a:p>
        </p:txBody>
      </p:sp>
    </p:spTree>
    <p:extLst>
      <p:ext uri="{BB962C8B-B14F-4D97-AF65-F5344CB8AC3E}">
        <p14:creationId xmlns:p14="http://schemas.microsoft.com/office/powerpoint/2010/main" val="503503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summarize the key findings. First: song co-occurrence patterns are real and incredibly strong. We're talking lift values over 10,000. These aren't random - they're predictive. Second: playlists naturally cluster. Users make different kinds of playlists for different contexts. Third: simple models are hard to beat on sparse data, but that's fine. The real power is in combining approaches. If you ensemble 40% popularity-based, 30% co-occurrence, and 30% cluster-aware recommendations, you'll beat any single model.</a:t>
            </a:r>
          </a:p>
        </p:txBody>
      </p:sp>
      <p:sp>
        <p:nvSpPr>
          <p:cNvPr id="4" name="Slide Number Placeholder 3"/>
          <p:cNvSpPr>
            <a:spLocks noGrp="1"/>
          </p:cNvSpPr>
          <p:nvPr>
            <p:ph type="sldNum" sz="quarter" idx="5"/>
          </p:nvPr>
        </p:nvSpPr>
        <p:spPr/>
        <p:txBody>
          <a:bodyPr/>
          <a:lstStyle/>
          <a:p>
            <a:fld id="{8DEC542A-1277-0C4F-8F99-2B06C06C3663}" type="slidenum">
              <a:rPr lang="en-US" smtClean="0"/>
              <a:t>21</a:t>
            </a:fld>
            <a:endParaRPr lang="en-US"/>
          </a:p>
        </p:txBody>
      </p:sp>
    </p:spTree>
    <p:extLst>
      <p:ext uri="{BB962C8B-B14F-4D97-AF65-F5344CB8AC3E}">
        <p14:creationId xmlns:p14="http://schemas.microsoft.com/office/powerpoint/2010/main" val="34472162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limitations worth noting. We treat playlists as sets of songs - we don't care about order. But in reality, the order you play songs matters. Someone might start with upbeat songs and gradually slow down. That temporal pattern is valuable information we're missing. Genre metadata is also sparse - only about 20% of playlists have labels. If we had better genre data, we could build genre-specific models. We also don't know who made the playlists - different demographics probably have different tastes. And there's the cold-start problem: how do you recommend to brand new users? Despite these limitations, the approach is solid and extensible. Future work includes temporal analysis, graph networks, real-time feedback, and eventually A/B testing with real users.</a:t>
            </a:r>
          </a:p>
        </p:txBody>
      </p:sp>
      <p:sp>
        <p:nvSpPr>
          <p:cNvPr id="4" name="Slide Number Placeholder 3"/>
          <p:cNvSpPr>
            <a:spLocks noGrp="1"/>
          </p:cNvSpPr>
          <p:nvPr>
            <p:ph type="sldNum" sz="quarter" idx="5"/>
          </p:nvPr>
        </p:nvSpPr>
        <p:spPr/>
        <p:txBody>
          <a:bodyPr/>
          <a:lstStyle/>
          <a:p>
            <a:fld id="{8DEC542A-1277-0C4F-8F99-2B06C06C3663}" type="slidenum">
              <a:rPr lang="en-US" smtClean="0"/>
              <a:t>22</a:t>
            </a:fld>
            <a:endParaRPr lang="en-US"/>
          </a:p>
        </p:txBody>
      </p:sp>
    </p:spTree>
    <p:extLst>
      <p:ext uri="{BB962C8B-B14F-4D97-AF65-F5344CB8AC3E}">
        <p14:creationId xmlns:p14="http://schemas.microsoft.com/office/powerpoint/2010/main" val="1473349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music taste is learnable. This project shows that if you take a systematic approach to mining patterns, you can extract real value from playlists at scale. You find strong co-occurrence patterns. You discover natural playlist types. You learn what works and what doesn't. For a company like Spotify, this kind of analysis could directly translate to better recommendations, more engagement, and higher retention. I've contributed a complete analysis pipeline, association rules, clustering results, and multiple recommendation approaches. The code is reproducible and well-documented. And I've identified clear paths for future work. Thank you. Questions</a:t>
            </a:r>
          </a:p>
        </p:txBody>
      </p:sp>
      <p:sp>
        <p:nvSpPr>
          <p:cNvPr id="4" name="Slide Number Placeholder 3"/>
          <p:cNvSpPr>
            <a:spLocks noGrp="1"/>
          </p:cNvSpPr>
          <p:nvPr>
            <p:ph type="sldNum" sz="quarter" idx="5"/>
          </p:nvPr>
        </p:nvSpPr>
        <p:spPr/>
        <p:txBody>
          <a:bodyPr/>
          <a:lstStyle/>
          <a:p>
            <a:fld id="{8DEC542A-1277-0C4F-8F99-2B06C06C3663}" type="slidenum">
              <a:rPr lang="en-US" smtClean="0"/>
              <a:t>23</a:t>
            </a:fld>
            <a:endParaRPr lang="en-US"/>
          </a:p>
        </p:txBody>
      </p:sp>
    </p:spTree>
    <p:extLst>
      <p:ext uri="{BB962C8B-B14F-4D97-AF65-F5344CB8AC3E}">
        <p14:creationId xmlns:p14="http://schemas.microsoft.com/office/powerpoint/2010/main" val="7591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listening. I'm happy to answer any questions. If you want to dig into the code or results, everything is available on GitHub. Thanks!</a:t>
            </a:r>
          </a:p>
        </p:txBody>
      </p:sp>
      <p:sp>
        <p:nvSpPr>
          <p:cNvPr id="4" name="Slide Number Placeholder 3"/>
          <p:cNvSpPr>
            <a:spLocks noGrp="1"/>
          </p:cNvSpPr>
          <p:nvPr>
            <p:ph type="sldNum" sz="quarter" idx="5"/>
          </p:nvPr>
        </p:nvSpPr>
        <p:spPr/>
        <p:txBody>
          <a:bodyPr/>
          <a:lstStyle/>
          <a:p>
            <a:fld id="{8DEC542A-1277-0C4F-8F99-2B06C06C3663}" type="slidenum">
              <a:rPr lang="en-US" smtClean="0"/>
              <a:t>24</a:t>
            </a:fld>
            <a:endParaRPr lang="en-US"/>
          </a:p>
        </p:txBody>
      </p:sp>
    </p:spTree>
    <p:extLst>
      <p:ext uri="{BB962C8B-B14F-4D97-AF65-F5344CB8AC3E}">
        <p14:creationId xmlns:p14="http://schemas.microsoft.com/office/powerpoint/2010/main" val="1796690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0CE81-F0DE-6001-78C8-693004F701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38D8B3-272B-3137-D1F2-A886283672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D65F16-A6F5-5629-D2E4-26E246407298}"/>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5" name="Footer Placeholder 4">
            <a:extLst>
              <a:ext uri="{FF2B5EF4-FFF2-40B4-BE49-F238E27FC236}">
                <a16:creationId xmlns:a16="http://schemas.microsoft.com/office/drawing/2014/main" id="{3EEAF1BC-D6CC-3EBE-D880-A6750B74BF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654C5E-2B15-C7A5-FD41-CB54F7AADB9F}"/>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2152411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CDC18-3861-CA3A-D8F5-4C8EDB62A5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CB01E3-48B2-EE2B-A6B5-B0B6FD4BAE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6B7353-F8A8-676D-E9C1-3B61434E4581}"/>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5" name="Footer Placeholder 4">
            <a:extLst>
              <a:ext uri="{FF2B5EF4-FFF2-40B4-BE49-F238E27FC236}">
                <a16:creationId xmlns:a16="http://schemas.microsoft.com/office/drawing/2014/main" id="{2F71167D-1A0A-D011-9C09-F80A6A42D5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6D729-32EC-9724-2430-048A145E93F4}"/>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3022783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9AF47-85FD-2ED5-DB8B-77AFADF536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1FDB1B-B808-9F86-933C-9DA9C0AED7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E84FC8-D3A2-7CBD-1E06-6C479D70322D}"/>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5" name="Footer Placeholder 4">
            <a:extLst>
              <a:ext uri="{FF2B5EF4-FFF2-40B4-BE49-F238E27FC236}">
                <a16:creationId xmlns:a16="http://schemas.microsoft.com/office/drawing/2014/main" id="{4D7B0AAE-F995-A7BC-68E5-0B0D49BE38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77FBFA-4A23-1D3A-50FE-1CFFE6508BA5}"/>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171089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F8A87-E0B3-ABCB-6C11-4A5A1AB576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C76E27-BDF6-09C0-3351-AB8FF64B4A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B058B3-41D3-5508-409F-908B9879FE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E3688B-8FCA-F8F4-1338-EADE698B4D01}"/>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6" name="Footer Placeholder 5">
            <a:extLst>
              <a:ext uri="{FF2B5EF4-FFF2-40B4-BE49-F238E27FC236}">
                <a16:creationId xmlns:a16="http://schemas.microsoft.com/office/drawing/2014/main" id="{4EEA167B-8054-6D2E-2087-C1ADACE0C1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9B719B-5F95-50EF-F1EA-3C8D33DABB3B}"/>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2765469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D5311-1169-DF6B-17A2-F508A34BF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5FC449-03D0-75EC-1D4C-24227B7960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38411D-A71F-7352-BFDD-EAEB1B2C79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38C54C-07F6-BD31-829C-03F6B1F5F3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BEF96F-5384-CDAC-15CB-7C7C7F361E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279E8DA-BB0F-7250-0305-396F0D0DF119}"/>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8" name="Footer Placeholder 7">
            <a:extLst>
              <a:ext uri="{FF2B5EF4-FFF2-40B4-BE49-F238E27FC236}">
                <a16:creationId xmlns:a16="http://schemas.microsoft.com/office/drawing/2014/main" id="{1D79955A-BECA-ECDF-AC8B-9851367CF2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F34B3C-A070-0715-F1EC-3987F77408A7}"/>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3936260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241B5-399D-B034-997E-F6AD982FE3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FEBB87-3000-5FA6-DCE9-B7D1F63332E2}"/>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4" name="Footer Placeholder 3">
            <a:extLst>
              <a:ext uri="{FF2B5EF4-FFF2-40B4-BE49-F238E27FC236}">
                <a16:creationId xmlns:a16="http://schemas.microsoft.com/office/drawing/2014/main" id="{CC8E64F4-2C46-3FA3-3632-CC1735E6B2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500F66-E017-8CA9-9A2A-878EF9BE8F08}"/>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568447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90AD78-81F6-62D7-C105-8881F10B5D88}"/>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3" name="Footer Placeholder 2">
            <a:extLst>
              <a:ext uri="{FF2B5EF4-FFF2-40B4-BE49-F238E27FC236}">
                <a16:creationId xmlns:a16="http://schemas.microsoft.com/office/drawing/2014/main" id="{4B136187-48F4-9A2B-7F05-D8229A671D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998DB4-07BD-3E85-A188-07D49DCFC74D}"/>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2719342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78AC-C453-1FE0-D9C7-A2A108F6D1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C19BA1-C8FE-EDAA-BD47-E9FCE9237E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EAA776-AAF2-55F9-AADC-B203F222A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C884E7-0EAB-C939-8C05-FF6E6416B59D}"/>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6" name="Footer Placeholder 5">
            <a:extLst>
              <a:ext uri="{FF2B5EF4-FFF2-40B4-BE49-F238E27FC236}">
                <a16:creationId xmlns:a16="http://schemas.microsoft.com/office/drawing/2014/main" id="{A7F69EB8-AD00-E298-3F55-24E39ADBB2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87B4E3-C229-F214-C754-826D1F6EA0E3}"/>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2803535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D079D-00E5-7137-D84B-B2A76DB94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A240A0-12F1-C4C7-D19C-5DDB895BA1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0254CB-CBE3-7ADA-06EF-7CCF833A75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43C45C-F82D-AF58-00C1-3D8A3C6D7031}"/>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6" name="Footer Placeholder 5">
            <a:extLst>
              <a:ext uri="{FF2B5EF4-FFF2-40B4-BE49-F238E27FC236}">
                <a16:creationId xmlns:a16="http://schemas.microsoft.com/office/drawing/2014/main" id="{D18B8683-4E21-99CD-74DF-5460777DEA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8B9D76-995F-5A9E-26E5-A8972FD7103C}"/>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1092721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5A635-A464-6ACD-2CB9-8C03FCF3D8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47F80D-59B7-CFEC-76D4-41C8A1DAC2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1B3E21-6607-75E6-3146-23153F7DC686}"/>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5" name="Footer Placeholder 4">
            <a:extLst>
              <a:ext uri="{FF2B5EF4-FFF2-40B4-BE49-F238E27FC236}">
                <a16:creationId xmlns:a16="http://schemas.microsoft.com/office/drawing/2014/main" id="{4F088D89-511D-CD8D-42A1-751A1F9154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C00000-327D-B0E5-EDAA-37FE639250CD}"/>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1455638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51BE86-A702-C080-BE75-6C7EA3D038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DB5E70-0371-7837-A42D-88E7465394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7F6EFE-C66C-FA1C-6C44-C42FE5F502EB}"/>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5" name="Footer Placeholder 4">
            <a:extLst>
              <a:ext uri="{FF2B5EF4-FFF2-40B4-BE49-F238E27FC236}">
                <a16:creationId xmlns:a16="http://schemas.microsoft.com/office/drawing/2014/main" id="{FD1496FE-2C60-348F-3586-7A869D574D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33E26B-BA44-998A-424D-7724E5BB5FAF}"/>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17302388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1C2B16-131D-C2B6-2652-BF7157A522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C82357-0758-00BE-7139-01FD28150C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CEA035-8D18-1E0F-FD79-41D958D3F5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4AA42B-69D5-464D-8FD3-FCBED9ED63AF}" type="datetimeFigureOut">
              <a:rPr lang="en-US" smtClean="0"/>
              <a:t>11/27/25</a:t>
            </a:fld>
            <a:endParaRPr lang="en-US"/>
          </a:p>
        </p:txBody>
      </p:sp>
      <p:sp>
        <p:nvSpPr>
          <p:cNvPr id="5" name="Footer Placeholder 4">
            <a:extLst>
              <a:ext uri="{FF2B5EF4-FFF2-40B4-BE49-F238E27FC236}">
                <a16:creationId xmlns:a16="http://schemas.microsoft.com/office/drawing/2014/main" id="{1070094C-C773-91C0-123A-5B92EA2EAB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7B6B0A4-A7CE-7118-40EA-3FC67AC97D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8A547A-BFA3-3647-BF59-F4B93FB5D86B}" type="slidenum">
              <a:rPr lang="en-US" smtClean="0"/>
              <a:t>‹#›</a:t>
            </a:fld>
            <a:endParaRPr lang="en-US"/>
          </a:p>
        </p:txBody>
      </p:sp>
    </p:spTree>
    <p:extLst>
      <p:ext uri="{BB962C8B-B14F-4D97-AF65-F5344CB8AC3E}">
        <p14:creationId xmlns:p14="http://schemas.microsoft.com/office/powerpoint/2010/main" val="1326551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drsh0755/spotify-playlist-min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36ED7-9620-90A7-4CD8-E2EEC73B82AA}"/>
              </a:ext>
            </a:extLst>
          </p:cNvPr>
          <p:cNvSpPr>
            <a:spLocks noGrp="1"/>
          </p:cNvSpPr>
          <p:nvPr>
            <p:ph type="ctrTitle"/>
          </p:nvPr>
        </p:nvSpPr>
        <p:spPr/>
        <p:txBody>
          <a:bodyPr>
            <a:normAutofit fontScale="90000"/>
          </a:bodyPr>
          <a:lstStyle/>
          <a:p>
            <a:pPr>
              <a:defRPr sz="3600" b="1">
                <a:solidFill>
                  <a:srgbClr val="1DB954"/>
                </a:solidFill>
                <a:latin typeface="Montserrat"/>
              </a:defRPr>
            </a:pPr>
            <a:r>
              <a:rPr lang="en-US" dirty="0"/>
              <a:t>SPOTIFY PLAYLIST EXTENSION WITH PATTERN MINING AND CLUSTERING</a:t>
            </a:r>
          </a:p>
        </p:txBody>
      </p:sp>
      <p:sp>
        <p:nvSpPr>
          <p:cNvPr id="3" name="Subtitle 2">
            <a:extLst>
              <a:ext uri="{FF2B5EF4-FFF2-40B4-BE49-F238E27FC236}">
                <a16:creationId xmlns:a16="http://schemas.microsoft.com/office/drawing/2014/main" id="{14962E4D-8102-AA80-0A59-1F475DCA09EC}"/>
              </a:ext>
            </a:extLst>
          </p:cNvPr>
          <p:cNvSpPr>
            <a:spLocks noGrp="1"/>
          </p:cNvSpPr>
          <p:nvPr>
            <p:ph type="subTitle" idx="1"/>
          </p:nvPr>
        </p:nvSpPr>
        <p:spPr/>
        <p:txBody>
          <a:bodyPr/>
          <a:lstStyle/>
          <a:p>
            <a:pPr>
              <a:defRPr sz="2000" b="0">
                <a:solidFill>
                  <a:srgbClr val="FFFFFF"/>
                </a:solidFill>
                <a:latin typeface="Roboto"/>
              </a:defRPr>
            </a:pPr>
            <a:r>
              <a:rPr lang="en-US" dirty="0"/>
              <a:t>Automatic Playlist Continuation Using Association Rules, Clustering, and Hybrid Recommendation Models</a:t>
            </a:r>
          </a:p>
        </p:txBody>
      </p:sp>
      <p:sp>
        <p:nvSpPr>
          <p:cNvPr id="4" name="Subtitle 2">
            <a:extLst>
              <a:ext uri="{FF2B5EF4-FFF2-40B4-BE49-F238E27FC236}">
                <a16:creationId xmlns:a16="http://schemas.microsoft.com/office/drawing/2014/main" id="{2FA1BF4A-E708-BF7B-5A47-4F65570BCA75}"/>
              </a:ext>
            </a:extLst>
          </p:cNvPr>
          <p:cNvSpPr txBox="1">
            <a:spLocks/>
          </p:cNvSpPr>
          <p:nvPr/>
        </p:nvSpPr>
        <p:spPr>
          <a:xfrm>
            <a:off x="1524000" y="524634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sz="2000" b="0">
                <a:solidFill>
                  <a:srgbClr val="FFFFFF"/>
                </a:solidFill>
                <a:latin typeface="Roboto"/>
              </a:defRPr>
            </a:pPr>
            <a:r>
              <a:rPr lang="en-US" sz="1050" dirty="0"/>
              <a:t>Adarsh Singh </a:t>
            </a:r>
          </a:p>
          <a:p>
            <a:pPr>
              <a:defRPr sz="2000" b="0">
                <a:solidFill>
                  <a:srgbClr val="FFFFFF"/>
                </a:solidFill>
                <a:latin typeface="Roboto"/>
              </a:defRPr>
            </a:pPr>
            <a:r>
              <a:rPr lang="en-US" sz="1050" dirty="0"/>
              <a:t>CSCI 6443: Data Mining </a:t>
            </a:r>
          </a:p>
          <a:p>
            <a:pPr>
              <a:defRPr sz="2000" b="0">
                <a:solidFill>
                  <a:srgbClr val="FFFFFF"/>
                </a:solidFill>
                <a:latin typeface="Roboto"/>
              </a:defRPr>
            </a:pPr>
            <a:r>
              <a:rPr lang="en-US" sz="1050" dirty="0"/>
              <a:t>George Washington University </a:t>
            </a:r>
          </a:p>
          <a:p>
            <a:pPr>
              <a:defRPr sz="2000" b="0">
                <a:solidFill>
                  <a:srgbClr val="FFFFFF"/>
                </a:solidFill>
                <a:latin typeface="Roboto"/>
              </a:defRPr>
            </a:pPr>
            <a:r>
              <a:rPr lang="en-US" sz="1050" dirty="0"/>
              <a:t>Fall 2025</a:t>
            </a:r>
          </a:p>
          <a:p>
            <a:pPr>
              <a:defRPr sz="2000" b="0">
                <a:solidFill>
                  <a:srgbClr val="FFFFFF"/>
                </a:solidFill>
                <a:latin typeface="Roboto"/>
              </a:defRPr>
            </a:pPr>
            <a:r>
              <a:rPr lang="en-US" sz="1050" dirty="0"/>
              <a:t>Project </a:t>
            </a:r>
            <a:r>
              <a:rPr lang="en-US" sz="1100" dirty="0"/>
              <a:t>Repo: </a:t>
            </a:r>
            <a:r>
              <a:rPr lang="en-US" sz="1100" dirty="0">
                <a:hlinkClick r:id="rId3">
                  <a:extLst>
                    <a:ext uri="{A12FA001-AC4F-418D-AE19-62706E023703}">
                      <ahyp:hlinkClr xmlns:ahyp="http://schemas.microsoft.com/office/drawing/2018/hyperlinkcolor" val="tx"/>
                    </a:ext>
                  </a:extLst>
                </a:hlinkClick>
              </a:rPr>
              <a:t>spotify-playlist-mining</a:t>
            </a:r>
            <a:endParaRPr lang="en-US" sz="1100" dirty="0"/>
          </a:p>
          <a:p>
            <a:pPr>
              <a:defRPr sz="2000" b="0">
                <a:solidFill>
                  <a:srgbClr val="FFFFFF"/>
                </a:solidFill>
                <a:latin typeface="Roboto"/>
              </a:defRPr>
            </a:pPr>
            <a:r>
              <a:rPr lang="en-US" sz="1050" dirty="0"/>
              <a:t>Dataset: Spotify Million Playlist Dataset https://</a:t>
            </a:r>
            <a:r>
              <a:rPr lang="en-US" sz="1050" dirty="0" err="1"/>
              <a:t>www.aicrowd.com</a:t>
            </a:r>
            <a:r>
              <a:rPr lang="en-US" sz="1050" dirty="0"/>
              <a:t>/challenges/</a:t>
            </a:r>
            <a:r>
              <a:rPr lang="en-US" sz="1050" dirty="0" err="1"/>
              <a:t>spotify</a:t>
            </a:r>
            <a:r>
              <a:rPr lang="en-US" sz="1050" dirty="0"/>
              <a:t>-million-playlist-dataset-challenge</a:t>
            </a:r>
          </a:p>
        </p:txBody>
      </p:sp>
      <p:sp>
        <p:nvSpPr>
          <p:cNvPr id="5" name="Rectangle 4"/>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6" name="Rectangle 5"/>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084578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CD23B3-17EB-BDA2-5A8C-96B6E2FF2BE7}"/>
              </a:ext>
            </a:extLst>
          </p:cNvPr>
          <p:cNvSpPr>
            <a:spLocks noGrp="1"/>
          </p:cNvSpPr>
          <p:nvPr>
            <p:ph idx="1"/>
          </p:nvPr>
        </p:nvSpPr>
        <p:spPr>
          <a:xfrm>
            <a:off x="838200" y="1253331"/>
            <a:ext cx="10515600" cy="4351338"/>
          </a:xfrm>
        </p:spPr>
        <p:txBody>
          <a:bodyPr>
            <a:normAutofit lnSpcReduction="10000"/>
          </a:bodyPr>
          <a:lstStyle/>
          <a:p>
            <a:pPr marL="0" indent="0">
              <a:buNone/>
              <a:defRPr sz="3600" b="1">
                <a:solidFill>
                  <a:srgbClr val="1DB954"/>
                </a:solidFill>
                <a:latin typeface="Montserrat"/>
              </a:defRPr>
            </a:pPr>
            <a:r>
              <a:rPr lang="en-US" dirty="0"/>
              <a:t>THE CHALLENGE:</a:t>
            </a:r>
          </a:p>
          <a:p>
            <a:pPr marL="0" indent="0">
              <a:buNone/>
              <a:defRPr sz="3600" b="1">
                <a:solidFill>
                  <a:srgbClr val="1DB954"/>
                </a:solidFill>
                <a:latin typeface="Montserrat"/>
              </a:defRPr>
            </a:pPr>
            <a:r>
              <a:rPr lang="en-US" dirty="0"/>
              <a:t>☹️ Users abandon playlists without good continuations</a:t>
            </a:r>
          </a:p>
          <a:p>
            <a:pPr marL="0" indent="0">
              <a:buNone/>
              <a:defRPr sz="3600" b="1">
                <a:solidFill>
                  <a:srgbClr val="1DB954"/>
                </a:solidFill>
                <a:latin typeface="Montserrat"/>
              </a:defRPr>
            </a:pPr>
            <a:r>
              <a:rPr lang="en-US" dirty="0"/>
              <a:t>🎵 Platforms need contextually relevant recommendations  </a:t>
            </a:r>
          </a:p>
          <a:p>
            <a:pPr marL="0" indent="0">
              <a:buNone/>
              <a:defRPr sz="3600" b="1">
                <a:solidFill>
                  <a:srgbClr val="1DB954"/>
                </a:solidFill>
                <a:latin typeface="Montserrat"/>
              </a:defRPr>
            </a:pPr>
            <a:r>
              <a:rPr lang="en-US" dirty="0"/>
              <a:t>⚖️ Balance: Relevance, Diversity, and Serendipity</a:t>
            </a:r>
          </a:p>
          <a:p>
            <a:pPr>
              <a:defRPr sz="3600" b="1">
                <a:solidFill>
                  <a:srgbClr val="1DB954"/>
                </a:solidFill>
                <a:latin typeface="Montserrat"/>
              </a:defRPr>
            </a:pPr>
            <a:endParaRPr lang="en-US" dirty="0"/>
          </a:p>
          <a:p>
            <a:pPr marL="0" indent="0">
              <a:buNone/>
              <a:defRPr sz="3600" b="1">
                <a:solidFill>
                  <a:srgbClr val="1DB954"/>
                </a:solidFill>
                <a:latin typeface="Montserrat"/>
              </a:defRPr>
            </a:pPr>
            <a:r>
              <a:rPr lang="en-US" dirty="0"/>
              <a:t>WHY IT MATTERS:</a:t>
            </a:r>
          </a:p>
          <a:p>
            <a:pPr marL="0" indent="0">
              <a:buNone/>
              <a:defRPr sz="3600" b="1">
                <a:solidFill>
                  <a:srgbClr val="1DB954"/>
                </a:solidFill>
                <a:latin typeface="Montserrat"/>
              </a:defRPr>
            </a:pPr>
            <a:r>
              <a:rPr lang="en-US" dirty="0"/>
              <a:t>✓ Improves user engagement and retention</a:t>
            </a:r>
          </a:p>
          <a:p>
            <a:pPr marL="0" indent="0">
              <a:buNone/>
              <a:defRPr sz="3600" b="1">
                <a:solidFill>
                  <a:srgbClr val="1DB954"/>
                </a:solidFill>
                <a:latin typeface="Montserrat"/>
              </a:defRPr>
            </a:pPr>
            <a:r>
              <a:rPr lang="en-US" dirty="0"/>
              <a:t>✓ Increases listening time</a:t>
            </a:r>
          </a:p>
          <a:p>
            <a:pPr marL="0" indent="0">
              <a:buNone/>
              <a:defRPr sz="3600" b="1">
                <a:solidFill>
                  <a:srgbClr val="1DB954"/>
                </a:solidFill>
                <a:latin typeface="Montserrat"/>
              </a:defRPr>
            </a:pPr>
            <a:r>
              <a:rPr lang="en-US" dirty="0"/>
              <a:t>✓ Strengthens competitive advantage for streaming services</a:t>
            </a:r>
          </a:p>
        </p:txBody>
      </p:sp>
      <p:sp>
        <p:nvSpPr>
          <p:cNvPr id="4" name="Rectangle 3"/>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5" name="Rectangle 4"/>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834855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F31E75-02BD-061B-312B-4A6A08469BA0}"/>
              </a:ext>
            </a:extLst>
          </p:cNvPr>
          <p:cNvSpPr>
            <a:spLocks noGrp="1"/>
          </p:cNvSpPr>
          <p:nvPr>
            <p:ph type="body" idx="1"/>
          </p:nvPr>
        </p:nvSpPr>
        <p:spPr>
          <a:xfrm>
            <a:off x="304800" y="1122891"/>
            <a:ext cx="3657600" cy="548640"/>
          </a:xfrm>
        </p:spPr>
        <p:txBody>
          <a:bodyPr/>
          <a:lstStyle/>
          <a:p>
            <a:pPr>
              <a:defRPr sz="3600" b="1">
                <a:solidFill>
                  <a:srgbClr val="1DB954"/>
                </a:solidFill>
                <a:latin typeface="Montserrat"/>
              </a:defRPr>
            </a:pPr>
            <a:r>
              <a:rPr lang="en-US" dirty="0"/>
              <a:t>RESEARCH QUESTION 1: </a:t>
            </a:r>
          </a:p>
        </p:txBody>
      </p:sp>
      <p:sp>
        <p:nvSpPr>
          <p:cNvPr id="6" name="Content Placeholder 5">
            <a:extLst>
              <a:ext uri="{FF2B5EF4-FFF2-40B4-BE49-F238E27FC236}">
                <a16:creationId xmlns:a16="http://schemas.microsoft.com/office/drawing/2014/main" id="{B5EBFD3B-02AD-B310-617A-5823E4C03427}"/>
              </a:ext>
            </a:extLst>
          </p:cNvPr>
          <p:cNvSpPr>
            <a:spLocks noGrp="1"/>
          </p:cNvSpPr>
          <p:nvPr>
            <p:ph sz="half" idx="2"/>
          </p:nvPr>
        </p:nvSpPr>
        <p:spPr>
          <a:xfrm>
            <a:off x="304800" y="2096369"/>
            <a:ext cx="3657600" cy="3291840"/>
          </a:xfrm>
        </p:spPr>
        <p:txBody>
          <a:bodyPr>
            <a:normAutofit lnSpcReduction="10000"/>
          </a:bodyPr>
          <a:lstStyle/>
          <a:p>
            <a:pPr marL="0" indent="0">
              <a:buNone/>
              <a:defRPr sz="2000" b="0">
                <a:solidFill>
                  <a:srgbClr val="FFFFFF"/>
                </a:solidFill>
                <a:latin typeface="Roboto"/>
              </a:defRPr>
            </a:pPr>
            <a:r>
              <a:rPr lang="en-US" dirty="0"/>
              <a:t>🔗 Song Co-occurrence Patterns</a:t>
            </a:r>
          </a:p>
          <a:p>
            <a:pPr marL="0" indent="0">
              <a:buNone/>
              <a:defRPr sz="2000" b="0">
                <a:solidFill>
                  <a:srgbClr val="FFFFFF"/>
                </a:solidFill>
                <a:latin typeface="Roboto"/>
              </a:defRPr>
            </a:pPr>
            <a:r>
              <a:rPr lang="en-US" dirty="0"/>
              <a:t> How often do songs appear together in playlists? </a:t>
            </a:r>
          </a:p>
          <a:p>
            <a:pPr marL="0" indent="0">
              <a:buNone/>
              <a:defRPr sz="2000" b="0">
                <a:solidFill>
                  <a:srgbClr val="FFFFFF"/>
                </a:solidFill>
                <a:latin typeface="Roboto"/>
              </a:defRPr>
            </a:pPr>
            <a:r>
              <a:rPr lang="en-US" dirty="0"/>
              <a:t>Can this knowledge inform recommendations?</a:t>
            </a:r>
          </a:p>
        </p:txBody>
      </p:sp>
      <p:sp>
        <p:nvSpPr>
          <p:cNvPr id="7" name="Text Placeholder 6">
            <a:extLst>
              <a:ext uri="{FF2B5EF4-FFF2-40B4-BE49-F238E27FC236}">
                <a16:creationId xmlns:a16="http://schemas.microsoft.com/office/drawing/2014/main" id="{F245F760-6849-1AF1-5778-7F8DFEA2F1E9}"/>
              </a:ext>
            </a:extLst>
          </p:cNvPr>
          <p:cNvSpPr>
            <a:spLocks noGrp="1"/>
          </p:cNvSpPr>
          <p:nvPr>
            <p:ph type="body" sz="quarter" idx="3"/>
          </p:nvPr>
        </p:nvSpPr>
        <p:spPr>
          <a:xfrm>
            <a:off x="4335780" y="1122891"/>
            <a:ext cx="3657600" cy="548640"/>
          </a:xfrm>
        </p:spPr>
        <p:txBody>
          <a:bodyPr/>
          <a:lstStyle/>
          <a:p>
            <a:pPr>
              <a:defRPr sz="2000" b="0">
                <a:solidFill>
                  <a:srgbClr val="FFFFFF"/>
                </a:solidFill>
                <a:latin typeface="Roboto"/>
              </a:defRPr>
            </a:pPr>
            <a:r>
              <a:rPr lang="en-US" dirty="0"/>
              <a:t>RESEARCH QUESTION 2:</a:t>
            </a:r>
          </a:p>
        </p:txBody>
      </p:sp>
      <p:sp>
        <p:nvSpPr>
          <p:cNvPr id="8" name="Content Placeholder 7">
            <a:extLst>
              <a:ext uri="{FF2B5EF4-FFF2-40B4-BE49-F238E27FC236}">
                <a16:creationId xmlns:a16="http://schemas.microsoft.com/office/drawing/2014/main" id="{2CAC1F39-7310-2E67-9511-D81BD03D85F6}"/>
              </a:ext>
            </a:extLst>
          </p:cNvPr>
          <p:cNvSpPr>
            <a:spLocks noGrp="1"/>
          </p:cNvSpPr>
          <p:nvPr>
            <p:ph sz="quarter" idx="4"/>
          </p:nvPr>
        </p:nvSpPr>
        <p:spPr>
          <a:xfrm>
            <a:off x="4267200" y="2096369"/>
            <a:ext cx="3657600" cy="3291840"/>
          </a:xfrm>
        </p:spPr>
        <p:txBody>
          <a:bodyPr>
            <a:normAutofit lnSpcReduction="10000"/>
          </a:bodyPr>
          <a:lstStyle/>
          <a:p>
            <a:pPr marL="0" indent="0">
              <a:buNone/>
              <a:defRPr sz="2000" b="0">
                <a:solidFill>
                  <a:srgbClr val="FFFFFF"/>
                </a:solidFill>
                <a:latin typeface="Roboto"/>
              </a:defRPr>
            </a:pPr>
            <a:r>
              <a:rPr lang="en-US" dirty="0"/>
              <a:t>🗂️ Clustering Effectiveness </a:t>
            </a:r>
          </a:p>
          <a:p>
            <a:pPr marL="0" indent="0">
              <a:buNone/>
              <a:defRPr sz="2000" b="0">
                <a:solidFill>
                  <a:srgbClr val="FFFFFF"/>
                </a:solidFill>
                <a:latin typeface="Roboto"/>
              </a:defRPr>
            </a:pPr>
            <a:r>
              <a:rPr lang="en-US" dirty="0"/>
              <a:t>Can we group playlists by style or genre? </a:t>
            </a:r>
          </a:p>
          <a:p>
            <a:pPr marL="0" indent="0">
              <a:buNone/>
              <a:defRPr sz="2000" b="0">
                <a:solidFill>
                  <a:srgbClr val="FFFFFF"/>
                </a:solidFill>
                <a:latin typeface="Roboto"/>
              </a:defRPr>
            </a:pPr>
            <a:r>
              <a:rPr lang="en-US" dirty="0"/>
              <a:t>Does clustering improve recommendation relevance?</a:t>
            </a:r>
          </a:p>
        </p:txBody>
      </p:sp>
      <p:sp>
        <p:nvSpPr>
          <p:cNvPr id="13" name="Text Placeholder 6">
            <a:extLst>
              <a:ext uri="{FF2B5EF4-FFF2-40B4-BE49-F238E27FC236}">
                <a16:creationId xmlns:a16="http://schemas.microsoft.com/office/drawing/2014/main" id="{BF7E9110-C73E-25CD-2E12-D0599E5B6207}"/>
              </a:ext>
            </a:extLst>
          </p:cNvPr>
          <p:cNvSpPr txBox="1">
            <a:spLocks/>
          </p:cNvSpPr>
          <p:nvPr/>
        </p:nvSpPr>
        <p:spPr>
          <a:xfrm>
            <a:off x="8366760" y="1122891"/>
            <a:ext cx="3657600" cy="548640"/>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defRPr sz="2000" b="0">
                <a:solidFill>
                  <a:srgbClr val="FFFFFF"/>
                </a:solidFill>
                <a:latin typeface="Roboto"/>
              </a:defRPr>
            </a:pPr>
            <a:r>
              <a:rPr lang="en-US" dirty="0"/>
              <a:t>RESEARCH QUESTION 3:</a:t>
            </a:r>
          </a:p>
        </p:txBody>
      </p:sp>
      <p:sp>
        <p:nvSpPr>
          <p:cNvPr id="14" name="Content Placeholder 7">
            <a:extLst>
              <a:ext uri="{FF2B5EF4-FFF2-40B4-BE49-F238E27FC236}">
                <a16:creationId xmlns:a16="http://schemas.microsoft.com/office/drawing/2014/main" id="{F17FBE71-B2EE-D124-5FBF-CF9880E94F69}"/>
              </a:ext>
            </a:extLst>
          </p:cNvPr>
          <p:cNvSpPr txBox="1">
            <a:spLocks/>
          </p:cNvSpPr>
          <p:nvPr/>
        </p:nvSpPr>
        <p:spPr>
          <a:xfrm>
            <a:off x="8229600" y="2096369"/>
            <a:ext cx="3657600" cy="329184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sz="2000" b="0">
                <a:solidFill>
                  <a:srgbClr val="FFFFFF"/>
                </a:solidFill>
                <a:latin typeface="Roboto"/>
              </a:defRPr>
            </a:pPr>
            <a:r>
              <a:rPr lang="en-US" dirty="0"/>
              <a:t>🎯 Recommendation Quality </a:t>
            </a:r>
          </a:p>
          <a:p>
            <a:pPr marL="0" indent="0">
              <a:buNone/>
              <a:defRPr sz="2000" b="0">
                <a:solidFill>
                  <a:srgbClr val="FFFFFF"/>
                </a:solidFill>
                <a:latin typeface="Roboto"/>
              </a:defRPr>
            </a:pPr>
            <a:r>
              <a:rPr lang="en-US" dirty="0"/>
              <a:t>Which recommendation approaches work best? </a:t>
            </a:r>
          </a:p>
          <a:p>
            <a:pPr marL="0" indent="0">
              <a:buNone/>
              <a:defRPr sz="2000" b="0">
                <a:solidFill>
                  <a:srgbClr val="FFFFFF"/>
                </a:solidFill>
                <a:latin typeface="Roboto"/>
              </a:defRPr>
            </a:pPr>
            <a:r>
              <a:rPr lang="en-US" dirty="0"/>
              <a:t>How do models compare in precision and diversity?</a:t>
            </a:r>
          </a:p>
        </p:txBody>
      </p:sp>
      <p:sp>
        <p:nvSpPr>
          <p:cNvPr id="15" name="Rectangle 14"/>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16" name="Rectangle 15"/>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556578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descr="A screenshot of a graph&#10;&#10;AI-generated content may be incorrect.">
            <a:extLst>
              <a:ext uri="{FF2B5EF4-FFF2-40B4-BE49-F238E27FC236}">
                <a16:creationId xmlns:a16="http://schemas.microsoft.com/office/drawing/2014/main" id="{E383889B-D137-2CDA-642B-9705B3A20DC4}"/>
              </a:ext>
            </a:extLst>
          </p:cNvPr>
          <p:cNvPicPr>
            <a:picLocks noGrp="1" noChangeAspect="1"/>
          </p:cNvPicPr>
          <p:nvPr>
            <p:ph sz="half" idx="1"/>
          </p:nvPr>
        </p:nvPicPr>
        <p:blipFill>
          <a:blip r:embed="rId3"/>
          <a:stretch>
            <a:fillRect/>
          </a:stretch>
        </p:blipFill>
        <p:spPr>
          <a:xfrm>
            <a:off x="6736672" y="195728"/>
            <a:ext cx="5181600" cy="3759914"/>
          </a:xfrm>
          <a:prstGeom prst="rect">
            <a:avLst/>
          </a:prstGeom>
        </p:spPr>
      </p:pic>
      <p:pic>
        <p:nvPicPr>
          <p:cNvPr id="15" name="Content Placeholder 14" descr="A graph with a green triangle and a red line&#10;&#10;AI-generated content may be incorrect.">
            <a:extLst>
              <a:ext uri="{FF2B5EF4-FFF2-40B4-BE49-F238E27FC236}">
                <a16:creationId xmlns:a16="http://schemas.microsoft.com/office/drawing/2014/main" id="{73598E96-269C-21AC-52B0-7371B53DFC3D}"/>
              </a:ext>
            </a:extLst>
          </p:cNvPr>
          <p:cNvPicPr>
            <a:picLocks noGrp="1" noChangeAspect="1"/>
          </p:cNvPicPr>
          <p:nvPr>
            <p:ph sz="half" idx="2"/>
          </p:nvPr>
        </p:nvPicPr>
        <p:blipFill>
          <a:blip r:embed="rId4"/>
          <a:stretch>
            <a:fillRect/>
          </a:stretch>
        </p:blipFill>
        <p:spPr>
          <a:xfrm>
            <a:off x="6736672" y="4124737"/>
            <a:ext cx="5181600" cy="2590800"/>
          </a:xfrm>
          <a:prstGeom prst="rect">
            <a:avLst/>
          </a:prstGeom>
        </p:spPr>
      </p:pic>
      <p:sp>
        <p:nvSpPr>
          <p:cNvPr id="16" name="Title 12">
            <a:extLst>
              <a:ext uri="{FF2B5EF4-FFF2-40B4-BE49-F238E27FC236}">
                <a16:creationId xmlns:a16="http://schemas.microsoft.com/office/drawing/2014/main" id="{6D3E7E7B-6983-166B-0FE6-66B2F801FB20}"/>
              </a:ext>
            </a:extLst>
          </p:cNvPr>
          <p:cNvSpPr>
            <a:spLocks noGrp="1"/>
          </p:cNvSpPr>
          <p:nvPr>
            <p:ph type="title"/>
          </p:nvPr>
        </p:nvSpPr>
        <p:spPr>
          <a:xfrm>
            <a:off x="273728" y="426129"/>
            <a:ext cx="5820052" cy="1371092"/>
          </a:xfrm>
        </p:spPr>
        <p:txBody>
          <a:bodyPr/>
          <a:lstStyle/>
          <a:p>
            <a:pPr algn="ctr">
              <a:defRPr sz="2000" b="0">
                <a:solidFill>
                  <a:srgbClr val="FFFFFF"/>
                </a:solidFill>
                <a:latin typeface="Roboto"/>
              </a:defRPr>
            </a:pPr>
            <a:r>
              <a:rPr lang="en-US" dirty="0"/>
              <a:t>DATASET OVERVIEW</a:t>
            </a:r>
          </a:p>
        </p:txBody>
      </p:sp>
      <p:sp>
        <p:nvSpPr>
          <p:cNvPr id="17" name="Content Placeholder 13">
            <a:extLst>
              <a:ext uri="{FF2B5EF4-FFF2-40B4-BE49-F238E27FC236}">
                <a16:creationId xmlns:a16="http://schemas.microsoft.com/office/drawing/2014/main" id="{40632A5E-4FBD-CF0B-58DE-9214868EA8AB}"/>
              </a:ext>
            </a:extLst>
          </p:cNvPr>
          <p:cNvSpPr txBox="1">
            <a:spLocks/>
          </p:cNvSpPr>
          <p:nvPr/>
        </p:nvSpPr>
        <p:spPr>
          <a:xfrm>
            <a:off x="273728" y="1782702"/>
            <a:ext cx="5820052" cy="450079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sz="2000" b="0">
                <a:solidFill>
                  <a:srgbClr val="FFFFFF"/>
                </a:solidFill>
                <a:latin typeface="Roboto"/>
              </a:defRPr>
            </a:pPr>
            <a:r>
              <a:rPr lang="en-US" dirty="0"/>
              <a:t>SPOTIFY MILLION PLAYLIST DATASET (MPD)</a:t>
            </a:r>
          </a:p>
          <a:p>
            <a:pPr>
              <a:defRPr sz="2000" b="0">
                <a:solidFill>
                  <a:srgbClr val="FFFFFF"/>
                </a:solidFill>
                <a:latin typeface="Roboto"/>
              </a:defRPr>
            </a:pPr>
            <a:endParaRPr lang="en-US" dirty="0"/>
          </a:p>
          <a:p>
            <a:pPr marL="0" indent="0">
              <a:buFont typeface="Arial" panose="020B0604020202020204" pitchFamily="34" charset="0"/>
              <a:buNone/>
              <a:defRPr sz="2000" b="0">
                <a:solidFill>
                  <a:srgbClr val="FFFFFF"/>
                </a:solidFill>
                <a:latin typeface="Roboto"/>
              </a:defRPr>
            </a:pPr>
            <a:r>
              <a:rPr lang="en-US" dirty="0"/>
              <a:t>🎵 1,000,000 playlists analyzed</a:t>
            </a:r>
          </a:p>
          <a:p>
            <a:pPr marL="0" indent="0">
              <a:buFont typeface="Arial" panose="020B0604020202020204" pitchFamily="34" charset="0"/>
              <a:buNone/>
              <a:defRPr sz="2000" b="0">
                <a:solidFill>
                  <a:srgbClr val="FFFFFF"/>
                </a:solidFill>
                <a:latin typeface="Roboto"/>
              </a:defRPr>
            </a:pPr>
            <a:r>
              <a:rPr lang="en-US" dirty="0"/>
              <a:t>📊 66,346,428 track entries processed</a:t>
            </a:r>
          </a:p>
          <a:p>
            <a:pPr marL="0" indent="0">
              <a:buFont typeface="Arial" panose="020B0604020202020204" pitchFamily="34" charset="0"/>
              <a:buNone/>
              <a:defRPr sz="2000" b="0">
                <a:solidFill>
                  <a:srgbClr val="FFFFFF"/>
                </a:solidFill>
                <a:latin typeface="Roboto"/>
              </a:defRPr>
            </a:pPr>
            <a:r>
              <a:rPr lang="en-US" dirty="0"/>
              <a:t>🎤 2,262,292 unique tracks discovered</a:t>
            </a:r>
          </a:p>
          <a:p>
            <a:pPr marL="0" indent="0">
              <a:buFont typeface="Arial" panose="020B0604020202020204" pitchFamily="34" charset="0"/>
              <a:buNone/>
              <a:defRPr sz="2000" b="0">
                <a:solidFill>
                  <a:srgbClr val="FFFFFF"/>
                </a:solidFill>
                <a:latin typeface="Roboto"/>
              </a:defRPr>
            </a:pPr>
            <a:r>
              <a:rPr lang="en-US" dirty="0"/>
              <a:t>👥 287,742 unique artists represented</a:t>
            </a:r>
          </a:p>
          <a:p>
            <a:pPr marL="0" indent="0">
              <a:buFont typeface="Arial" panose="020B0604020202020204" pitchFamily="34" charset="0"/>
              <a:buNone/>
              <a:defRPr sz="2000" b="0">
                <a:solidFill>
                  <a:srgbClr val="FFFFFF"/>
                </a:solidFill>
                <a:latin typeface="Roboto"/>
              </a:defRPr>
            </a:pPr>
            <a:r>
              <a:rPr lang="en-US" dirty="0"/>
              <a:t>📈 66.3 tracks average per playlist</a:t>
            </a:r>
          </a:p>
          <a:p>
            <a:pPr>
              <a:defRPr sz="2000" b="0">
                <a:solidFill>
                  <a:srgbClr val="FFFFFF"/>
                </a:solidFill>
                <a:latin typeface="Roboto"/>
              </a:defRPr>
            </a:pPr>
            <a:endParaRPr lang="en-US" dirty="0"/>
          </a:p>
          <a:p>
            <a:pPr marL="0" indent="0">
              <a:buFont typeface="Arial" panose="020B0604020202020204" pitchFamily="34" charset="0"/>
              <a:buNone/>
              <a:defRPr sz="2000" b="0">
                <a:solidFill>
                  <a:srgbClr val="FFFFFF"/>
                </a:solidFill>
                <a:latin typeface="Roboto"/>
              </a:defRPr>
            </a:pPr>
            <a:r>
              <a:rPr lang="en-US" dirty="0"/>
              <a:t>KEY INSIGHT:</a:t>
            </a:r>
          </a:p>
          <a:p>
            <a:pPr marL="0" indent="0">
              <a:buFont typeface="Arial" panose="020B0604020202020204" pitchFamily="34" charset="0"/>
              <a:buNone/>
              <a:defRPr sz="2000" b="0">
                <a:solidFill>
                  <a:srgbClr val="FFFFFF"/>
                </a:solidFill>
                <a:latin typeface="Roboto"/>
              </a:defRPr>
            </a:pPr>
            <a:r>
              <a:rPr lang="en-US" dirty="0"/>
              <a:t>This is SPARSE data. 47% of tracks appear in only 1 playlist.</a:t>
            </a:r>
          </a:p>
          <a:p>
            <a:pPr marL="0" indent="0">
              <a:buFont typeface="Arial" panose="020B0604020202020204" pitchFamily="34" charset="0"/>
              <a:buNone/>
              <a:defRPr sz="2000" b="0">
                <a:solidFill>
                  <a:srgbClr val="FFFFFF"/>
                </a:solidFill>
                <a:latin typeface="Roboto"/>
              </a:defRPr>
            </a:pPr>
            <a:r>
              <a:rPr lang="en-US" dirty="0"/>
              <a:t>But within that sparseness, incredibly strong patterns emerge.</a:t>
            </a:r>
          </a:p>
        </p:txBody>
      </p:sp>
      <p:sp>
        <p:nvSpPr>
          <p:cNvPr id="18" name="Rectangle 17"/>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19" name="Rectangle 18"/>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088409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graph&#10;&#10;AI-generated content may be incorrect.">
            <a:extLst>
              <a:ext uri="{FF2B5EF4-FFF2-40B4-BE49-F238E27FC236}">
                <a16:creationId xmlns:a16="http://schemas.microsoft.com/office/drawing/2014/main" id="{6BE21EF1-6182-6E40-9D9A-B0C98CAF2B2B}"/>
              </a:ext>
            </a:extLst>
          </p:cNvPr>
          <p:cNvPicPr>
            <a:picLocks noChangeAspect="1"/>
          </p:cNvPicPr>
          <p:nvPr/>
        </p:nvPicPr>
        <p:blipFill>
          <a:blip r:embed="rId2"/>
          <a:stretch>
            <a:fillRect/>
          </a:stretch>
        </p:blipFill>
        <p:spPr>
          <a:xfrm>
            <a:off x="2209800" y="609064"/>
            <a:ext cx="7772400" cy="5639872"/>
          </a:xfrm>
          <a:prstGeom prst="rect">
            <a:avLst/>
          </a:prstGeom>
        </p:spPr>
      </p:pic>
      <p:sp>
        <p:nvSpPr>
          <p:cNvPr id="5" name="Rectangle 4"/>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6" name="Rectangle 5"/>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580292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a green triangle and a red line&#10;&#10;AI-generated content may be incorrect.">
            <a:extLst>
              <a:ext uri="{FF2B5EF4-FFF2-40B4-BE49-F238E27FC236}">
                <a16:creationId xmlns:a16="http://schemas.microsoft.com/office/drawing/2014/main" id="{864D9547-DD8E-C9E0-6A01-9E205120E943}"/>
              </a:ext>
            </a:extLst>
          </p:cNvPr>
          <p:cNvPicPr>
            <a:picLocks noChangeAspect="1"/>
          </p:cNvPicPr>
          <p:nvPr/>
        </p:nvPicPr>
        <p:blipFill>
          <a:blip r:embed="rId2"/>
          <a:stretch>
            <a:fillRect/>
          </a:stretch>
        </p:blipFill>
        <p:spPr>
          <a:xfrm>
            <a:off x="2209800" y="1485900"/>
            <a:ext cx="7772400" cy="3886200"/>
          </a:xfrm>
          <a:prstGeom prst="rect">
            <a:avLst/>
          </a:prstGeom>
        </p:spPr>
      </p:pic>
      <p:sp>
        <p:nvSpPr>
          <p:cNvPr id="4" name="Rectangle 3"/>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5" name="Rectangle 4"/>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939917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F5DC03F7-A815-4F46-FB59-3C7B451BDF58}"/>
              </a:ext>
            </a:extLst>
          </p:cNvPr>
          <p:cNvSpPr txBox="1">
            <a:spLocks/>
          </p:cNvSpPr>
          <p:nvPr/>
        </p:nvSpPr>
        <p:spPr>
          <a:xfrm>
            <a:off x="1712835" y="636797"/>
            <a:ext cx="8766329" cy="13710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sz="3600" b="1">
                <a:solidFill>
                  <a:srgbClr val="1DB954"/>
                </a:solidFill>
                <a:latin typeface="Montserrat"/>
              </a:defRPr>
            </a:pPr>
            <a:r>
              <a:rPr lang="en-US" dirty="0"/>
              <a:t>PHASE 1: DATA PROCESSING</a:t>
            </a:r>
          </a:p>
        </p:txBody>
      </p:sp>
      <p:sp>
        <p:nvSpPr>
          <p:cNvPr id="5" name="Content Placeholder 13">
            <a:extLst>
              <a:ext uri="{FF2B5EF4-FFF2-40B4-BE49-F238E27FC236}">
                <a16:creationId xmlns:a16="http://schemas.microsoft.com/office/drawing/2014/main" id="{84E4A33F-AC78-BE53-D493-592BDE33328E}"/>
              </a:ext>
            </a:extLst>
          </p:cNvPr>
          <p:cNvSpPr txBox="1">
            <a:spLocks/>
          </p:cNvSpPr>
          <p:nvPr/>
        </p:nvSpPr>
        <p:spPr>
          <a:xfrm>
            <a:off x="3185974" y="1322343"/>
            <a:ext cx="5820052" cy="45007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sz="2000" b="0">
                <a:solidFill>
                  <a:srgbClr val="FFFFFF"/>
                </a:solidFill>
                <a:latin typeface="Roboto"/>
              </a:defRPr>
            </a:pPr>
            <a:endParaRPr lang="en-US" dirty="0"/>
          </a:p>
        </p:txBody>
      </p:sp>
      <p:sp>
        <p:nvSpPr>
          <p:cNvPr id="7" name="Content Placeholder 13">
            <a:extLst>
              <a:ext uri="{FF2B5EF4-FFF2-40B4-BE49-F238E27FC236}">
                <a16:creationId xmlns:a16="http://schemas.microsoft.com/office/drawing/2014/main" id="{52E93255-0A75-1CE9-EF67-32AB8232805D}"/>
              </a:ext>
            </a:extLst>
          </p:cNvPr>
          <p:cNvSpPr txBox="1">
            <a:spLocks/>
          </p:cNvSpPr>
          <p:nvPr/>
        </p:nvSpPr>
        <p:spPr>
          <a:xfrm>
            <a:off x="3185974" y="1782702"/>
            <a:ext cx="5820052" cy="450079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sz="2000" b="0">
                <a:solidFill>
                  <a:srgbClr val="FFFFFF"/>
                </a:solidFill>
                <a:latin typeface="Roboto"/>
              </a:defRPr>
            </a:pPr>
            <a:r>
              <a:rPr lang="en-US" dirty="0"/>
              <a:t>Load MPD JSON Format</a:t>
            </a:r>
          </a:p>
          <a:p>
            <a:pPr marL="0" indent="0" algn="ctr">
              <a:buNone/>
              <a:defRPr sz="2000" b="0">
                <a:solidFill>
                  <a:srgbClr val="FFFFFF"/>
                </a:solidFill>
                <a:latin typeface="Roboto"/>
              </a:defRPr>
            </a:pPr>
            <a:r>
              <a:rPr lang="en-US" dirty="0"/>
              <a:t>     ↓</a:t>
            </a:r>
          </a:p>
          <a:p>
            <a:pPr marL="0" indent="0" algn="ctr">
              <a:buNone/>
              <a:defRPr sz="2000" b="0">
                <a:solidFill>
                  <a:srgbClr val="FFFFFF"/>
                </a:solidFill>
                <a:latin typeface="Roboto"/>
              </a:defRPr>
            </a:pPr>
            <a:r>
              <a:rPr lang="en-US" dirty="0"/>
              <a:t>Extract Track Features (URIs, artists, albums, genres)</a:t>
            </a:r>
          </a:p>
          <a:p>
            <a:pPr marL="0" indent="0" algn="ctr">
              <a:buNone/>
              <a:defRPr sz="2000" b="0">
                <a:solidFill>
                  <a:srgbClr val="FFFFFF"/>
                </a:solidFill>
                <a:latin typeface="Roboto"/>
              </a:defRPr>
            </a:pPr>
            <a:r>
              <a:rPr lang="en-US" dirty="0"/>
              <a:t>     ↓</a:t>
            </a:r>
          </a:p>
          <a:p>
            <a:pPr marL="0" indent="0" algn="ctr">
              <a:buNone/>
              <a:defRPr sz="2000" b="0">
                <a:solidFill>
                  <a:srgbClr val="FFFFFF"/>
                </a:solidFill>
                <a:latin typeface="Roboto"/>
              </a:defRPr>
            </a:pPr>
            <a:r>
              <a:rPr lang="en-US" dirty="0"/>
              <a:t>Build Co-occurrence Matrices &amp; Embeddings</a:t>
            </a:r>
          </a:p>
          <a:p>
            <a:pPr marL="0" indent="0" algn="ctr">
              <a:buNone/>
              <a:defRPr sz="2000" b="0">
                <a:solidFill>
                  <a:srgbClr val="FFFFFF"/>
                </a:solidFill>
                <a:latin typeface="Roboto"/>
              </a:defRPr>
            </a:pPr>
            <a:r>
              <a:rPr lang="en-US" dirty="0"/>
              <a:t>     ↓</a:t>
            </a:r>
          </a:p>
          <a:p>
            <a:pPr marL="0" indent="0" algn="ctr">
              <a:buNone/>
              <a:defRPr sz="2000" b="0">
                <a:solidFill>
                  <a:srgbClr val="FFFFFF"/>
                </a:solidFill>
                <a:latin typeface="Roboto"/>
              </a:defRPr>
            </a:pPr>
            <a:r>
              <a:rPr lang="en-US" dirty="0"/>
              <a:t>Create Playlist Vectors (66M track entries → structured data)</a:t>
            </a:r>
          </a:p>
          <a:p>
            <a:pPr marL="0" indent="0" algn="ctr">
              <a:buNone/>
              <a:defRPr sz="2000" b="0">
                <a:solidFill>
                  <a:srgbClr val="FFFFFF"/>
                </a:solidFill>
                <a:latin typeface="Roboto"/>
              </a:defRPr>
            </a:pPr>
            <a:r>
              <a:rPr lang="en-US" dirty="0"/>
              <a:t>     ↓</a:t>
            </a:r>
          </a:p>
          <a:p>
            <a:pPr marL="0" indent="0" algn="ctr">
              <a:buNone/>
              <a:defRPr sz="2000" b="0">
                <a:solidFill>
                  <a:srgbClr val="FFFFFF"/>
                </a:solidFill>
                <a:latin typeface="Roboto"/>
              </a:defRPr>
            </a:pPr>
            <a:r>
              <a:rPr lang="en-US" dirty="0"/>
              <a:t>Split into Train/Test Sets</a:t>
            </a:r>
          </a:p>
          <a:p>
            <a:pPr marL="0" indent="0" algn="ctr">
              <a:buNone/>
              <a:defRPr sz="2000" b="0">
                <a:solidFill>
                  <a:srgbClr val="FFFFFF"/>
                </a:solidFill>
                <a:latin typeface="Roboto"/>
              </a:defRPr>
            </a:pPr>
            <a:endParaRPr lang="en-US" dirty="0"/>
          </a:p>
          <a:p>
            <a:pPr marL="0" indent="0">
              <a:buNone/>
              <a:defRPr sz="2000" b="0">
                <a:solidFill>
                  <a:srgbClr val="FFFFFF"/>
                </a:solidFill>
                <a:latin typeface="Roboto"/>
              </a:defRPr>
            </a:pPr>
            <a:r>
              <a:rPr lang="en-US" dirty="0"/>
              <a:t>INFRASTRUCTURE:</a:t>
            </a:r>
          </a:p>
          <a:p>
            <a:pPr marL="0" indent="0">
              <a:buNone/>
              <a:defRPr sz="2000" b="0">
                <a:solidFill>
                  <a:srgbClr val="FFFFFF"/>
                </a:solidFill>
                <a:latin typeface="Roboto"/>
              </a:defRPr>
            </a:pPr>
            <a:r>
              <a:rPr lang="en-US" dirty="0"/>
              <a:t>✓ Local processing on M4 MacBook (32GB RAM)</a:t>
            </a:r>
          </a:p>
          <a:p>
            <a:pPr marL="0" indent="0">
              <a:buNone/>
              <a:defRPr sz="2000" b="0">
                <a:solidFill>
                  <a:srgbClr val="FFFFFF"/>
                </a:solidFill>
                <a:latin typeface="Roboto"/>
              </a:defRPr>
            </a:pPr>
            <a:r>
              <a:rPr lang="en-US" dirty="0"/>
              <a:t>✓ Optimized pandas operations for memory efficiency</a:t>
            </a:r>
          </a:p>
          <a:p>
            <a:pPr marL="0" indent="0">
              <a:buNone/>
              <a:defRPr sz="2000" b="0">
                <a:solidFill>
                  <a:srgbClr val="FFFFFF"/>
                </a:solidFill>
                <a:latin typeface="Roboto"/>
              </a:defRPr>
            </a:pPr>
            <a:r>
              <a:rPr lang="en-US" dirty="0"/>
              <a:t>✓ Parquet format for fast I/O</a:t>
            </a:r>
          </a:p>
        </p:txBody>
      </p:sp>
      <p:sp>
        <p:nvSpPr>
          <p:cNvPr id="8" name="Rectangle 7"/>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9" name="Rectangle 8"/>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28309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40CB8-67F3-F881-3141-80E2F10C7A90}"/>
              </a:ext>
            </a:extLst>
          </p:cNvPr>
          <p:cNvSpPr>
            <a:spLocks noGrp="1"/>
          </p:cNvSpPr>
          <p:nvPr>
            <p:ph type="title"/>
          </p:nvPr>
        </p:nvSpPr>
        <p:spPr>
          <a:xfrm>
            <a:off x="0" y="365125"/>
            <a:ext cx="12192000" cy="1325563"/>
          </a:xfrm>
        </p:spPr>
        <p:txBody>
          <a:bodyPr anchor="ctr"/>
          <a:lstStyle/>
          <a:p>
            <a:pPr algn="ctr">
              <a:defRPr sz="3600" b="1">
                <a:solidFill>
                  <a:srgbClr val="1DB954"/>
                </a:solidFill>
                <a:latin typeface="Montserrat"/>
              </a:defRPr>
            </a:pPr>
            <a:r>
              <a:rPr lang="en-US" dirty="0"/>
              <a:t>METHODOLOGY - PATTERN MINING &amp; CLUSTERING</a:t>
            </a:r>
          </a:p>
        </p:txBody>
      </p:sp>
      <p:sp>
        <p:nvSpPr>
          <p:cNvPr id="3" name="Text Placeholder 2">
            <a:extLst>
              <a:ext uri="{FF2B5EF4-FFF2-40B4-BE49-F238E27FC236}">
                <a16:creationId xmlns:a16="http://schemas.microsoft.com/office/drawing/2014/main" id="{E1F07DB5-7E31-F816-673B-A9A2D8736CEF}"/>
              </a:ext>
            </a:extLst>
          </p:cNvPr>
          <p:cNvSpPr>
            <a:spLocks noGrp="1"/>
          </p:cNvSpPr>
          <p:nvPr>
            <p:ph type="body" idx="1"/>
          </p:nvPr>
        </p:nvSpPr>
        <p:spPr>
          <a:xfrm>
            <a:off x="0" y="1681163"/>
            <a:ext cx="5997575" cy="823912"/>
          </a:xfrm>
        </p:spPr>
        <p:txBody>
          <a:bodyPr anchor="ctr"/>
          <a:lstStyle/>
          <a:p>
            <a:pPr algn="ctr">
              <a:defRPr sz="2000" b="0">
                <a:solidFill>
                  <a:srgbClr val="FFFFFF"/>
                </a:solidFill>
                <a:latin typeface="Roboto"/>
              </a:defRPr>
            </a:pPr>
            <a:r>
              <a:rPr lang="en-US" dirty="0"/>
              <a:t>PHASE 2A: ASSOCIATION RULE MINING</a:t>
            </a:r>
          </a:p>
        </p:txBody>
      </p:sp>
      <p:sp>
        <p:nvSpPr>
          <p:cNvPr id="4" name="Content Placeholder 3">
            <a:extLst>
              <a:ext uri="{FF2B5EF4-FFF2-40B4-BE49-F238E27FC236}">
                <a16:creationId xmlns:a16="http://schemas.microsoft.com/office/drawing/2014/main" id="{64C30071-E470-9983-1E1D-C34672FC4248}"/>
              </a:ext>
            </a:extLst>
          </p:cNvPr>
          <p:cNvSpPr>
            <a:spLocks noGrp="1"/>
          </p:cNvSpPr>
          <p:nvPr>
            <p:ph sz="half" idx="2"/>
          </p:nvPr>
        </p:nvSpPr>
        <p:spPr>
          <a:xfrm>
            <a:off x="22226" y="2505075"/>
            <a:ext cx="5975349" cy="3684588"/>
          </a:xfrm>
        </p:spPr>
        <p:txBody>
          <a:bodyPr anchor="t">
            <a:normAutofit fontScale="85000" lnSpcReduction="20000"/>
          </a:bodyPr>
          <a:lstStyle/>
          <a:p>
            <a:pPr marL="0" indent="0">
              <a:buNone/>
              <a:defRPr sz="2000" b="0">
                <a:solidFill>
                  <a:srgbClr val="FFFFFF"/>
                </a:solidFill>
                <a:latin typeface="Roboto"/>
              </a:defRPr>
            </a:pPr>
            <a:r>
              <a:rPr lang="en-US" dirty="0"/>
              <a:t>Algorithm: FP-Growth (Fast Pattern Growth) </a:t>
            </a:r>
          </a:p>
          <a:p>
            <a:pPr marL="0" indent="0">
              <a:buNone/>
              <a:defRPr sz="2000" b="0">
                <a:solidFill>
                  <a:srgbClr val="FFFFFF"/>
                </a:solidFill>
                <a:latin typeface="Roboto"/>
              </a:defRPr>
            </a:pPr>
            <a:r>
              <a:rPr lang="en-US" dirty="0"/>
              <a:t>Input: 1M playlists as transactions</a:t>
            </a:r>
          </a:p>
          <a:p>
            <a:pPr marL="0" indent="0">
              <a:buNone/>
              <a:defRPr sz="2000" b="0">
                <a:solidFill>
                  <a:srgbClr val="FFFFFF"/>
                </a:solidFill>
                <a:latin typeface="Roboto"/>
              </a:defRPr>
            </a:pPr>
            <a:r>
              <a:rPr lang="en-US" dirty="0"/>
              <a:t>Output: Association rules {Song A} → {Song B} </a:t>
            </a:r>
          </a:p>
          <a:p>
            <a:pPr marL="0" indent="0">
              <a:buNone/>
              <a:defRPr sz="2000" b="0">
                <a:solidFill>
                  <a:srgbClr val="FFFFFF"/>
                </a:solidFill>
                <a:latin typeface="Roboto"/>
              </a:defRPr>
            </a:pPr>
            <a:r>
              <a:rPr lang="en-US" dirty="0"/>
              <a:t>Metrics Generated:</a:t>
            </a:r>
          </a:p>
          <a:p>
            <a:pPr>
              <a:defRPr sz="2000" b="0">
                <a:solidFill>
                  <a:srgbClr val="FFFFFF"/>
                </a:solidFill>
                <a:latin typeface="Roboto"/>
              </a:defRPr>
            </a:pPr>
            <a:r>
              <a:rPr lang="en-US" dirty="0"/>
              <a:t>Support: In how many playlists do A and B co-occur?</a:t>
            </a:r>
          </a:p>
          <a:p>
            <a:pPr>
              <a:defRPr sz="2000" b="0">
                <a:solidFill>
                  <a:srgbClr val="FFFFFF"/>
                </a:solidFill>
                <a:latin typeface="Roboto"/>
              </a:defRPr>
            </a:pPr>
            <a:r>
              <a:rPr lang="en-US" dirty="0"/>
              <a:t>Confidence: If A appears, how likely is B?</a:t>
            </a:r>
          </a:p>
          <a:p>
            <a:pPr>
              <a:defRPr sz="2000" b="0">
                <a:solidFill>
                  <a:srgbClr val="FFFFFF"/>
                </a:solidFill>
                <a:latin typeface="Roboto"/>
              </a:defRPr>
            </a:pPr>
            <a:r>
              <a:rPr lang="en-US" dirty="0"/>
              <a:t>Lift: How much more likely than random chance?</a:t>
            </a:r>
          </a:p>
        </p:txBody>
      </p:sp>
      <p:sp>
        <p:nvSpPr>
          <p:cNvPr id="5" name="Text Placeholder 4">
            <a:extLst>
              <a:ext uri="{FF2B5EF4-FFF2-40B4-BE49-F238E27FC236}">
                <a16:creationId xmlns:a16="http://schemas.microsoft.com/office/drawing/2014/main" id="{A6DB997B-BBED-3882-F91D-911513692320}"/>
              </a:ext>
            </a:extLst>
          </p:cNvPr>
          <p:cNvSpPr>
            <a:spLocks noGrp="1"/>
          </p:cNvSpPr>
          <p:nvPr>
            <p:ph type="body" sz="quarter" idx="3"/>
          </p:nvPr>
        </p:nvSpPr>
        <p:spPr>
          <a:xfrm>
            <a:off x="6172200" y="1681163"/>
            <a:ext cx="5997574" cy="823912"/>
          </a:xfrm>
        </p:spPr>
        <p:txBody>
          <a:bodyPr anchor="ctr"/>
          <a:lstStyle/>
          <a:p>
            <a:pPr algn="ctr">
              <a:defRPr sz="2000" b="0">
                <a:solidFill>
                  <a:srgbClr val="FFFFFF"/>
                </a:solidFill>
                <a:latin typeface="Roboto"/>
              </a:defRPr>
            </a:pPr>
            <a:r>
              <a:rPr lang="en-US" dirty="0"/>
              <a:t>PHASE 2B: CLUSTERING </a:t>
            </a:r>
          </a:p>
        </p:txBody>
      </p:sp>
      <p:sp>
        <p:nvSpPr>
          <p:cNvPr id="6" name="Content Placeholder 5">
            <a:extLst>
              <a:ext uri="{FF2B5EF4-FFF2-40B4-BE49-F238E27FC236}">
                <a16:creationId xmlns:a16="http://schemas.microsoft.com/office/drawing/2014/main" id="{4D489D86-35A3-7FBD-D04E-EC7185C6D727}"/>
              </a:ext>
            </a:extLst>
          </p:cNvPr>
          <p:cNvSpPr>
            <a:spLocks noGrp="1"/>
          </p:cNvSpPr>
          <p:nvPr>
            <p:ph sz="quarter" idx="4"/>
          </p:nvPr>
        </p:nvSpPr>
        <p:spPr>
          <a:xfrm>
            <a:off x="6172199" y="2505075"/>
            <a:ext cx="5997573" cy="3684588"/>
          </a:xfrm>
        </p:spPr>
        <p:txBody>
          <a:bodyPr anchor="t">
            <a:normAutofit fontScale="85000" lnSpcReduction="20000"/>
          </a:bodyPr>
          <a:lstStyle/>
          <a:p>
            <a:pPr marL="0" indent="0">
              <a:buNone/>
              <a:defRPr sz="2000" b="0">
                <a:solidFill>
                  <a:srgbClr val="FFFFFF"/>
                </a:solidFill>
                <a:latin typeface="Roboto"/>
              </a:defRPr>
            </a:pPr>
            <a:r>
              <a:rPr lang="en-US" dirty="0"/>
              <a:t>Algorithm: K-Means on Track Features</a:t>
            </a:r>
          </a:p>
          <a:p>
            <a:pPr marL="0" indent="0">
              <a:buNone/>
              <a:defRPr sz="2000" b="0">
                <a:solidFill>
                  <a:srgbClr val="FFFFFF"/>
                </a:solidFill>
                <a:latin typeface="Roboto"/>
              </a:defRPr>
            </a:pPr>
            <a:r>
              <a:rPr lang="en-US" dirty="0"/>
              <a:t>Input: Playlist embeddings </a:t>
            </a:r>
          </a:p>
          <a:p>
            <a:pPr marL="0" indent="0">
              <a:buNone/>
              <a:defRPr sz="2000" b="0">
                <a:solidFill>
                  <a:srgbClr val="FFFFFF"/>
                </a:solidFill>
                <a:latin typeface="Roboto"/>
              </a:defRPr>
            </a:pPr>
            <a:r>
              <a:rPr lang="en-US" dirty="0"/>
              <a:t>Output: 5 distinct cluster groups</a:t>
            </a:r>
          </a:p>
          <a:p>
            <a:pPr marL="0" indent="0">
              <a:buNone/>
              <a:defRPr sz="2000" b="0">
                <a:solidFill>
                  <a:srgbClr val="FFFFFF"/>
                </a:solidFill>
                <a:latin typeface="Roboto"/>
              </a:defRPr>
            </a:pPr>
            <a:r>
              <a:rPr lang="en-US" dirty="0"/>
              <a:t>Purpose: Group similar playlists together </a:t>
            </a:r>
          </a:p>
          <a:p>
            <a:pPr marL="0" indent="0">
              <a:buNone/>
              <a:defRPr sz="2000" b="0">
                <a:solidFill>
                  <a:srgbClr val="FFFFFF"/>
                </a:solidFill>
                <a:latin typeface="Roboto"/>
              </a:defRPr>
            </a:pPr>
            <a:r>
              <a:rPr lang="en-US" dirty="0"/>
              <a:t>Result: Each cluster represents a playlist "type"</a:t>
            </a:r>
          </a:p>
        </p:txBody>
      </p:sp>
      <p:sp>
        <p:nvSpPr>
          <p:cNvPr id="7" name="Rectangle 6"/>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8" name="Rectangle 7"/>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714109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FBC2E-D635-C3E6-C9E6-372B3B2F758B}"/>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E3549201-4E93-9FBC-5239-B37B348FC1A9}"/>
              </a:ext>
            </a:extLst>
          </p:cNvPr>
          <p:cNvSpPr txBox="1">
            <a:spLocks/>
          </p:cNvSpPr>
          <p:nvPr/>
        </p:nvSpPr>
        <p:spPr>
          <a:xfrm>
            <a:off x="0" y="636797"/>
            <a:ext cx="12191999" cy="13710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sz="3600" b="1">
                <a:solidFill>
                  <a:srgbClr val="1DB954"/>
                </a:solidFill>
                <a:latin typeface="Montserrat"/>
              </a:defRPr>
            </a:pPr>
            <a:r>
              <a:rPr lang="en-US" dirty="0"/>
              <a:t>PHASE 3: BUILD &amp; TEST FOUR MODELS </a:t>
            </a:r>
          </a:p>
        </p:txBody>
      </p:sp>
      <p:sp>
        <p:nvSpPr>
          <p:cNvPr id="5" name="Content Placeholder 13">
            <a:extLst>
              <a:ext uri="{FF2B5EF4-FFF2-40B4-BE49-F238E27FC236}">
                <a16:creationId xmlns:a16="http://schemas.microsoft.com/office/drawing/2014/main" id="{D712E7E9-E8E9-D9BD-5DFA-E74CD59101DD}"/>
              </a:ext>
            </a:extLst>
          </p:cNvPr>
          <p:cNvSpPr txBox="1">
            <a:spLocks/>
          </p:cNvSpPr>
          <p:nvPr/>
        </p:nvSpPr>
        <p:spPr>
          <a:xfrm>
            <a:off x="3185974" y="1322343"/>
            <a:ext cx="5820052" cy="45007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sz="2000" b="0">
                <a:solidFill>
                  <a:srgbClr val="FFFFFF"/>
                </a:solidFill>
                <a:latin typeface="Roboto"/>
              </a:defRPr>
            </a:pPr>
            <a:endParaRPr lang="en-US" dirty="0"/>
          </a:p>
        </p:txBody>
      </p:sp>
      <p:sp>
        <p:nvSpPr>
          <p:cNvPr id="7" name="Content Placeholder 13">
            <a:extLst>
              <a:ext uri="{FF2B5EF4-FFF2-40B4-BE49-F238E27FC236}">
                <a16:creationId xmlns:a16="http://schemas.microsoft.com/office/drawing/2014/main" id="{5D90C1BE-30C7-446A-6AAB-B894981020FC}"/>
              </a:ext>
            </a:extLst>
          </p:cNvPr>
          <p:cNvSpPr txBox="1">
            <a:spLocks/>
          </p:cNvSpPr>
          <p:nvPr/>
        </p:nvSpPr>
        <p:spPr>
          <a:xfrm>
            <a:off x="3185973" y="2007889"/>
            <a:ext cx="5820052" cy="450079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sz="2200" b="0">
                <a:solidFill>
                  <a:srgbClr val="FFFFFF"/>
                </a:solidFill>
                <a:latin typeface="Roboto"/>
              </a:defRPr>
            </a:pPr>
            <a:r>
              <a:t>1️⃣ POPULARITY BASELINE</a:t>
            </a:r>
          </a:p>
          <a:p>
            <a:pPr>
              <a:defRPr sz="2200" b="0">
                <a:solidFill>
                  <a:srgbClr val="FFFFFF"/>
                </a:solidFill>
                <a:latin typeface="Roboto"/>
              </a:defRPr>
            </a:pPr>
            <a:r>
              <a:t>   Recommendation: Most-played global songs</a:t>
            </a:r>
          </a:p>
          <a:p>
            <a:pPr>
              <a:defRPr sz="2200" b="0">
                <a:solidFill>
                  <a:srgbClr val="FFFFFF"/>
                </a:solidFill>
                <a:latin typeface="Roboto"/>
              </a:defRPr>
            </a:pPr>
            <a:r>
              <a:t>   Reasoning: If many people like it, probably you will too</a:t>
            </a:r>
          </a:p>
          <a:p>
            <a:pPr>
              <a:defRPr sz="2200" b="0">
                <a:solidFill>
                  <a:srgbClr val="FFFFFF"/>
                </a:solidFill>
                <a:latin typeface="Roboto"/>
              </a:defRPr>
            </a:pPr>
            <a:r>
              <a:t>...</a:t>
            </a:r>
          </a:p>
        </p:txBody>
      </p:sp>
      <p:sp>
        <p:nvSpPr>
          <p:cNvPr id="8" name="Rectangle 7"/>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9" name="Rectangle 8"/>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22380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32E85-789E-8A87-CA4A-7586FA515458}"/>
              </a:ext>
            </a:extLst>
          </p:cNvPr>
          <p:cNvSpPr>
            <a:spLocks noGrp="1"/>
          </p:cNvSpPr>
          <p:nvPr>
            <p:ph type="title"/>
          </p:nvPr>
        </p:nvSpPr>
        <p:spPr>
          <a:xfrm>
            <a:off x="838200" y="365125"/>
            <a:ext cx="10515600" cy="1325563"/>
          </a:xfrm>
        </p:spPr>
        <p:txBody>
          <a:bodyPr anchor="ctr"/>
          <a:lstStyle/>
          <a:p>
            <a:pPr algn="ctr">
              <a:defRPr sz="3600" b="1">
                <a:solidFill>
                  <a:srgbClr val="1DB954"/>
                </a:solidFill>
                <a:latin typeface="Montserrat"/>
              </a:defRPr>
            </a:pPr>
            <a:r>
              <a:rPr lang="en-US" dirty="0"/>
              <a:t>ASSOCIATION RULE MINING RESULTS</a:t>
            </a:r>
          </a:p>
        </p:txBody>
      </p:sp>
      <p:sp>
        <p:nvSpPr>
          <p:cNvPr id="3" name="Content Placeholder 2">
            <a:extLst>
              <a:ext uri="{FF2B5EF4-FFF2-40B4-BE49-F238E27FC236}">
                <a16:creationId xmlns:a16="http://schemas.microsoft.com/office/drawing/2014/main" id="{1E22174B-FD6F-92DE-9091-081EACE1D465}"/>
              </a:ext>
            </a:extLst>
          </p:cNvPr>
          <p:cNvSpPr>
            <a:spLocks noGrp="1"/>
          </p:cNvSpPr>
          <p:nvPr>
            <p:ph idx="1"/>
          </p:nvPr>
        </p:nvSpPr>
        <p:spPr>
          <a:xfrm>
            <a:off x="838200" y="1825625"/>
            <a:ext cx="10515600" cy="4351338"/>
          </a:xfrm>
        </p:spPr>
        <p:txBody>
          <a:bodyPr anchor="ctr">
            <a:normAutofit fontScale="55000" lnSpcReduction="20000"/>
          </a:bodyPr>
          <a:lstStyle/>
          <a:p>
            <a:pPr>
              <a:defRPr sz="2200" b="0">
                <a:solidFill>
                  <a:srgbClr val="FFFFFF"/>
                </a:solidFill>
                <a:latin typeface="Roboto"/>
              </a:defRPr>
            </a:pPr>
            <a:r>
              <a:t>Total Rules Generated: 10,000</a:t>
            </a:r>
          </a:p>
          <a:p>
            <a:pPr>
              <a:defRPr sz="2200" b="0">
                <a:solidFill>
                  <a:srgbClr val="FFFFFF"/>
                </a:solidFill>
                <a:latin typeface="Roboto"/>
              </a:defRPr>
            </a:pPr>
            <a:r>
              <a:t>─ High Confidence (&gt;80%): 9,999 rules ✓</a:t>
            </a:r>
          </a:p>
          <a:p>
            <a:pPr>
              <a:defRPr sz="2200" b="0">
                <a:solidFill>
                  <a:srgbClr val="FFFFFF"/>
                </a:solidFill>
                <a:latin typeface="Roboto"/>
              </a:defRPr>
            </a:pPr>
            <a:r>
              <a:t>─ High Lift (&gt;2.0): 10,000 rules ✓</a:t>
            </a:r>
          </a:p>
          <a:p>
            <a:pPr>
              <a:defRPr sz="2200" b="0">
                <a:solidFill>
                  <a:srgbClr val="FFFFFF"/>
                </a:solidFill>
                <a:latin typeface="Roboto"/>
              </a:defRPr>
            </a:pPr>
            <a:r>
              <a:t>...</a:t>
            </a:r>
          </a:p>
        </p:txBody>
      </p:sp>
      <p:sp>
        <p:nvSpPr>
          <p:cNvPr id="4" name="Rectangle 3"/>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5" name="Rectangle 4"/>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441619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graph&#10;&#10;AI-generated content may be incorrect.">
            <a:extLst>
              <a:ext uri="{FF2B5EF4-FFF2-40B4-BE49-F238E27FC236}">
                <a16:creationId xmlns:a16="http://schemas.microsoft.com/office/drawing/2014/main" id="{6031D300-116C-6690-3197-270B64C11CAA}"/>
              </a:ext>
            </a:extLst>
          </p:cNvPr>
          <p:cNvPicPr>
            <a:picLocks noChangeAspect="1"/>
          </p:cNvPicPr>
          <p:nvPr/>
        </p:nvPicPr>
        <p:blipFill>
          <a:blip r:embed="rId3"/>
          <a:stretch>
            <a:fillRect/>
          </a:stretch>
        </p:blipFill>
        <p:spPr>
          <a:xfrm>
            <a:off x="2209800" y="609064"/>
            <a:ext cx="7772400" cy="5639872"/>
          </a:xfrm>
          <a:prstGeom prst="rect">
            <a:avLst/>
          </a:prstGeom>
        </p:spPr>
      </p:pic>
      <p:sp>
        <p:nvSpPr>
          <p:cNvPr id="4" name="Rectangle 3"/>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5" name="Rectangle 4"/>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796489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green lines&#10;&#10;AI-generated content may be incorrect.">
            <a:extLst>
              <a:ext uri="{FF2B5EF4-FFF2-40B4-BE49-F238E27FC236}">
                <a16:creationId xmlns:a16="http://schemas.microsoft.com/office/drawing/2014/main" id="{CA7BD9D0-A3BB-24E1-2D27-F4E72765C9FC}"/>
              </a:ext>
            </a:extLst>
          </p:cNvPr>
          <p:cNvPicPr>
            <a:picLocks noChangeAspect="1"/>
          </p:cNvPicPr>
          <p:nvPr/>
        </p:nvPicPr>
        <p:blipFill>
          <a:blip r:embed="rId3"/>
          <a:stretch>
            <a:fillRect/>
          </a:stretch>
        </p:blipFill>
        <p:spPr>
          <a:xfrm>
            <a:off x="2209800" y="1208315"/>
            <a:ext cx="7772400" cy="4441371"/>
          </a:xfrm>
          <a:prstGeom prst="rect">
            <a:avLst/>
          </a:prstGeom>
        </p:spPr>
      </p:pic>
      <p:sp>
        <p:nvSpPr>
          <p:cNvPr id="4" name="Rectangle 3"/>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5" name="Rectangle 4"/>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55595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C9CCF-29E7-B8F7-0F50-E298BFDA2B26}"/>
            </a:ext>
          </a:extLst>
        </p:cNvPr>
        <p:cNvGrpSpPr/>
        <p:nvPr/>
      </p:nvGrpSpPr>
      <p:grpSpPr>
        <a:xfrm>
          <a:off x="0" y="0"/>
          <a:ext cx="0" cy="0"/>
          <a:chOff x="0" y="0"/>
          <a:chExt cx="0" cy="0"/>
        </a:xfrm>
      </p:grpSpPr>
      <p:sp>
        <p:nvSpPr>
          <p:cNvPr id="16" name="Title 12">
            <a:extLst>
              <a:ext uri="{FF2B5EF4-FFF2-40B4-BE49-F238E27FC236}">
                <a16:creationId xmlns:a16="http://schemas.microsoft.com/office/drawing/2014/main" id="{9C08C7CB-6ABC-8D59-214A-BB1DE7377EED}"/>
              </a:ext>
            </a:extLst>
          </p:cNvPr>
          <p:cNvSpPr>
            <a:spLocks noGrp="1"/>
          </p:cNvSpPr>
          <p:nvPr>
            <p:ph type="title"/>
          </p:nvPr>
        </p:nvSpPr>
        <p:spPr>
          <a:xfrm>
            <a:off x="273728" y="426129"/>
            <a:ext cx="5820052" cy="1371092"/>
          </a:xfrm>
        </p:spPr>
        <p:txBody>
          <a:bodyPr/>
          <a:lstStyle/>
          <a:p>
            <a:pPr algn="ctr">
              <a:defRPr sz="3600" b="1">
                <a:solidFill>
                  <a:srgbClr val="1DB954"/>
                </a:solidFill>
                <a:latin typeface="Montserrat"/>
              </a:defRPr>
            </a:pPr>
            <a:r>
              <a:rPr lang="en-US" dirty="0"/>
              <a:t>CLUSTERING RESULTS</a:t>
            </a:r>
          </a:p>
        </p:txBody>
      </p:sp>
      <p:sp>
        <p:nvSpPr>
          <p:cNvPr id="17" name="Content Placeholder 13">
            <a:extLst>
              <a:ext uri="{FF2B5EF4-FFF2-40B4-BE49-F238E27FC236}">
                <a16:creationId xmlns:a16="http://schemas.microsoft.com/office/drawing/2014/main" id="{1C209AB8-2CD3-E18A-027B-632D0DCA046F}"/>
              </a:ext>
            </a:extLst>
          </p:cNvPr>
          <p:cNvSpPr txBox="1">
            <a:spLocks/>
          </p:cNvSpPr>
          <p:nvPr/>
        </p:nvSpPr>
        <p:spPr>
          <a:xfrm>
            <a:off x="273728" y="1782702"/>
            <a:ext cx="5820052" cy="450079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sz="2000" b="0">
                <a:solidFill>
                  <a:srgbClr val="FFFFFF"/>
                </a:solidFill>
                <a:latin typeface="Roboto"/>
              </a:defRPr>
            </a:pPr>
            <a:r>
              <a:rPr lang="en-US" dirty="0"/>
              <a:t>✓ Number of Clusters: 5</a:t>
            </a:r>
          </a:p>
          <a:p>
            <a:pPr marL="0" indent="0">
              <a:buNone/>
              <a:defRPr sz="2000" b="0">
                <a:solidFill>
                  <a:srgbClr val="FFFFFF"/>
                </a:solidFill>
                <a:latin typeface="Roboto"/>
              </a:defRPr>
            </a:pPr>
            <a:r>
              <a:rPr lang="en-US" dirty="0"/>
              <a:t>✓ Each cluster represents a distinct playlist type</a:t>
            </a:r>
          </a:p>
          <a:p>
            <a:pPr marL="0" indent="0">
              <a:buNone/>
              <a:defRPr sz="2000" b="0">
                <a:solidFill>
                  <a:srgbClr val="FFFFFF"/>
                </a:solidFill>
                <a:latin typeface="Roboto"/>
              </a:defRPr>
            </a:pPr>
            <a:r>
              <a:rPr lang="en-US" dirty="0"/>
              <a:t>✓ Found automatically without genre labels!</a:t>
            </a:r>
          </a:p>
          <a:p>
            <a:pPr marL="0" indent="0">
              <a:buNone/>
              <a:defRPr sz="2000" b="0">
                <a:solidFill>
                  <a:srgbClr val="FFFFFF"/>
                </a:solidFill>
                <a:latin typeface="Roboto"/>
              </a:defRPr>
            </a:pPr>
            <a:endParaRPr lang="en-US" dirty="0"/>
          </a:p>
          <a:p>
            <a:pPr marL="0" indent="0">
              <a:buNone/>
              <a:defRPr sz="2000" b="0">
                <a:solidFill>
                  <a:srgbClr val="FFFFFF"/>
                </a:solidFill>
                <a:latin typeface="Roboto"/>
              </a:defRPr>
            </a:pPr>
            <a:r>
              <a:rPr lang="en-US" dirty="0"/>
              <a:t>Users naturally gravitate toward 5 different playlist styles</a:t>
            </a:r>
          </a:p>
          <a:p>
            <a:pPr marL="0" indent="0">
              <a:buNone/>
              <a:defRPr sz="2000" b="0">
                <a:solidFill>
                  <a:srgbClr val="FFFFFF"/>
                </a:solidFill>
                <a:latin typeface="Roboto"/>
              </a:defRPr>
            </a:pPr>
            <a:r>
              <a:rPr lang="en-US" dirty="0"/>
              <a:t>  </a:t>
            </a:r>
          </a:p>
          <a:p>
            <a:pPr marL="0" indent="0">
              <a:buNone/>
              <a:defRPr sz="2000" b="0">
                <a:solidFill>
                  <a:srgbClr val="FFFFFF"/>
                </a:solidFill>
                <a:latin typeface="Roboto"/>
              </a:defRPr>
            </a:pPr>
            <a:r>
              <a:rPr lang="en-US" dirty="0"/>
              <a:t>INSIGHT:</a:t>
            </a:r>
          </a:p>
          <a:p>
            <a:pPr marL="0" indent="0">
              <a:buNone/>
              <a:defRPr sz="2000" b="0">
                <a:solidFill>
                  <a:srgbClr val="FFFFFF"/>
                </a:solidFill>
                <a:latin typeface="Roboto"/>
              </a:defRPr>
            </a:pPr>
            <a:r>
              <a:rPr lang="en-US" dirty="0"/>
              <a:t>🎯 One-size-fits-all recommendations won't work</a:t>
            </a:r>
          </a:p>
          <a:p>
            <a:pPr marL="0" indent="0">
              <a:buNone/>
              <a:defRPr sz="2000" b="0">
                <a:solidFill>
                  <a:srgbClr val="FFFFFF"/>
                </a:solidFill>
                <a:latin typeface="Roboto"/>
              </a:defRPr>
            </a:pPr>
            <a:r>
              <a:rPr lang="en-US" dirty="0"/>
              <a:t>🎯 Different users need different strategies</a:t>
            </a:r>
          </a:p>
        </p:txBody>
      </p:sp>
      <p:pic>
        <p:nvPicPr>
          <p:cNvPr id="5" name="Content Placeholder 4" descr="A graph of different colored lines&#10;&#10;AI-generated content may be incorrect.">
            <a:extLst>
              <a:ext uri="{FF2B5EF4-FFF2-40B4-BE49-F238E27FC236}">
                <a16:creationId xmlns:a16="http://schemas.microsoft.com/office/drawing/2014/main" id="{81E93134-9948-91CC-A722-4BDCA3C7E064}"/>
              </a:ext>
            </a:extLst>
          </p:cNvPr>
          <p:cNvPicPr>
            <a:picLocks noGrp="1" noChangeAspect="1"/>
          </p:cNvPicPr>
          <p:nvPr>
            <p:ph sz="half" idx="1"/>
          </p:nvPr>
        </p:nvPicPr>
        <p:blipFill>
          <a:blip r:embed="rId3"/>
          <a:stretch>
            <a:fillRect/>
          </a:stretch>
        </p:blipFill>
        <p:spPr>
          <a:xfrm>
            <a:off x="6647894" y="1763486"/>
            <a:ext cx="5181600" cy="3331028"/>
          </a:xfrm>
        </p:spPr>
      </p:pic>
      <p:sp>
        <p:nvSpPr>
          <p:cNvPr id="18" name="Rectangle 17"/>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19" name="Rectangle 18"/>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010541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different colored lines&#10;&#10;AI-generated content may be incorrect.">
            <a:extLst>
              <a:ext uri="{FF2B5EF4-FFF2-40B4-BE49-F238E27FC236}">
                <a16:creationId xmlns:a16="http://schemas.microsoft.com/office/drawing/2014/main" id="{5E423A97-B3B9-51E9-7421-B53593FACF88}"/>
              </a:ext>
            </a:extLst>
          </p:cNvPr>
          <p:cNvPicPr>
            <a:picLocks noChangeAspect="1"/>
          </p:cNvPicPr>
          <p:nvPr/>
        </p:nvPicPr>
        <p:blipFill>
          <a:blip r:embed="rId2"/>
          <a:stretch>
            <a:fillRect/>
          </a:stretch>
        </p:blipFill>
        <p:spPr>
          <a:xfrm>
            <a:off x="2209800" y="930729"/>
            <a:ext cx="7772400" cy="4996542"/>
          </a:xfrm>
          <a:prstGeom prst="rect">
            <a:avLst/>
          </a:prstGeom>
        </p:spPr>
      </p:pic>
      <p:sp>
        <p:nvSpPr>
          <p:cNvPr id="5" name="Rectangle 4"/>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6" name="Rectangle 5"/>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133329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2DF4C-1074-B5D1-1361-4D50C9099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7EFF5-8B2C-0179-BA15-020325C978EA}"/>
              </a:ext>
            </a:extLst>
          </p:cNvPr>
          <p:cNvSpPr>
            <a:spLocks noGrp="1"/>
          </p:cNvSpPr>
          <p:nvPr>
            <p:ph type="title"/>
          </p:nvPr>
        </p:nvSpPr>
        <p:spPr>
          <a:xfrm>
            <a:off x="0" y="365125"/>
            <a:ext cx="12192000" cy="1325563"/>
          </a:xfrm>
        </p:spPr>
        <p:txBody>
          <a:bodyPr anchor="ctr"/>
          <a:lstStyle/>
          <a:p>
            <a:pPr algn="ctr">
              <a:defRPr sz="3600" b="1">
                <a:solidFill>
                  <a:srgbClr val="1DB954"/>
                </a:solidFill>
                <a:latin typeface="Montserrat"/>
              </a:defRPr>
            </a:pPr>
            <a:r>
              <a:rPr lang="en-US" dirty="0"/>
              <a:t>HOW CLUSTERING IMPROVES RECOMMENDATIONS</a:t>
            </a:r>
          </a:p>
        </p:txBody>
      </p:sp>
      <p:sp>
        <p:nvSpPr>
          <p:cNvPr id="3" name="Content Placeholder 2">
            <a:extLst>
              <a:ext uri="{FF2B5EF4-FFF2-40B4-BE49-F238E27FC236}">
                <a16:creationId xmlns:a16="http://schemas.microsoft.com/office/drawing/2014/main" id="{BD1063F6-3BFE-249A-70DA-1138AD441CBD}"/>
              </a:ext>
            </a:extLst>
          </p:cNvPr>
          <p:cNvSpPr>
            <a:spLocks noGrp="1"/>
          </p:cNvSpPr>
          <p:nvPr>
            <p:ph idx="1"/>
          </p:nvPr>
        </p:nvSpPr>
        <p:spPr>
          <a:xfrm>
            <a:off x="-1" y="1825625"/>
            <a:ext cx="12191999" cy="4351338"/>
          </a:xfrm>
        </p:spPr>
        <p:txBody>
          <a:bodyPr anchor="ctr">
            <a:normAutofit fontScale="92500" lnSpcReduction="10000"/>
          </a:bodyPr>
          <a:lstStyle/>
          <a:p>
            <a:pPr>
              <a:defRPr sz="2200" b="0">
                <a:solidFill>
                  <a:srgbClr val="FFFFFF"/>
                </a:solidFill>
                <a:latin typeface="Roboto"/>
              </a:defRPr>
            </a:pPr>
            <a:r>
              <a:t>1️⃣ IDENTIFY CLUSTER</a:t>
            </a:r>
          </a:p>
          <a:p>
            <a:pPr>
              <a:defRPr sz="2200" b="0">
                <a:solidFill>
                  <a:srgbClr val="FFFFFF"/>
                </a:solidFill>
                <a:latin typeface="Roboto"/>
              </a:defRPr>
            </a:pPr>
            <a:r>
              <a:t>   Analyze the input playlist → Which cluster does it belong to?</a:t>
            </a:r>
          </a:p>
          <a:p>
            <a:pPr>
              <a:defRPr sz="2200" b="0">
                <a:solidFill>
                  <a:srgbClr val="FFFFFF"/>
                </a:solidFill>
                <a:latin typeface="Roboto"/>
              </a:defRPr>
            </a:pPr>
            <a:r>
              <a:t>2️⃣ SEARCH SIMILAR CLUSTERS</a:t>
            </a:r>
          </a:p>
          <a:p>
            <a:pPr>
              <a:defRPr sz="2200" b="0">
                <a:solidFill>
                  <a:srgbClr val="FFFFFF"/>
                </a:solidFill>
                <a:latin typeface="Roboto"/>
              </a:defRPr>
            </a:pPr>
            <a:r>
              <a:t>...</a:t>
            </a:r>
          </a:p>
        </p:txBody>
      </p:sp>
      <p:sp>
        <p:nvSpPr>
          <p:cNvPr id="4" name="Rectangle 3"/>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5" name="Rectangle 4"/>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056586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5C9B446A-6343-4E56-90BA-061E4DDF0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sz="3600" b="1">
                <a:solidFill>
                  <a:srgbClr val="1DB954"/>
                </a:solidFill>
                <a:latin typeface="Montserrat"/>
              </a:defRPr>
            </a:pPr>
            <a:endParaRPr lang="en-US"/>
          </a:p>
        </p:txBody>
      </p:sp>
      <p:sp useBgFill="1">
        <p:nvSpPr>
          <p:cNvPr id="33" name="Freeform: Shape 14">
            <a:extLst>
              <a:ext uri="{FF2B5EF4-FFF2-40B4-BE49-F238E27FC236}">
                <a16:creationId xmlns:a16="http://schemas.microsoft.com/office/drawing/2014/main" id="{3EC72A1B-03D3-499C-B4BF-AC68EEC22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2000" b="0">
                <a:solidFill>
                  <a:srgbClr val="FFFFFF"/>
                </a:solidFill>
                <a:latin typeface="Roboto"/>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216322C2-3CF0-4D33-BF90-3F384CF6D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2000" b="0">
                <a:solidFill>
                  <a:srgbClr val="FFFFFF"/>
                </a:solidFill>
                <a:latin typeface="Roboto"/>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4A006D-0059-4BB3-19C5-AD1ED3668F9C}"/>
              </a:ext>
            </a:extLst>
          </p:cNvPr>
          <p:cNvSpPr>
            <a:spLocks noGrp="1"/>
          </p:cNvSpPr>
          <p:nvPr>
            <p:ph type="title"/>
          </p:nvPr>
        </p:nvSpPr>
        <p:spPr>
          <a:xfrm>
            <a:off x="371094" y="1161288"/>
            <a:ext cx="3438144" cy="1124712"/>
          </a:xfrm>
        </p:spPr>
        <p:txBody>
          <a:bodyPr vert="horz" lIns="91440" tIns="45720" rIns="91440" bIns="45720" rtlCol="0" anchor="b">
            <a:normAutofit/>
          </a:bodyPr>
          <a:lstStyle/>
          <a:p>
            <a:pPr>
              <a:defRPr sz="2000" b="0">
                <a:solidFill>
                  <a:srgbClr val="FFFFFF"/>
                </a:solidFill>
                <a:latin typeface="Roboto"/>
              </a:defRPr>
            </a:pPr>
            <a:r>
              <a:rPr lang="en-US" sz="2800" kern="1200" dirty="0">
                <a:solidFill>
                  <a:schemeClr val="tx1"/>
                </a:solidFill>
                <a:latin typeface="+mj-lt"/>
                <a:ea typeface="+mj-ea"/>
                <a:cs typeface="+mj-cs"/>
              </a:rPr>
              <a:t>RECOMMENDATION MODEL EVALUATION</a:t>
            </a:r>
          </a:p>
        </p:txBody>
      </p:sp>
      <p:sp>
        <p:nvSpPr>
          <p:cNvPr id="19" name="Rectangle 1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sz="2000" b="0">
                <a:solidFill>
                  <a:srgbClr val="FFFFFF"/>
                </a:solidFill>
                <a:latin typeface="Roboto"/>
              </a:defRPr>
            </a:pPr>
            <a:endParaRPr lang="en-US">
              <a:solidFill>
                <a:prstClr val="white"/>
              </a:solidFill>
              <a:latin typeface="Calibri" panose="020F0502020204030204"/>
            </a:endParaRPr>
          </a:p>
        </p:txBody>
      </p:sp>
      <p:sp>
        <p:nvSpPr>
          <p:cNvPr id="34" name="Rectangle 33">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sz="2000" b="0">
                <a:solidFill>
                  <a:srgbClr val="FFFFFF"/>
                </a:solidFill>
                <a:latin typeface="Roboto"/>
              </a:defRPr>
            </a:pPr>
            <a:endParaRPr lang="en-US">
              <a:solidFill>
                <a:prstClr val="white"/>
              </a:solidFill>
              <a:latin typeface="Calibri" panose="020F0502020204030204"/>
            </a:endParaRPr>
          </a:p>
        </p:txBody>
      </p:sp>
      <p:sp>
        <p:nvSpPr>
          <p:cNvPr id="4" name="Text Placeholder 3">
            <a:extLst>
              <a:ext uri="{FF2B5EF4-FFF2-40B4-BE49-F238E27FC236}">
                <a16:creationId xmlns:a16="http://schemas.microsoft.com/office/drawing/2014/main" id="{2EA4768B-F469-99D1-4DEA-15CF8C7F75D3}"/>
              </a:ext>
            </a:extLst>
          </p:cNvPr>
          <p:cNvSpPr>
            <a:spLocks noGrp="1"/>
          </p:cNvSpPr>
          <p:nvPr>
            <p:ph type="body" sz="half" idx="2"/>
          </p:nvPr>
        </p:nvSpPr>
        <p:spPr>
          <a:xfrm>
            <a:off x="371094" y="2718054"/>
            <a:ext cx="3438906" cy="3207258"/>
          </a:xfrm>
        </p:spPr>
        <p:txBody>
          <a:bodyPr vert="horz" lIns="91440" tIns="45720" rIns="91440" bIns="45720" rtlCol="0" anchor="t">
            <a:normAutofit/>
          </a:bodyPr>
          <a:lstStyle/>
          <a:p>
            <a:pPr>
              <a:defRPr sz="2000" b="0">
                <a:solidFill>
                  <a:srgbClr val="FFFFFF"/>
                </a:solidFill>
                <a:latin typeface="Roboto"/>
              </a:defRPr>
            </a:pPr>
            <a:r>
              <a:rPr lang="en-US" sz="1800" dirty="0"/>
              <a:t>🏆 WINNER: Popularity Baseline at 14.61% </a:t>
            </a:r>
          </a:p>
          <a:p>
            <a:pPr marL="285750" indent="-285750">
              <a:buFont typeface="Arial" panose="020B0604020202020204" pitchFamily="34" charset="0"/>
              <a:buChar char="•"/>
              <a:defRPr sz="2000" b="0">
                <a:solidFill>
                  <a:srgbClr val="FFFFFF"/>
                </a:solidFill>
                <a:latin typeface="Roboto"/>
              </a:defRPr>
            </a:pPr>
            <a:r>
              <a:rPr lang="en-US" sz="1800" dirty="0"/>
              <a:t>Simple models often beat complex ones on sparse data </a:t>
            </a:r>
          </a:p>
          <a:p>
            <a:pPr marL="285750" indent="-285750">
              <a:buFont typeface="Arial" panose="020B0604020202020204" pitchFamily="34" charset="0"/>
              <a:buChar char="•"/>
              <a:defRPr sz="2000" b="0">
                <a:solidFill>
                  <a:srgbClr val="FFFFFF"/>
                </a:solidFill>
                <a:latin typeface="Roboto"/>
              </a:defRPr>
            </a:pPr>
            <a:r>
              <a:rPr lang="en-US" sz="1800" dirty="0"/>
              <a:t>Popularity baseline has "wisdom of crowds" advantage</a:t>
            </a:r>
          </a:p>
          <a:p>
            <a:pPr marL="285750" indent="-285750">
              <a:buFont typeface="Arial" panose="020B0604020202020204" pitchFamily="34" charset="0"/>
              <a:buChar char="•"/>
              <a:defRPr sz="2000" b="0">
                <a:solidFill>
                  <a:srgbClr val="FFFFFF"/>
                </a:solidFill>
                <a:latin typeface="Roboto"/>
              </a:defRPr>
            </a:pPr>
            <a:r>
              <a:rPr lang="en-US" sz="1800" dirty="0"/>
              <a:t>Neural network overfits on sparse features</a:t>
            </a:r>
            <a:endParaRPr lang="en-US" sz="1700" dirty="0"/>
          </a:p>
        </p:txBody>
      </p:sp>
      <p:pic>
        <p:nvPicPr>
          <p:cNvPr id="8" name="Content Placeholder 7" descr="A comparison of a bar graph&#10;&#10;AI-generated content may be incorrect.">
            <a:extLst>
              <a:ext uri="{FF2B5EF4-FFF2-40B4-BE49-F238E27FC236}">
                <a16:creationId xmlns:a16="http://schemas.microsoft.com/office/drawing/2014/main" id="{D232CE9D-7A28-29B0-2CBB-CD1B31E49F37}"/>
              </a:ext>
            </a:extLst>
          </p:cNvPr>
          <p:cNvPicPr>
            <a:picLocks noGrp="1" noChangeAspect="1"/>
          </p:cNvPicPr>
          <p:nvPr>
            <p:ph idx="1"/>
          </p:nvPr>
        </p:nvPicPr>
        <p:blipFill>
          <a:blip r:embed="rId3"/>
          <a:stretch>
            <a:fillRect/>
          </a:stretch>
        </p:blipFill>
        <p:spPr>
          <a:xfrm>
            <a:off x="4898967" y="1934836"/>
            <a:ext cx="6921940" cy="3097568"/>
          </a:xfrm>
          <a:prstGeom prst="rect">
            <a:avLst/>
          </a:prstGeom>
        </p:spPr>
      </p:pic>
      <p:sp>
        <p:nvSpPr>
          <p:cNvPr id="35" name="Rectangle 34"/>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36" name="Rectangle 35"/>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99001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6867F-7CED-A1B5-37CD-2C8A0D373F5E}"/>
            </a:ext>
          </a:extLst>
        </p:cNvPr>
        <p:cNvGrpSpPr/>
        <p:nvPr/>
      </p:nvGrpSpPr>
      <p:grpSpPr>
        <a:xfrm>
          <a:off x="0" y="0"/>
          <a:ext cx="0" cy="0"/>
          <a:chOff x="0" y="0"/>
          <a:chExt cx="0" cy="0"/>
        </a:xfrm>
      </p:grpSpPr>
      <p:sp>
        <p:nvSpPr>
          <p:cNvPr id="16" name="Title 12">
            <a:extLst>
              <a:ext uri="{FF2B5EF4-FFF2-40B4-BE49-F238E27FC236}">
                <a16:creationId xmlns:a16="http://schemas.microsoft.com/office/drawing/2014/main" id="{EB353CED-EF11-299D-652F-545A07A1734F}"/>
              </a:ext>
            </a:extLst>
          </p:cNvPr>
          <p:cNvSpPr>
            <a:spLocks noGrp="1"/>
          </p:cNvSpPr>
          <p:nvPr>
            <p:ph type="title"/>
          </p:nvPr>
        </p:nvSpPr>
        <p:spPr>
          <a:xfrm>
            <a:off x="273728" y="426129"/>
            <a:ext cx="11918272" cy="1371092"/>
          </a:xfrm>
        </p:spPr>
        <p:txBody>
          <a:bodyPr/>
          <a:lstStyle/>
          <a:p>
            <a:pPr algn="ctr">
              <a:defRPr sz="3600" b="1">
                <a:solidFill>
                  <a:srgbClr val="1DB954"/>
                </a:solidFill>
                <a:latin typeface="Montserrat"/>
              </a:defRPr>
            </a:pPr>
            <a:r>
              <a:rPr lang="en-US" dirty="0"/>
              <a:t>RECOMMENDATION DIVERSITY</a:t>
            </a:r>
          </a:p>
        </p:txBody>
      </p:sp>
      <p:sp>
        <p:nvSpPr>
          <p:cNvPr id="17" name="Content Placeholder 13">
            <a:extLst>
              <a:ext uri="{FF2B5EF4-FFF2-40B4-BE49-F238E27FC236}">
                <a16:creationId xmlns:a16="http://schemas.microsoft.com/office/drawing/2014/main" id="{A67D3A1D-002C-0FA6-3D45-E69539683256}"/>
              </a:ext>
            </a:extLst>
          </p:cNvPr>
          <p:cNvSpPr txBox="1">
            <a:spLocks/>
          </p:cNvSpPr>
          <p:nvPr/>
        </p:nvSpPr>
        <p:spPr>
          <a:xfrm>
            <a:off x="396783" y="1782702"/>
            <a:ext cx="5820052" cy="450079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sz="2200" b="0">
                <a:solidFill>
                  <a:srgbClr val="FFFFFF"/>
                </a:solidFill>
                <a:latin typeface="Roboto"/>
              </a:defRPr>
            </a:pPr>
            <a:r>
              <a:t>📊 Artist Diversity: 64.3%</a:t>
            </a:r>
          </a:p>
          <a:p>
            <a:pPr>
              <a:defRPr sz="2200" b="0">
                <a:solidFill>
                  <a:srgbClr val="FFFFFF"/>
                </a:solidFill>
                <a:latin typeface="Roboto"/>
              </a:defRPr>
            </a:pPr>
            <a:r>
              <a:t>   ✓ Recommendations span many different artists</a:t>
            </a:r>
          </a:p>
          <a:p>
            <a:pPr>
              <a:defRPr sz="2200" b="0">
                <a:solidFill>
                  <a:srgbClr val="FFFFFF"/>
                </a:solidFill>
                <a:latin typeface="Roboto"/>
              </a:defRPr>
            </a:pPr>
            <a:r>
              <a:t>📊 Album Diversity: 79.3%</a:t>
            </a:r>
          </a:p>
          <a:p>
            <a:pPr>
              <a:defRPr sz="2200" b="0">
                <a:solidFill>
                  <a:srgbClr val="FFFFFF"/>
                </a:solidFill>
                <a:latin typeface="Roboto"/>
              </a:defRPr>
            </a:pPr>
            <a:r>
              <a:t>...</a:t>
            </a:r>
          </a:p>
        </p:txBody>
      </p:sp>
      <p:pic>
        <p:nvPicPr>
          <p:cNvPr id="10" name="Content Placeholder 9" descr="A screenshot of a graph&#10;&#10;AI-generated content may be incorrect.">
            <a:extLst>
              <a:ext uri="{FF2B5EF4-FFF2-40B4-BE49-F238E27FC236}">
                <a16:creationId xmlns:a16="http://schemas.microsoft.com/office/drawing/2014/main" id="{EA053CF5-41BD-2014-37D5-E21A8436B1DB}"/>
              </a:ext>
            </a:extLst>
          </p:cNvPr>
          <p:cNvPicPr>
            <a:picLocks noGrp="1" noChangeAspect="1"/>
          </p:cNvPicPr>
          <p:nvPr>
            <p:ph sz="half" idx="1"/>
          </p:nvPr>
        </p:nvPicPr>
        <p:blipFill>
          <a:blip r:embed="rId3"/>
          <a:stretch>
            <a:fillRect/>
          </a:stretch>
        </p:blipFill>
        <p:spPr>
          <a:xfrm>
            <a:off x="6613618" y="2126988"/>
            <a:ext cx="5181600" cy="3748612"/>
          </a:xfrm>
        </p:spPr>
      </p:pic>
      <p:sp>
        <p:nvSpPr>
          <p:cNvPr id="18" name="Rectangle 17"/>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19" name="Rectangle 18"/>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02979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FDA633E2-F34A-EE42-52BD-C6E7E47B3D82}"/>
              </a:ext>
            </a:extLst>
          </p:cNvPr>
          <p:cNvPicPr>
            <a:picLocks noChangeAspect="1"/>
          </p:cNvPicPr>
          <p:nvPr/>
        </p:nvPicPr>
        <p:blipFill>
          <a:blip r:embed="rId2"/>
          <a:stretch>
            <a:fillRect/>
          </a:stretch>
        </p:blipFill>
        <p:spPr>
          <a:xfrm>
            <a:off x="2209800" y="617541"/>
            <a:ext cx="7772400" cy="5622918"/>
          </a:xfrm>
          <a:prstGeom prst="rect">
            <a:avLst/>
          </a:prstGeom>
        </p:spPr>
      </p:pic>
      <p:sp>
        <p:nvSpPr>
          <p:cNvPr id="4" name="Rectangle 3"/>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5" name="Rectangle 4"/>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312622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271FB-D348-5BAC-E1B8-87FCBDF97042}"/>
            </a:ext>
          </a:extLst>
        </p:cNvPr>
        <p:cNvGrpSpPr/>
        <p:nvPr/>
      </p:nvGrpSpPr>
      <p:grpSpPr>
        <a:xfrm>
          <a:off x="0" y="0"/>
          <a:ext cx="0" cy="0"/>
          <a:chOff x="0" y="0"/>
          <a:chExt cx="0" cy="0"/>
        </a:xfrm>
      </p:grpSpPr>
      <p:sp>
        <p:nvSpPr>
          <p:cNvPr id="16" name="Title 12">
            <a:extLst>
              <a:ext uri="{FF2B5EF4-FFF2-40B4-BE49-F238E27FC236}">
                <a16:creationId xmlns:a16="http://schemas.microsoft.com/office/drawing/2014/main" id="{A5573C1A-1AB9-5F48-7306-CA06CF63FE8C}"/>
              </a:ext>
            </a:extLst>
          </p:cNvPr>
          <p:cNvSpPr>
            <a:spLocks noGrp="1"/>
          </p:cNvSpPr>
          <p:nvPr>
            <p:ph type="title"/>
          </p:nvPr>
        </p:nvSpPr>
        <p:spPr>
          <a:xfrm>
            <a:off x="273728" y="426129"/>
            <a:ext cx="11918272" cy="1371092"/>
          </a:xfrm>
        </p:spPr>
        <p:txBody>
          <a:bodyPr/>
          <a:lstStyle/>
          <a:p>
            <a:pPr algn="ctr">
              <a:defRPr sz="3600" b="1">
                <a:solidFill>
                  <a:srgbClr val="1DB954"/>
                </a:solidFill>
                <a:latin typeface="Montserrat"/>
              </a:defRPr>
            </a:pPr>
            <a:r>
              <a:rPr lang="en-US" dirty="0"/>
              <a:t>GENRE-WISE ANALYSIS</a:t>
            </a:r>
          </a:p>
        </p:txBody>
      </p:sp>
      <p:sp>
        <p:nvSpPr>
          <p:cNvPr id="17" name="Content Placeholder 13">
            <a:extLst>
              <a:ext uri="{FF2B5EF4-FFF2-40B4-BE49-F238E27FC236}">
                <a16:creationId xmlns:a16="http://schemas.microsoft.com/office/drawing/2014/main" id="{7A1C53AB-D06C-F7B6-C818-BAB4F4B1F759}"/>
              </a:ext>
            </a:extLst>
          </p:cNvPr>
          <p:cNvSpPr txBox="1">
            <a:spLocks/>
          </p:cNvSpPr>
          <p:nvPr/>
        </p:nvSpPr>
        <p:spPr>
          <a:xfrm>
            <a:off x="396783" y="1782702"/>
            <a:ext cx="5820052" cy="4500793"/>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sz="2200" b="0">
                <a:solidFill>
                  <a:srgbClr val="FFFFFF"/>
                </a:solidFill>
                <a:latin typeface="Roboto"/>
              </a:defRPr>
            </a:pPr>
            <a:r>
              <a:t>TOP GENRES IN DATASET:</a:t>
            </a:r>
          </a:p>
          <a:p>
            <a:pPr>
              <a:defRPr sz="2200" b="0">
                <a:solidFill>
                  <a:srgbClr val="FFFFFF"/>
                </a:solidFill>
                <a:latin typeface="Roboto"/>
              </a:defRPr>
            </a:pPr>
            <a:r>
              <a:t>🎵 Chill: 38,350 playlists (avg 62 tracks)</a:t>
            </a:r>
          </a:p>
          <a:p>
            <a:pPr>
              <a:defRPr sz="2200" b="0">
                <a:solidFill>
                  <a:srgbClr val="FFFFFF"/>
                </a:solidFill>
                <a:latin typeface="Roboto"/>
              </a:defRPr>
            </a:pPr>
            <a:r>
              <a:t>🎵 Party: 31,215 playlists (avg 74 tracks)  </a:t>
            </a:r>
          </a:p>
          <a:p>
            <a:pPr>
              <a:defRPr sz="2200" b="0">
                <a:solidFill>
                  <a:srgbClr val="FFFFFF"/>
                </a:solidFill>
                <a:latin typeface="Roboto"/>
              </a:defRPr>
            </a:pPr>
            <a:r>
              <a:t>...</a:t>
            </a:r>
          </a:p>
        </p:txBody>
      </p:sp>
      <p:pic>
        <p:nvPicPr>
          <p:cNvPr id="7" name="Content Placeholder 6" descr="A group of colorful bars&#10;&#10;AI-generated content may be incorrect.">
            <a:extLst>
              <a:ext uri="{FF2B5EF4-FFF2-40B4-BE49-F238E27FC236}">
                <a16:creationId xmlns:a16="http://schemas.microsoft.com/office/drawing/2014/main" id="{7BB064F7-BEF2-5313-51A2-EE26A996FE61}"/>
              </a:ext>
            </a:extLst>
          </p:cNvPr>
          <p:cNvPicPr>
            <a:picLocks noGrp="1" noChangeAspect="1"/>
          </p:cNvPicPr>
          <p:nvPr>
            <p:ph sz="half" idx="1"/>
          </p:nvPr>
        </p:nvPicPr>
        <p:blipFill>
          <a:blip r:embed="rId3"/>
          <a:stretch>
            <a:fillRect/>
          </a:stretch>
        </p:blipFill>
        <p:spPr>
          <a:xfrm>
            <a:off x="6613525" y="2119749"/>
            <a:ext cx="5181600" cy="3759914"/>
          </a:xfrm>
        </p:spPr>
      </p:pic>
      <p:sp>
        <p:nvSpPr>
          <p:cNvPr id="18" name="Rectangle 17"/>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19" name="Rectangle 18"/>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2272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colorful bars&#10;&#10;AI-generated content may be incorrect.">
            <a:extLst>
              <a:ext uri="{FF2B5EF4-FFF2-40B4-BE49-F238E27FC236}">
                <a16:creationId xmlns:a16="http://schemas.microsoft.com/office/drawing/2014/main" id="{1FC5D755-D037-FEE7-1EE4-FC31EED210DA}"/>
              </a:ext>
            </a:extLst>
          </p:cNvPr>
          <p:cNvPicPr>
            <a:picLocks noChangeAspect="1"/>
          </p:cNvPicPr>
          <p:nvPr/>
        </p:nvPicPr>
        <p:blipFill>
          <a:blip r:embed="rId2"/>
          <a:stretch>
            <a:fillRect/>
          </a:stretch>
        </p:blipFill>
        <p:spPr>
          <a:xfrm>
            <a:off x="2209800" y="609064"/>
            <a:ext cx="7772400" cy="5639872"/>
          </a:xfrm>
          <a:prstGeom prst="rect">
            <a:avLst/>
          </a:prstGeom>
        </p:spPr>
      </p:pic>
      <p:sp>
        <p:nvSpPr>
          <p:cNvPr id="4" name="Rectangle 3"/>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5" name="Rectangle 4"/>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011354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76A53-25CB-71E5-0804-A09889BC24E5}"/>
              </a:ext>
            </a:extLst>
          </p:cNvPr>
          <p:cNvSpPr>
            <a:spLocks noGrp="1"/>
          </p:cNvSpPr>
          <p:nvPr>
            <p:ph type="title"/>
          </p:nvPr>
        </p:nvSpPr>
        <p:spPr/>
        <p:txBody>
          <a:bodyPr/>
          <a:lstStyle/>
          <a:p>
            <a:pPr algn="ctr">
              <a:defRPr sz="3600" b="1">
                <a:solidFill>
                  <a:srgbClr val="1DB954"/>
                </a:solidFill>
                <a:latin typeface="Montserrat"/>
              </a:defRPr>
            </a:pPr>
            <a:r>
              <a:rPr lang="en-US" dirty="0"/>
              <a:t>KEY FINDINGS</a:t>
            </a:r>
          </a:p>
        </p:txBody>
      </p:sp>
      <p:sp>
        <p:nvSpPr>
          <p:cNvPr id="3" name="Content Placeholder 2">
            <a:extLst>
              <a:ext uri="{FF2B5EF4-FFF2-40B4-BE49-F238E27FC236}">
                <a16:creationId xmlns:a16="http://schemas.microsoft.com/office/drawing/2014/main" id="{69729466-15A4-B784-D438-7BE69F2EF53D}"/>
              </a:ext>
            </a:extLst>
          </p:cNvPr>
          <p:cNvSpPr>
            <a:spLocks noGrp="1"/>
          </p:cNvSpPr>
          <p:nvPr>
            <p:ph idx="1"/>
          </p:nvPr>
        </p:nvSpPr>
        <p:spPr/>
        <p:txBody>
          <a:bodyPr>
            <a:normAutofit fontScale="92500" lnSpcReduction="10000"/>
          </a:bodyPr>
          <a:lstStyle/>
          <a:p>
            <a:pPr>
              <a:defRPr sz="2200" b="0">
                <a:solidFill>
                  <a:srgbClr val="FFFFFF"/>
                </a:solidFill>
                <a:latin typeface="Roboto"/>
              </a:defRPr>
            </a:pPr>
            <a:r>
              <a:t>✅ STRONG PATTERNS EXIST &amp; ARE PREDICTIVE</a:t>
            </a:r>
          </a:p>
          <a:p>
            <a:pPr>
              <a:defRPr sz="2200" b="0">
                <a:solidFill>
                  <a:srgbClr val="FFFFFF"/>
                </a:solidFill>
                <a:latin typeface="Roboto"/>
              </a:defRPr>
            </a:pPr>
            <a:r>
              <a:t>   10,000 association rules with lift &gt; 2.0</a:t>
            </a:r>
          </a:p>
          <a:p>
            <a:pPr>
              <a:defRPr sz="2200" b="0">
                <a:solidFill>
                  <a:srgbClr val="FFFFFF"/>
                </a:solidFill>
                <a:latin typeface="Roboto"/>
              </a:defRPr>
            </a:pPr>
            <a:r>
              <a:t>   Max lift: 10,960x (songs are nearly guaranteed to co-occur)</a:t>
            </a:r>
          </a:p>
          <a:p>
            <a:pPr>
              <a:defRPr sz="2200" b="0">
                <a:solidFill>
                  <a:srgbClr val="FFFFFF"/>
                </a:solidFill>
                <a:latin typeface="Roboto"/>
              </a:defRPr>
            </a:pPr>
            <a:r>
              <a:t>...</a:t>
            </a:r>
          </a:p>
        </p:txBody>
      </p:sp>
      <p:sp>
        <p:nvSpPr>
          <p:cNvPr id="4" name="Rectangle 3"/>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5" name="Rectangle 4"/>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39707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DDA818-231E-24F2-066D-8E5093E96E93}"/>
              </a:ext>
            </a:extLst>
          </p:cNvPr>
          <p:cNvSpPr>
            <a:spLocks noGrp="1"/>
          </p:cNvSpPr>
          <p:nvPr>
            <p:ph type="title"/>
          </p:nvPr>
        </p:nvSpPr>
        <p:spPr/>
        <p:txBody>
          <a:bodyPr anchor="ctr"/>
          <a:lstStyle/>
          <a:p>
            <a:pPr algn="ctr">
              <a:defRPr sz="3600" b="1">
                <a:solidFill>
                  <a:srgbClr val="1DB954"/>
                </a:solidFill>
                <a:latin typeface="Montserrat"/>
              </a:defRPr>
            </a:pPr>
            <a:r>
              <a:rPr lang="en-US" dirty="0"/>
              <a:t>LIMITATIONS &amp; FUTURE WORK</a:t>
            </a:r>
          </a:p>
        </p:txBody>
      </p:sp>
      <p:sp>
        <p:nvSpPr>
          <p:cNvPr id="6" name="Text Placeholder 5">
            <a:extLst>
              <a:ext uri="{FF2B5EF4-FFF2-40B4-BE49-F238E27FC236}">
                <a16:creationId xmlns:a16="http://schemas.microsoft.com/office/drawing/2014/main" id="{4A449F95-FA94-A767-5C04-058D34CCCF88}"/>
              </a:ext>
            </a:extLst>
          </p:cNvPr>
          <p:cNvSpPr>
            <a:spLocks noGrp="1"/>
          </p:cNvSpPr>
          <p:nvPr>
            <p:ph type="body" idx="1"/>
          </p:nvPr>
        </p:nvSpPr>
        <p:spPr/>
        <p:txBody>
          <a:bodyPr anchor="ctr"/>
          <a:lstStyle/>
          <a:p>
            <a:pPr algn="ctr">
              <a:defRPr sz="2000" b="0">
                <a:solidFill>
                  <a:srgbClr val="FFFFFF"/>
                </a:solidFill>
                <a:latin typeface="Roboto"/>
              </a:defRPr>
            </a:pPr>
            <a:r>
              <a:rPr lang="en-US" dirty="0"/>
              <a:t>LIMITATIONS</a:t>
            </a:r>
          </a:p>
        </p:txBody>
      </p:sp>
      <p:sp>
        <p:nvSpPr>
          <p:cNvPr id="7" name="Content Placeholder 6">
            <a:extLst>
              <a:ext uri="{FF2B5EF4-FFF2-40B4-BE49-F238E27FC236}">
                <a16:creationId xmlns:a16="http://schemas.microsoft.com/office/drawing/2014/main" id="{F27848CD-7A76-282A-E06C-8B80DC56BBCE}"/>
              </a:ext>
            </a:extLst>
          </p:cNvPr>
          <p:cNvSpPr>
            <a:spLocks noGrp="1"/>
          </p:cNvSpPr>
          <p:nvPr>
            <p:ph sz="half" idx="2"/>
          </p:nvPr>
        </p:nvSpPr>
        <p:spPr/>
        <p:txBody>
          <a:bodyPr anchor="ctr">
            <a:normAutofit fontScale="92500" lnSpcReduction="10000"/>
          </a:bodyPr>
          <a:lstStyle/>
          <a:p>
            <a:pPr marL="0" indent="0" algn="ctr">
              <a:buNone/>
              <a:defRPr sz="2000" b="0">
                <a:solidFill>
                  <a:srgbClr val="FFFFFF"/>
                </a:solidFill>
                <a:latin typeface="Roboto"/>
              </a:defRPr>
            </a:pPr>
            <a:endParaRPr lang="en-US" sz="1400" dirty="0"/>
          </a:p>
          <a:p>
            <a:pPr marL="0" indent="0" algn="ctr">
              <a:buNone/>
              <a:defRPr sz="2000" b="0">
                <a:solidFill>
                  <a:srgbClr val="FFFFFF"/>
                </a:solidFill>
                <a:latin typeface="Roboto"/>
              </a:defRPr>
            </a:pPr>
            <a:r>
              <a:rPr lang="en-US" sz="1400" dirty="0"/>
              <a:t>⚠️ Temporal patterns ignored</a:t>
            </a:r>
          </a:p>
          <a:p>
            <a:pPr marL="0" indent="0" algn="ctr">
              <a:buNone/>
              <a:defRPr sz="2000" b="0">
                <a:solidFill>
                  <a:srgbClr val="FFFFFF"/>
                </a:solidFill>
                <a:latin typeface="Roboto"/>
              </a:defRPr>
            </a:pPr>
            <a:r>
              <a:rPr lang="en-US" sz="1400" dirty="0"/>
              <a:t>   We treat playlists as sets, not sequences</a:t>
            </a:r>
          </a:p>
          <a:p>
            <a:pPr marL="0" indent="0" algn="ctr">
              <a:buNone/>
              <a:defRPr sz="2000" b="0">
                <a:solidFill>
                  <a:srgbClr val="FFFFFF"/>
                </a:solidFill>
                <a:latin typeface="Roboto"/>
              </a:defRPr>
            </a:pPr>
            <a:r>
              <a:rPr lang="en-US" sz="1400" dirty="0"/>
              <a:t>   Reality: Song order matters</a:t>
            </a:r>
          </a:p>
          <a:p>
            <a:pPr marL="0" indent="0" algn="ctr">
              <a:buNone/>
              <a:defRPr sz="2000" b="0">
                <a:solidFill>
                  <a:srgbClr val="FFFFFF"/>
                </a:solidFill>
                <a:latin typeface="Roboto"/>
              </a:defRPr>
            </a:pPr>
            <a:r>
              <a:rPr lang="en-US" sz="1400" dirty="0"/>
              <a:t>⚠️ Sparse genre metadata</a:t>
            </a:r>
          </a:p>
          <a:p>
            <a:pPr marL="0" indent="0" algn="ctr">
              <a:buNone/>
              <a:defRPr sz="2000" b="0">
                <a:solidFill>
                  <a:srgbClr val="FFFFFF"/>
                </a:solidFill>
                <a:latin typeface="Roboto"/>
              </a:defRPr>
            </a:pPr>
            <a:r>
              <a:rPr lang="en-US" sz="1400" dirty="0"/>
              <a:t>   Only ~20% of playlists have genre labels</a:t>
            </a:r>
          </a:p>
          <a:p>
            <a:pPr marL="0" indent="0" algn="ctr">
              <a:buNone/>
              <a:defRPr sz="2000" b="0">
                <a:solidFill>
                  <a:srgbClr val="FFFFFF"/>
                </a:solidFill>
                <a:latin typeface="Roboto"/>
              </a:defRPr>
            </a:pPr>
            <a:r>
              <a:rPr lang="en-US" sz="1400" dirty="0"/>
              <a:t>   Limited genre-specific insights</a:t>
            </a:r>
          </a:p>
          <a:p>
            <a:pPr marL="0" indent="0" algn="ctr">
              <a:buNone/>
              <a:defRPr sz="2000" b="0">
                <a:solidFill>
                  <a:srgbClr val="FFFFFF"/>
                </a:solidFill>
                <a:latin typeface="Roboto"/>
              </a:defRPr>
            </a:pPr>
            <a:r>
              <a:rPr lang="en-US" sz="1400" dirty="0"/>
              <a:t>⚠️ No user context</a:t>
            </a:r>
          </a:p>
          <a:p>
            <a:pPr marL="0" indent="0" algn="ctr">
              <a:buNone/>
              <a:defRPr sz="2000" b="0">
                <a:solidFill>
                  <a:srgbClr val="FFFFFF"/>
                </a:solidFill>
                <a:latin typeface="Roboto"/>
              </a:defRPr>
            </a:pPr>
            <a:r>
              <a:rPr lang="en-US" sz="1400" dirty="0"/>
              <a:t>   We don't know who made the playlist</a:t>
            </a:r>
          </a:p>
          <a:p>
            <a:pPr marL="0" indent="0" algn="ctr">
              <a:buNone/>
              <a:defRPr sz="2000" b="0">
                <a:solidFill>
                  <a:srgbClr val="FFFFFF"/>
                </a:solidFill>
                <a:latin typeface="Roboto"/>
              </a:defRPr>
            </a:pPr>
            <a:r>
              <a:rPr lang="en-US" sz="1400" dirty="0"/>
              <a:t>   Different demographics might have different tastes</a:t>
            </a:r>
          </a:p>
          <a:p>
            <a:pPr marL="0" indent="0" algn="ctr">
              <a:buNone/>
              <a:defRPr sz="2000" b="0">
                <a:solidFill>
                  <a:srgbClr val="FFFFFF"/>
                </a:solidFill>
                <a:latin typeface="Roboto"/>
              </a:defRPr>
            </a:pPr>
            <a:r>
              <a:rPr lang="en-US" sz="1400" dirty="0"/>
              <a:t>⚠️ Cold-start problem</a:t>
            </a:r>
          </a:p>
          <a:p>
            <a:pPr marL="0" indent="0" algn="ctr">
              <a:buNone/>
              <a:defRPr sz="2000" b="0">
                <a:solidFill>
                  <a:srgbClr val="FFFFFF"/>
                </a:solidFill>
                <a:latin typeface="Roboto"/>
              </a:defRPr>
            </a:pPr>
            <a:r>
              <a:rPr lang="en-US" sz="1400" dirty="0"/>
              <a:t>   New users/songs have no history</a:t>
            </a:r>
          </a:p>
          <a:p>
            <a:pPr marL="0" indent="0" algn="ctr">
              <a:buNone/>
              <a:defRPr sz="2000" b="0">
                <a:solidFill>
                  <a:srgbClr val="FFFFFF"/>
                </a:solidFill>
                <a:latin typeface="Roboto"/>
              </a:defRPr>
            </a:pPr>
            <a:r>
              <a:rPr lang="en-US" sz="1400" dirty="0"/>
              <a:t>   Requires different strategy</a:t>
            </a:r>
          </a:p>
          <a:p>
            <a:pPr marL="0" indent="0" algn="ctr">
              <a:buNone/>
              <a:defRPr sz="2000" b="0">
                <a:solidFill>
                  <a:srgbClr val="FFFFFF"/>
                </a:solidFill>
                <a:latin typeface="Roboto"/>
              </a:defRPr>
            </a:pPr>
            <a:endParaRPr lang="en-US" sz="1400" dirty="0"/>
          </a:p>
          <a:p>
            <a:pPr marL="0" indent="0" algn="ctr">
              <a:buNone/>
              <a:defRPr sz="2000" b="0">
                <a:solidFill>
                  <a:srgbClr val="FFFFFF"/>
                </a:solidFill>
                <a:latin typeface="Roboto"/>
              </a:defRPr>
            </a:pPr>
            <a:endParaRPr lang="en-US" sz="1400" dirty="0"/>
          </a:p>
        </p:txBody>
      </p:sp>
      <p:sp>
        <p:nvSpPr>
          <p:cNvPr id="8" name="Text Placeholder 7">
            <a:extLst>
              <a:ext uri="{FF2B5EF4-FFF2-40B4-BE49-F238E27FC236}">
                <a16:creationId xmlns:a16="http://schemas.microsoft.com/office/drawing/2014/main" id="{C69F6147-FDA5-0D83-C6CE-EBAF28F3FFFC}"/>
              </a:ext>
            </a:extLst>
          </p:cNvPr>
          <p:cNvSpPr>
            <a:spLocks noGrp="1"/>
          </p:cNvSpPr>
          <p:nvPr>
            <p:ph type="body" sz="quarter" idx="3"/>
          </p:nvPr>
        </p:nvSpPr>
        <p:spPr/>
        <p:txBody>
          <a:bodyPr anchor="ctr"/>
          <a:lstStyle/>
          <a:p>
            <a:pPr algn="ctr">
              <a:defRPr sz="2000" b="0">
                <a:solidFill>
                  <a:srgbClr val="FFFFFF"/>
                </a:solidFill>
                <a:latin typeface="Roboto"/>
              </a:defRPr>
            </a:pPr>
            <a:r>
              <a:rPr lang="en-US" dirty="0"/>
              <a:t>FUTURE WORK</a:t>
            </a:r>
          </a:p>
        </p:txBody>
      </p:sp>
      <p:sp>
        <p:nvSpPr>
          <p:cNvPr id="9" name="Content Placeholder 8">
            <a:extLst>
              <a:ext uri="{FF2B5EF4-FFF2-40B4-BE49-F238E27FC236}">
                <a16:creationId xmlns:a16="http://schemas.microsoft.com/office/drawing/2014/main" id="{4AED05F9-AF03-934E-CD63-9D4D0D852AAF}"/>
              </a:ext>
            </a:extLst>
          </p:cNvPr>
          <p:cNvSpPr>
            <a:spLocks noGrp="1"/>
          </p:cNvSpPr>
          <p:nvPr>
            <p:ph sz="quarter" idx="4"/>
          </p:nvPr>
        </p:nvSpPr>
        <p:spPr/>
        <p:txBody>
          <a:bodyPr anchor="ctr">
            <a:normAutofit fontScale="92500" lnSpcReduction="10000"/>
          </a:bodyPr>
          <a:lstStyle/>
          <a:p>
            <a:pPr marL="0" indent="0" algn="ctr">
              <a:buNone/>
              <a:defRPr sz="2000" b="0">
                <a:solidFill>
                  <a:srgbClr val="FFFFFF"/>
                </a:solidFill>
                <a:latin typeface="Roboto"/>
              </a:defRPr>
            </a:pPr>
            <a:r>
              <a:rPr lang="en-US" sz="1400" dirty="0"/>
              <a:t>→ Temporal/Sequential Analysis</a:t>
            </a:r>
          </a:p>
          <a:p>
            <a:pPr marL="0" indent="0" algn="ctr">
              <a:buNone/>
              <a:defRPr sz="2000" b="0">
                <a:solidFill>
                  <a:srgbClr val="FFFFFF"/>
                </a:solidFill>
                <a:latin typeface="Roboto"/>
              </a:defRPr>
            </a:pPr>
            <a:r>
              <a:rPr lang="en-US" sz="1400" dirty="0"/>
              <a:t>   Song order in playlists (A→B vs B→A)   </a:t>
            </a:r>
          </a:p>
          <a:p>
            <a:pPr marL="0" indent="0" algn="ctr">
              <a:buNone/>
              <a:defRPr sz="2000" b="0">
                <a:solidFill>
                  <a:srgbClr val="FFFFFF"/>
                </a:solidFill>
                <a:latin typeface="Roboto"/>
              </a:defRPr>
            </a:pPr>
            <a:r>
              <a:rPr lang="en-US" sz="1400" dirty="0"/>
              <a:t>→ Graph Network Analysis</a:t>
            </a:r>
          </a:p>
          <a:p>
            <a:pPr marL="0" indent="0" algn="ctr">
              <a:buNone/>
              <a:defRPr sz="2000" b="0">
                <a:solidFill>
                  <a:srgbClr val="FFFFFF"/>
                </a:solidFill>
                <a:latin typeface="Roboto"/>
              </a:defRPr>
            </a:pPr>
            <a:r>
              <a:rPr lang="en-US" sz="1400" dirty="0"/>
              <a:t>   Model playlists as song-to-song networks   </a:t>
            </a:r>
          </a:p>
          <a:p>
            <a:pPr marL="0" indent="0" algn="ctr">
              <a:buNone/>
              <a:defRPr sz="2000" b="0">
                <a:solidFill>
                  <a:srgbClr val="FFFFFF"/>
                </a:solidFill>
                <a:latin typeface="Roboto"/>
              </a:defRPr>
            </a:pPr>
            <a:r>
              <a:rPr lang="en-US" sz="1400" dirty="0"/>
              <a:t>→ Real-time Feedback Integration</a:t>
            </a:r>
          </a:p>
          <a:p>
            <a:pPr marL="0" indent="0" algn="ctr">
              <a:buNone/>
              <a:defRPr sz="2000" b="0">
                <a:solidFill>
                  <a:srgbClr val="FFFFFF"/>
                </a:solidFill>
                <a:latin typeface="Roboto"/>
              </a:defRPr>
            </a:pPr>
            <a:r>
              <a:rPr lang="en-US" sz="1400" dirty="0"/>
              <a:t>   Learn from user reactions (skip, save, replay)   </a:t>
            </a:r>
          </a:p>
          <a:p>
            <a:pPr marL="0" indent="0" algn="ctr">
              <a:buNone/>
              <a:defRPr sz="2000" b="0">
                <a:solidFill>
                  <a:srgbClr val="FFFFFF"/>
                </a:solidFill>
                <a:latin typeface="Roboto"/>
              </a:defRPr>
            </a:pPr>
            <a:r>
              <a:rPr lang="en-US" sz="1400" dirty="0"/>
              <a:t>→ Ensemble Methods</a:t>
            </a:r>
          </a:p>
          <a:p>
            <a:pPr marL="0" indent="0" algn="ctr">
              <a:buNone/>
              <a:defRPr sz="2000" b="0">
                <a:solidFill>
                  <a:srgbClr val="FFFFFF"/>
                </a:solidFill>
                <a:latin typeface="Roboto"/>
              </a:defRPr>
            </a:pPr>
            <a:r>
              <a:rPr lang="en-US" sz="1400" dirty="0"/>
              <a:t>   Combine all approaches into one meta-model   </a:t>
            </a:r>
          </a:p>
          <a:p>
            <a:pPr marL="0" indent="0" algn="ctr">
              <a:buNone/>
              <a:defRPr sz="2000" b="0">
                <a:solidFill>
                  <a:srgbClr val="FFFFFF"/>
                </a:solidFill>
                <a:latin typeface="Roboto"/>
              </a:defRPr>
            </a:pPr>
            <a:r>
              <a:rPr lang="en-US" sz="1400" dirty="0"/>
              <a:t>→ Deployment &amp; A/B Testing</a:t>
            </a:r>
          </a:p>
          <a:p>
            <a:pPr marL="0" indent="0" algn="ctr">
              <a:buNone/>
              <a:defRPr sz="2000" b="0">
                <a:solidFill>
                  <a:srgbClr val="FFFFFF"/>
                </a:solidFill>
                <a:latin typeface="Roboto"/>
              </a:defRPr>
            </a:pPr>
            <a:r>
              <a:rPr lang="en-US" sz="1400" dirty="0"/>
              <a:t>   Test with real users, measure engagement</a:t>
            </a:r>
          </a:p>
          <a:p>
            <a:pPr marL="0" indent="0" algn="ctr">
              <a:buNone/>
              <a:defRPr sz="2000" b="0">
                <a:solidFill>
                  <a:srgbClr val="FFFFFF"/>
                </a:solidFill>
                <a:latin typeface="Roboto"/>
              </a:defRPr>
            </a:pPr>
            <a:endParaRPr lang="en-US" sz="1400" dirty="0"/>
          </a:p>
        </p:txBody>
      </p:sp>
      <p:sp>
        <p:nvSpPr>
          <p:cNvPr id="10" name="Rectangle 9"/>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11" name="Rectangle 10"/>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994099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847D0-4539-569F-8D43-48A5C2028683}"/>
              </a:ext>
            </a:extLst>
          </p:cNvPr>
          <p:cNvSpPr>
            <a:spLocks noGrp="1"/>
          </p:cNvSpPr>
          <p:nvPr>
            <p:ph type="title"/>
          </p:nvPr>
        </p:nvSpPr>
        <p:spPr/>
        <p:txBody>
          <a:bodyPr/>
          <a:lstStyle/>
          <a:p>
            <a:pPr>
              <a:defRPr sz="3600" b="1">
                <a:solidFill>
                  <a:srgbClr val="1DB954"/>
                </a:solidFill>
                <a:latin typeface="Montserrat"/>
              </a:defRPr>
            </a:pPr>
            <a:r>
              <a:rPr lang="en-US" dirty="0"/>
              <a:t>CONCLUSION</a:t>
            </a:r>
          </a:p>
        </p:txBody>
      </p:sp>
      <p:sp>
        <p:nvSpPr>
          <p:cNvPr id="3" name="Content Placeholder 2">
            <a:extLst>
              <a:ext uri="{FF2B5EF4-FFF2-40B4-BE49-F238E27FC236}">
                <a16:creationId xmlns:a16="http://schemas.microsoft.com/office/drawing/2014/main" id="{DD7C90C8-B5E6-3DC2-FE52-589C59E3655B}"/>
              </a:ext>
            </a:extLst>
          </p:cNvPr>
          <p:cNvSpPr>
            <a:spLocks noGrp="1"/>
          </p:cNvSpPr>
          <p:nvPr>
            <p:ph idx="1"/>
          </p:nvPr>
        </p:nvSpPr>
        <p:spPr/>
        <p:txBody>
          <a:bodyPr>
            <a:normAutofit fontScale="55000" lnSpcReduction="20000"/>
          </a:bodyPr>
          <a:lstStyle/>
          <a:p>
            <a:pPr>
              <a:defRPr sz="2200" b="0">
                <a:solidFill>
                  <a:srgbClr val="FFFFFF"/>
                </a:solidFill>
                <a:latin typeface="Roboto"/>
              </a:defRPr>
            </a:pPr>
            <a:r>
              <a:t>"Music taste is learnable." </a:t>
            </a:r>
          </a:p>
          <a:p>
            <a:pPr>
              <a:defRPr sz="2200" b="0">
                <a:solidFill>
                  <a:srgbClr val="FFFFFF"/>
                </a:solidFill>
                <a:latin typeface="Roboto"/>
              </a:defRPr>
            </a:pPr>
            <a:r>
              <a:t>This project demonstrates that systematic pattern mining, clustering, and ensemble methods unlock powerful insights from large-scale playlist data.</a:t>
            </a:r>
          </a:p>
          <a:p>
            <a:pPr>
              <a:defRPr sz="2200" b="0">
                <a:solidFill>
                  <a:srgbClr val="FFFFFF"/>
                </a:solidFill>
                <a:latin typeface="Roboto"/>
              </a:defRPr>
            </a:pPr>
            <a:r>
              <a:t>CONTRIBUTIONS: </a:t>
            </a:r>
          </a:p>
          <a:p>
            <a:pPr>
              <a:defRPr sz="2200" b="0">
                <a:solidFill>
                  <a:srgbClr val="FFFFFF"/>
                </a:solidFill>
                <a:latin typeface="Roboto"/>
              </a:defRPr>
            </a:pPr>
            <a:r>
              <a:t>...</a:t>
            </a:r>
          </a:p>
        </p:txBody>
      </p:sp>
      <p:sp>
        <p:nvSpPr>
          <p:cNvPr id="4" name="Rectangle 3"/>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5" name="Rectangle 4"/>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953926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61D5E0E-6800-425D-B59E-02BD37AAAA54}"/>
              </a:ext>
            </a:extLst>
          </p:cNvPr>
          <p:cNvSpPr>
            <a:spLocks noGrp="1"/>
          </p:cNvSpPr>
          <p:nvPr>
            <p:ph type="subTitle" idx="1"/>
          </p:nvPr>
        </p:nvSpPr>
        <p:spPr>
          <a:xfrm>
            <a:off x="1524000" y="4020080"/>
            <a:ext cx="9144000" cy="1655762"/>
          </a:xfrm>
        </p:spPr>
        <p:txBody>
          <a:bodyPr/>
          <a:lstStyle/>
          <a:p>
            <a:pPr>
              <a:defRPr sz="3600" b="1">
                <a:solidFill>
                  <a:srgbClr val="1DB954"/>
                </a:solidFill>
                <a:latin typeface="Montserrat"/>
              </a:defRPr>
            </a:pPr>
            <a:r>
              <a:rPr lang="en-US" dirty="0"/>
              <a:t>Questions</a:t>
            </a:r>
          </a:p>
        </p:txBody>
      </p:sp>
      <p:sp>
        <p:nvSpPr>
          <p:cNvPr id="4" name="Subtitle 2">
            <a:extLst>
              <a:ext uri="{FF2B5EF4-FFF2-40B4-BE49-F238E27FC236}">
                <a16:creationId xmlns:a16="http://schemas.microsoft.com/office/drawing/2014/main" id="{15A18373-A360-B967-1ABC-046587DD5D5F}"/>
              </a:ext>
            </a:extLst>
          </p:cNvPr>
          <p:cNvSpPr txBox="1">
            <a:spLocks/>
          </p:cNvSpPr>
          <p:nvPr/>
        </p:nvSpPr>
        <p:spPr>
          <a:xfrm>
            <a:off x="1524000" y="1182159"/>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sz="2000" b="0">
                <a:solidFill>
                  <a:srgbClr val="FFFFFF"/>
                </a:solidFill>
                <a:latin typeface="Roboto"/>
              </a:defRPr>
            </a:pPr>
            <a:r>
              <a:rPr lang="en-US" dirty="0"/>
              <a:t>THANK YOU!!</a:t>
            </a:r>
          </a:p>
        </p:txBody>
      </p:sp>
      <p:sp>
        <p:nvSpPr>
          <p:cNvPr id="5" name="Rectangle 4"/>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FFFFFF"/>
                </a:solidFill>
                <a:latin typeface="Roboto"/>
              </a:defRPr>
            </a:pPr>
          </a:p>
        </p:txBody>
      </p:sp>
      <p:sp>
        <p:nvSpPr>
          <p:cNvPr id="6" name="Rectangle 5"/>
          <p:cNvSpPr/>
          <p:nvPr/>
        </p:nvSpPr>
        <p:spPr>
          <a:xfrm>
            <a:off x="0" y="6400800"/>
            <a:ext cx="12191695"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159646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TotalTime>
  <Words>3027</Words>
  <Application>Microsoft Macintosh PowerPoint</Application>
  <PresentationFormat>Widescreen</PresentationFormat>
  <Paragraphs>265</Paragraphs>
  <Slides>24</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Calibri</vt:lpstr>
      <vt:lpstr>Office Theme</vt:lpstr>
      <vt:lpstr>SPOTIFY PLAYLIST EXTENSION WITH PATTERN MINING AND CLUSTERING</vt:lpstr>
      <vt:lpstr>PowerPoint Presentation</vt:lpstr>
      <vt:lpstr>PowerPoint Presentation</vt:lpstr>
      <vt:lpstr>DATASET OVERVIEW</vt:lpstr>
      <vt:lpstr>PowerPoint Presentation</vt:lpstr>
      <vt:lpstr>PowerPoint Presentation</vt:lpstr>
      <vt:lpstr>PowerPoint Presentation</vt:lpstr>
      <vt:lpstr>METHODOLOGY - PATTERN MINING &amp; CLUSTERING</vt:lpstr>
      <vt:lpstr>PowerPoint Presentation</vt:lpstr>
      <vt:lpstr>ASSOCIATION RULE MINING RESULTS</vt:lpstr>
      <vt:lpstr>PowerPoint Presentation</vt:lpstr>
      <vt:lpstr>PowerPoint Presentation</vt:lpstr>
      <vt:lpstr>CLUSTERING RESULTS</vt:lpstr>
      <vt:lpstr>PowerPoint Presentation</vt:lpstr>
      <vt:lpstr>HOW CLUSTERING IMPROVES RECOMMENDATIONS</vt:lpstr>
      <vt:lpstr>RECOMMENDATION MODEL EVALUATION</vt:lpstr>
      <vt:lpstr>RECOMMENDATION DIVERSITY</vt:lpstr>
      <vt:lpstr>PowerPoint Presentation</vt:lpstr>
      <vt:lpstr>GENRE-WISE ANALYSIS</vt:lpstr>
      <vt:lpstr>PowerPoint Presentation</vt:lpstr>
      <vt:lpstr>KEY FINDINGS</vt:lpstr>
      <vt:lpstr>LIMITATIONS &amp; FUTURE WORK</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Singh, Adarsh K</dc:creator>
  <cp:lastModifiedBy>Singh, Adarsh K</cp:lastModifiedBy>
  <cp:revision>2</cp:revision>
  <dcterms:created xsi:type="dcterms:W3CDTF">2025-11-27T23:09:44Z</dcterms:created>
  <dcterms:modified xsi:type="dcterms:W3CDTF">2025-11-28T01:03:47Z</dcterms:modified>
</cp:coreProperties>
</file>