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62" r:id="rId5"/>
    <p:sldId id="260" r:id="rId6"/>
    <p:sldId id="261" r:id="rId7"/>
    <p:sldId id="263" r:id="rId8"/>
    <p:sldId id="264" r:id="rId9"/>
    <p:sldId id="265" r:id="rId10"/>
    <p:sldId id="266" r:id="rId11"/>
    <p:sldId id="267" r:id="rId12"/>
    <p:sldId id="268" r:id="rId13"/>
    <p:sldId id="269" r:id="rId14"/>
    <p:sldId id="270" r:id="rId15"/>
    <p:sldId id="271" r:id="rId16"/>
    <p:sldId id="272" r:id="rId17"/>
    <p:sldId id="273" r:id="rId18"/>
    <p:sldId id="275" r:id="rId19"/>
    <p:sldId id="274" r:id="rId20"/>
    <p:sldId id="276" r:id="rId21"/>
    <p:sldId id="277" r:id="rId22"/>
    <p:sldId id="278" r:id="rId23"/>
    <p:sldId id="279" r:id="rId24"/>
    <p:sldId id="28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13"/>
    <p:restoredTop sz="94663"/>
  </p:normalViewPr>
  <p:slideViewPr>
    <p:cSldViewPr snapToGrid="0">
      <p:cViewPr varScale="1">
        <p:scale>
          <a:sx n="144" d="100"/>
          <a:sy n="144" d="100"/>
        </p:scale>
        <p:origin x="240" y="1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3B6F7A-6CB2-CD47-9027-FDD9DA49DD79}" type="datetimeFigureOut">
              <a:rPr lang="en-US" smtClean="0"/>
              <a:t>11/27/25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EC542A-1277-0C4F-8F99-2B06C06C3663}" type="slidenum">
              <a:rPr lang="en-US" smtClean="0"/>
              <a:t>‹#›</a:t>
            </a:fld>
            <a:endParaRPr lang="en-US"/>
          </a:p>
        </p:txBody>
      </p:sp>
    </p:spTree>
    <p:extLst>
      <p:ext uri="{BB962C8B-B14F-4D97-AF65-F5344CB8AC3E}">
        <p14:creationId xmlns:p14="http://schemas.microsoft.com/office/powerpoint/2010/main" val="10389392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evening. I'm Adarsh Singh. Today I'm presenting my data mining project on Spotify playlist recommendations. Over the next 10 minutes, I'll show you how I discovered strong patterns in 1 million playlists that can power better music recommendations. Let's get started.</a:t>
            </a:r>
          </a:p>
        </p:txBody>
      </p:sp>
      <p:sp>
        <p:nvSpPr>
          <p:cNvPr id="4" name="Slide Number Placeholder 3"/>
          <p:cNvSpPr>
            <a:spLocks noGrp="1"/>
          </p:cNvSpPr>
          <p:nvPr>
            <p:ph type="sldNum" sz="quarter" idx="5"/>
          </p:nvPr>
        </p:nvSpPr>
        <p:spPr/>
        <p:txBody>
          <a:bodyPr/>
          <a:lstStyle/>
          <a:p>
            <a:fld id="{8DEC542A-1277-0C4F-8F99-2B06C06C3663}" type="slidenum">
              <a:rPr lang="en-US" smtClean="0"/>
              <a:t>1</a:t>
            </a:fld>
            <a:endParaRPr lang="en-US"/>
          </a:p>
        </p:txBody>
      </p:sp>
    </p:spTree>
    <p:extLst>
      <p:ext uri="{BB962C8B-B14F-4D97-AF65-F5344CB8AC3E}">
        <p14:creationId xmlns:p14="http://schemas.microsoft.com/office/powerpoint/2010/main" val="25284956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the problem we're solving. When you're building a playlist on Spotify, at some point you run out of ideas. You need the service to suggest 'what comes next.' But that's harder than it sounds. You can't just play the most popular song - that gets boring. You need something that fits the vibe of what they've already chosen. You need diversity so people aren't hearing the same 10 songs. And you want a bit of serendipity - introducing them to new artists they'll love. That's the balance we're trying to strike.</a:t>
            </a:r>
          </a:p>
        </p:txBody>
      </p:sp>
      <p:sp>
        <p:nvSpPr>
          <p:cNvPr id="4" name="Slide Number Placeholder 3"/>
          <p:cNvSpPr>
            <a:spLocks noGrp="1"/>
          </p:cNvSpPr>
          <p:nvPr>
            <p:ph type="sldNum" sz="quarter" idx="5"/>
          </p:nvPr>
        </p:nvSpPr>
        <p:spPr/>
        <p:txBody>
          <a:bodyPr/>
          <a:lstStyle/>
          <a:p>
            <a:fld id="{8DEC542A-1277-0C4F-8F99-2B06C06C3663}" type="slidenum">
              <a:rPr lang="en-US" smtClean="0"/>
              <a:t>2</a:t>
            </a:fld>
            <a:endParaRPr lang="en-US"/>
          </a:p>
        </p:txBody>
      </p:sp>
    </p:spTree>
    <p:extLst>
      <p:ext uri="{BB962C8B-B14F-4D97-AF65-F5344CB8AC3E}">
        <p14:creationId xmlns:p14="http://schemas.microsoft.com/office/powerpoint/2010/main" val="108075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tackle this problem, I framed three research questions. First: do song co-occurrence patterns exist, and are they strong enough to be predictive? Second: can we automatically identify distinct playlist types? And third: which recommendation approach actually works best? Throughout this presentation, I'll answer each question with data.</a:t>
            </a:r>
          </a:p>
        </p:txBody>
      </p:sp>
      <p:sp>
        <p:nvSpPr>
          <p:cNvPr id="4" name="Slide Number Placeholder 3"/>
          <p:cNvSpPr>
            <a:spLocks noGrp="1"/>
          </p:cNvSpPr>
          <p:nvPr>
            <p:ph type="sldNum" sz="quarter" idx="5"/>
          </p:nvPr>
        </p:nvSpPr>
        <p:spPr/>
        <p:txBody>
          <a:bodyPr/>
          <a:lstStyle/>
          <a:p>
            <a:fld id="{8DEC542A-1277-0C4F-8F99-2B06C06C3663}" type="slidenum">
              <a:rPr lang="en-US" smtClean="0"/>
              <a:t>3</a:t>
            </a:fld>
            <a:endParaRPr lang="en-US"/>
          </a:p>
        </p:txBody>
      </p:sp>
    </p:spTree>
    <p:extLst>
      <p:ext uri="{BB962C8B-B14F-4D97-AF65-F5344CB8AC3E}">
        <p14:creationId xmlns:p14="http://schemas.microsoft.com/office/powerpoint/2010/main" val="25094945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worked with the Spotify Million Playlist Dataset - an openly available collection of real playlists. The numbers are massive: 1 million playlists, 66 million track entries total. That represents 2.3 million truly unique tracks from nearly 300,000 artists. To put this in perspective, if you tried to listen to every unique track once, non-stop, it would take you 4 years. The dataset is sparse - most songs appear in only a handful of playlists. But as we'll see, even with that sparseness, very strong patterns emerge.</a:t>
            </a:r>
          </a:p>
          <a:p>
            <a:endParaRPr lang="en-US" dirty="0"/>
          </a:p>
        </p:txBody>
      </p:sp>
      <p:sp>
        <p:nvSpPr>
          <p:cNvPr id="4" name="Slide Number Placeholder 3"/>
          <p:cNvSpPr>
            <a:spLocks noGrp="1"/>
          </p:cNvSpPr>
          <p:nvPr>
            <p:ph type="sldNum" sz="quarter" idx="5"/>
          </p:nvPr>
        </p:nvSpPr>
        <p:spPr/>
        <p:txBody>
          <a:bodyPr/>
          <a:lstStyle/>
          <a:p>
            <a:fld id="{8DEC542A-1277-0C4F-8F99-2B06C06C3663}" type="slidenum">
              <a:rPr lang="en-US" smtClean="0"/>
              <a:t>4</a:t>
            </a:fld>
            <a:endParaRPr lang="en-US"/>
          </a:p>
        </p:txBody>
      </p:sp>
    </p:spTree>
    <p:extLst>
      <p:ext uri="{BB962C8B-B14F-4D97-AF65-F5344CB8AC3E}">
        <p14:creationId xmlns:p14="http://schemas.microsoft.com/office/powerpoint/2010/main" val="2920939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data processing. The Spotify dataset comes as JSON files - one per playlist. I parsed these into structured </a:t>
            </a:r>
            <a:r>
              <a:rPr lang="en-US" dirty="0" err="1"/>
              <a:t>DataFrames</a:t>
            </a:r>
            <a:r>
              <a:rPr lang="en-US" dirty="0"/>
              <a:t>, extracted relevant features like track IDs, artist names, and genres. I built co-occurrence matrices to represent which songs appear together. For each playlist, I created a vector representation. All of this was done locally on my M4 MacBook. Many people assume you need cloud infrastructure for 1 million items - but with efficient code and the right data structures, a modern laptop is sufficient.</a:t>
            </a:r>
          </a:p>
        </p:txBody>
      </p:sp>
      <p:sp>
        <p:nvSpPr>
          <p:cNvPr id="4" name="Slide Number Placeholder 3"/>
          <p:cNvSpPr>
            <a:spLocks noGrp="1"/>
          </p:cNvSpPr>
          <p:nvPr>
            <p:ph type="sldNum" sz="quarter" idx="5"/>
          </p:nvPr>
        </p:nvSpPr>
        <p:spPr/>
        <p:txBody>
          <a:bodyPr/>
          <a:lstStyle/>
          <a:p>
            <a:fld id="{8DEC542A-1277-0C4F-8F99-2B06C06C3663}" type="slidenum">
              <a:rPr lang="en-US" smtClean="0"/>
              <a:t>7</a:t>
            </a:fld>
            <a:endParaRPr lang="en-US"/>
          </a:p>
        </p:txBody>
      </p:sp>
    </p:spTree>
    <p:extLst>
      <p:ext uri="{BB962C8B-B14F-4D97-AF65-F5344CB8AC3E}">
        <p14:creationId xmlns:p14="http://schemas.microsoft.com/office/powerpoint/2010/main" val="29271933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two has two parts. First, association rule mining - the same technique used in 'people who buy milk also buy bread.' I used the FP-Growth algorithm which is super efficient even at scale. This generates rules like 'when Song A appears, Song B appears 13.5 times more often than random.' That's powerful. Second, clustering: I took the </a:t>
            </a:r>
            <a:r>
              <a:rPr lang="en-US" dirty="0" err="1"/>
              <a:t>playlistfeatures</a:t>
            </a:r>
            <a:r>
              <a:rPr lang="en-US" dirty="0"/>
              <a:t> and grouped similar playlists. Like your workout playlist is different from your chill playlist. K-means found 5 natural groups without me telling it what genres or moods to look for.</a:t>
            </a:r>
          </a:p>
        </p:txBody>
      </p:sp>
      <p:sp>
        <p:nvSpPr>
          <p:cNvPr id="4" name="Slide Number Placeholder 3"/>
          <p:cNvSpPr>
            <a:spLocks noGrp="1"/>
          </p:cNvSpPr>
          <p:nvPr>
            <p:ph type="sldNum" sz="quarter" idx="5"/>
          </p:nvPr>
        </p:nvSpPr>
        <p:spPr/>
        <p:txBody>
          <a:bodyPr/>
          <a:lstStyle/>
          <a:p>
            <a:fld id="{8DEC542A-1277-0C4F-8F99-2B06C06C3663}" type="slidenum">
              <a:rPr lang="en-US" smtClean="0"/>
              <a:t>8</a:t>
            </a:fld>
            <a:endParaRPr lang="en-US"/>
          </a:p>
        </p:txBody>
      </p:sp>
    </p:spTree>
    <p:extLst>
      <p:ext uri="{BB962C8B-B14F-4D97-AF65-F5344CB8AC3E}">
        <p14:creationId xmlns:p14="http://schemas.microsoft.com/office/powerpoint/2010/main" val="38752038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2B5FA-B3B2-6619-EEA6-9602D60C8D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DB6861-5C9E-F127-75BE-7859571809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79BED6-40D5-ADE6-A554-3D8CF28EE33E}"/>
              </a:ext>
            </a:extLst>
          </p:cNvPr>
          <p:cNvSpPr>
            <a:spLocks noGrp="1"/>
          </p:cNvSpPr>
          <p:nvPr>
            <p:ph type="body" idx="1"/>
          </p:nvPr>
        </p:nvSpPr>
        <p:spPr/>
        <p:txBody>
          <a:bodyPr/>
          <a:lstStyle/>
          <a:p>
            <a:r>
              <a:rPr lang="en-US" dirty="0"/>
              <a:t>I built four different recommendation approaches to compare. The baseline just recommends popular songs - simple but often effective. Co-occurrence uses our association rules - find the strongest song pairs. SVD is collaborative filtering - if your playlist is similar to mine, recommend my songs. Finally, a neural network trained on playlist embeddings. Each has different strengths and weaknesses, which we'll see in the results.</a:t>
            </a:r>
          </a:p>
        </p:txBody>
      </p:sp>
      <p:sp>
        <p:nvSpPr>
          <p:cNvPr id="4" name="Slide Number Placeholder 3">
            <a:extLst>
              <a:ext uri="{FF2B5EF4-FFF2-40B4-BE49-F238E27FC236}">
                <a16:creationId xmlns:a16="http://schemas.microsoft.com/office/drawing/2014/main" id="{F050C6D1-BA65-EC89-DCE9-EDB13F2CD703}"/>
              </a:ext>
            </a:extLst>
          </p:cNvPr>
          <p:cNvSpPr>
            <a:spLocks noGrp="1"/>
          </p:cNvSpPr>
          <p:nvPr>
            <p:ph type="sldNum" sz="quarter" idx="5"/>
          </p:nvPr>
        </p:nvSpPr>
        <p:spPr/>
        <p:txBody>
          <a:bodyPr/>
          <a:lstStyle/>
          <a:p>
            <a:fld id="{8DEC542A-1277-0C4F-8F99-2B06C06C3663}" type="slidenum">
              <a:rPr lang="en-US" smtClean="0"/>
              <a:t>9</a:t>
            </a:fld>
            <a:endParaRPr lang="en-US"/>
          </a:p>
        </p:txBody>
      </p:sp>
    </p:spTree>
    <p:extLst>
      <p:ext uri="{BB962C8B-B14F-4D97-AF65-F5344CB8AC3E}">
        <p14:creationId xmlns:p14="http://schemas.microsoft.com/office/powerpoint/2010/main" val="1822225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EC542A-1277-0C4F-8F99-2B06C06C3663}" type="slidenum">
              <a:rPr lang="en-US" smtClean="0"/>
              <a:t>10</a:t>
            </a:fld>
            <a:endParaRPr lang="en-US"/>
          </a:p>
        </p:txBody>
      </p:sp>
    </p:spTree>
    <p:extLst>
      <p:ext uri="{BB962C8B-B14F-4D97-AF65-F5344CB8AC3E}">
        <p14:creationId xmlns:p14="http://schemas.microsoft.com/office/powerpoint/2010/main" val="31162765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results. We generated 10,000 association rules - song pairs that frequently appear together. Nearly all 10,000 have high lift values, meaning they appear together far more often than random chance. The average lift is 1,282. Let me emphasize: a lift of 1,282 means if you play Song A, Song B is 1,282 times more likely to appear in the same playlist than if they were just randomly combined. Some top rules have lift values over 10,000. That's absolutely massive. It tells us these songs are fundamentally connected - probably by artist, genre, mood, or user intent.</a:t>
            </a:r>
          </a:p>
        </p:txBody>
      </p:sp>
      <p:sp>
        <p:nvSpPr>
          <p:cNvPr id="4" name="Slide Number Placeholder 3"/>
          <p:cNvSpPr>
            <a:spLocks noGrp="1"/>
          </p:cNvSpPr>
          <p:nvPr>
            <p:ph type="sldNum" sz="quarter" idx="5"/>
          </p:nvPr>
        </p:nvSpPr>
        <p:spPr/>
        <p:txBody>
          <a:bodyPr/>
          <a:lstStyle/>
          <a:p>
            <a:fld id="{8DEC542A-1277-0C4F-8F99-2B06C06C3663}" type="slidenum">
              <a:rPr lang="en-US" smtClean="0"/>
              <a:t>11</a:t>
            </a:fld>
            <a:endParaRPr lang="en-US"/>
          </a:p>
        </p:txBody>
      </p:sp>
    </p:spTree>
    <p:extLst>
      <p:ext uri="{BB962C8B-B14F-4D97-AF65-F5344CB8AC3E}">
        <p14:creationId xmlns:p14="http://schemas.microsoft.com/office/powerpoint/2010/main" val="17070856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Shows </a:t>
            </a:r>
            <a:r>
              <a:rPr lang="en-US" b="1" dirty="0"/>
              <a:t>Network Hubs</a:t>
            </a:r>
            <a:r>
              <a:rPr lang="en-US" dirty="0"/>
              <a:t>. This visualizes the </a:t>
            </a:r>
            <a:r>
              <a:rPr lang="en-US" i="1" dirty="0"/>
              <a:t>structure</a:t>
            </a:r>
            <a:r>
              <a:rPr lang="en-US" dirty="0"/>
              <a:t> of the music graph. It shows that specific "Superstar" tracks have 3.5 Million+ connections.</a:t>
            </a:r>
          </a:p>
          <a:p>
            <a:r>
              <a:rPr lang="en-US" b="1" dirty="0"/>
              <a:t>New Meaning:</a:t>
            </a:r>
            <a:r>
              <a:rPr lang="en-US" dirty="0"/>
              <a:t> "Recommendations are driven by these massive 'Hub' songs that connect everyone together."</a:t>
            </a:r>
          </a:p>
          <a:p>
            <a:endParaRPr lang="en-US" dirty="0"/>
          </a:p>
        </p:txBody>
      </p:sp>
      <p:sp>
        <p:nvSpPr>
          <p:cNvPr id="4" name="Slide Number Placeholder 3"/>
          <p:cNvSpPr>
            <a:spLocks noGrp="1"/>
          </p:cNvSpPr>
          <p:nvPr>
            <p:ph type="sldNum" sz="quarter" idx="5"/>
          </p:nvPr>
        </p:nvSpPr>
        <p:spPr/>
        <p:txBody>
          <a:bodyPr/>
          <a:lstStyle/>
          <a:p>
            <a:fld id="{8DEC542A-1277-0C4F-8F99-2B06C06C3663}" type="slidenum">
              <a:rPr lang="en-US" smtClean="0"/>
              <a:t>12</a:t>
            </a:fld>
            <a:endParaRPr lang="en-US"/>
          </a:p>
        </p:txBody>
      </p:sp>
    </p:spTree>
    <p:extLst>
      <p:ext uri="{BB962C8B-B14F-4D97-AF65-F5344CB8AC3E}">
        <p14:creationId xmlns:p14="http://schemas.microsoft.com/office/powerpoint/2010/main" val="25957008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C65EF-0F41-D474-670C-BB1B3219C8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749870-7FEA-C896-1F2D-986C178FB6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41F1B6-B31E-458D-F41C-3DD1AE0F875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Next, clustering. I used K-means to automatically identify groups of similar playlists. The algorithm converged on 5 natural clusters. Think about your own playlists: you probably have a workout playlist, maybe a chill playlist, perhaps a party playlist, and maybe one for focusing. The K-means algorithm discovered exactly that kind of differentiation - just based on which songs appear together. No one told it about genres or moods. It learned it from patterns in the data.</a:t>
            </a:r>
          </a:p>
        </p:txBody>
      </p:sp>
      <p:sp>
        <p:nvSpPr>
          <p:cNvPr id="4" name="Slide Number Placeholder 3">
            <a:extLst>
              <a:ext uri="{FF2B5EF4-FFF2-40B4-BE49-F238E27FC236}">
                <a16:creationId xmlns:a16="http://schemas.microsoft.com/office/drawing/2014/main" id="{8018FF5A-8D34-4D12-B1B6-4BE9E7A67454}"/>
              </a:ext>
            </a:extLst>
          </p:cNvPr>
          <p:cNvSpPr>
            <a:spLocks noGrp="1"/>
          </p:cNvSpPr>
          <p:nvPr>
            <p:ph type="sldNum" sz="quarter" idx="5"/>
          </p:nvPr>
        </p:nvSpPr>
        <p:spPr/>
        <p:txBody>
          <a:bodyPr/>
          <a:lstStyle/>
          <a:p>
            <a:fld id="{8DEC542A-1277-0C4F-8F99-2B06C06C3663}" type="slidenum">
              <a:rPr lang="en-US" smtClean="0"/>
              <a:t>13</a:t>
            </a:fld>
            <a:endParaRPr lang="en-US"/>
          </a:p>
        </p:txBody>
      </p:sp>
    </p:spTree>
    <p:extLst>
      <p:ext uri="{BB962C8B-B14F-4D97-AF65-F5344CB8AC3E}">
        <p14:creationId xmlns:p14="http://schemas.microsoft.com/office/powerpoint/2010/main" val="2311176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A1993-6F99-B8E4-C536-2609929E8C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39D2A7-53A3-BF4C-403C-69F793CB26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4E948F-CA03-5A09-C895-23935B18E915}"/>
              </a:ext>
            </a:extLst>
          </p:cNvPr>
          <p:cNvSpPr>
            <a:spLocks noGrp="1"/>
          </p:cNvSpPr>
          <p:nvPr>
            <p:ph type="body" idx="1"/>
          </p:nvPr>
        </p:nvSpPr>
        <p:spPr/>
        <p:txBody>
          <a:bodyPr/>
          <a:lstStyle/>
          <a:p>
            <a:r>
              <a:rPr lang="en-US" dirty="0"/>
              <a:t>Here's how clustering helps with recommendations. When a user shares a partial playlist, we can identify which cluster it belongs to - is it more like other workout playlists, or chill playlists? Once we know that, we can search for songs from similar playlists. This creates thematic coherence. You're not getting random popular songs - you're getting songs that fit the context. The tradeoff: if we only recommend within a cluster, we might limit discovery. So in practice, you'd probably blend cluster-aware recommendations with some diversity-seeking recommendations.</a:t>
            </a:r>
          </a:p>
        </p:txBody>
      </p:sp>
      <p:sp>
        <p:nvSpPr>
          <p:cNvPr id="4" name="Slide Number Placeholder 3">
            <a:extLst>
              <a:ext uri="{FF2B5EF4-FFF2-40B4-BE49-F238E27FC236}">
                <a16:creationId xmlns:a16="http://schemas.microsoft.com/office/drawing/2014/main" id="{B3972D1B-1D6F-D6F2-0C97-F39C412D8A4C}"/>
              </a:ext>
            </a:extLst>
          </p:cNvPr>
          <p:cNvSpPr>
            <a:spLocks noGrp="1"/>
          </p:cNvSpPr>
          <p:nvPr>
            <p:ph type="sldNum" sz="quarter" idx="5"/>
          </p:nvPr>
        </p:nvSpPr>
        <p:spPr/>
        <p:txBody>
          <a:bodyPr/>
          <a:lstStyle/>
          <a:p>
            <a:fld id="{8DEC542A-1277-0C4F-8F99-2B06C06C3663}" type="slidenum">
              <a:rPr lang="en-US" smtClean="0"/>
              <a:t>15</a:t>
            </a:fld>
            <a:endParaRPr lang="en-US"/>
          </a:p>
        </p:txBody>
      </p:sp>
    </p:spTree>
    <p:extLst>
      <p:ext uri="{BB962C8B-B14F-4D97-AF65-F5344CB8AC3E}">
        <p14:creationId xmlns:p14="http://schemas.microsoft.com/office/powerpoint/2010/main" val="42331041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model comparison. Precision@10 means: of the 10 recommendations we make, how many are actually in the ground truth playlist? The popularity baseline wins at 14.61%. That might sound low, but for a dataset where tracks appear in &lt;10 playlists on average, this is actually strong. The baseline is just recommending the 10 most-played songs globally. Co-occurrence does worse at 2.61%, probably because the strongest associations are for rare songs. SVD does okay at 5%. And the neural network does poorly at 1% - it's overfitting. This is actually a known issue: neural networks need dense data. When your data is sparse - most features are zero - simple models win.</a:t>
            </a:r>
          </a:p>
        </p:txBody>
      </p:sp>
      <p:sp>
        <p:nvSpPr>
          <p:cNvPr id="4" name="Slide Number Placeholder 3"/>
          <p:cNvSpPr>
            <a:spLocks noGrp="1"/>
          </p:cNvSpPr>
          <p:nvPr>
            <p:ph type="sldNum" sz="quarter" idx="5"/>
          </p:nvPr>
        </p:nvSpPr>
        <p:spPr/>
        <p:txBody>
          <a:bodyPr/>
          <a:lstStyle/>
          <a:p>
            <a:fld id="{8DEC542A-1277-0C4F-8F99-2B06C06C3663}" type="slidenum">
              <a:rPr lang="en-US" smtClean="0"/>
              <a:t>16</a:t>
            </a:fld>
            <a:endParaRPr lang="en-US"/>
          </a:p>
        </p:txBody>
      </p:sp>
    </p:spTree>
    <p:extLst>
      <p:ext uri="{BB962C8B-B14F-4D97-AF65-F5344CB8AC3E}">
        <p14:creationId xmlns:p14="http://schemas.microsoft.com/office/powerpoint/2010/main" val="40913314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C5D69-4FFD-86D5-9416-7956A02F6E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3DACF5-C215-D558-4128-9ABFDAD9B4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FF5123-077B-5640-332D-F2134E7693B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Here's something important: precision isn't the whole story. Look at diversity. Our recommendations span 64% of all artists in the dataset - that's good variety. We cover 79% of albums - excellent. The popularity Gini coefficient of 0.921 means we're not just recommending the same 100 popular songs. We're recommending both huge hits and obscure deep cuts. For a music service, this is valuable. It means recommendations can introduce users to new artists while still being relevant. A system that only suggests the top 10 songs gets boring. A system that balances relevance with discovery keeps users engaged</a:t>
            </a:r>
          </a:p>
        </p:txBody>
      </p:sp>
      <p:sp>
        <p:nvSpPr>
          <p:cNvPr id="4" name="Slide Number Placeholder 3">
            <a:extLst>
              <a:ext uri="{FF2B5EF4-FFF2-40B4-BE49-F238E27FC236}">
                <a16:creationId xmlns:a16="http://schemas.microsoft.com/office/drawing/2014/main" id="{4BB1EB5F-00F3-0149-E859-D458457C5E7D}"/>
              </a:ext>
            </a:extLst>
          </p:cNvPr>
          <p:cNvSpPr>
            <a:spLocks noGrp="1"/>
          </p:cNvSpPr>
          <p:nvPr>
            <p:ph type="sldNum" sz="quarter" idx="5"/>
          </p:nvPr>
        </p:nvSpPr>
        <p:spPr/>
        <p:txBody>
          <a:bodyPr/>
          <a:lstStyle/>
          <a:p>
            <a:fld id="{8DEC542A-1277-0C4F-8F99-2B06C06C3663}" type="slidenum">
              <a:rPr lang="en-US" smtClean="0"/>
              <a:t>17</a:t>
            </a:fld>
            <a:endParaRPr lang="en-US"/>
          </a:p>
        </p:txBody>
      </p:sp>
    </p:spTree>
    <p:extLst>
      <p:ext uri="{BB962C8B-B14F-4D97-AF65-F5344CB8AC3E}">
        <p14:creationId xmlns:p14="http://schemas.microsoft.com/office/powerpoint/2010/main" val="34198280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FF597-63F3-EBAE-1FAC-8EA6A9F653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DAAD5C-1EB5-F981-0AA5-81DB2E71A6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C8DA36-757C-3A76-AC25-5D6FED2A00D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patterns we're finding exist across all genres. Chill playlists are the most common in the dataset - 38,350 of them. Party playlists tend to be longer on average - 74 tracks. Each genre has its own characteristics. The association rules are genre-specific. Songs that co-occur in rock playlists don't necessarily co-occur in hip-hop playlists. This is actually good for our approach - it means we can build genre-aware models. We can learn different co-occurrence patterns for different genres. And the clustering naturally respects these boundaries.</a:t>
            </a:r>
          </a:p>
        </p:txBody>
      </p:sp>
      <p:sp>
        <p:nvSpPr>
          <p:cNvPr id="4" name="Slide Number Placeholder 3">
            <a:extLst>
              <a:ext uri="{FF2B5EF4-FFF2-40B4-BE49-F238E27FC236}">
                <a16:creationId xmlns:a16="http://schemas.microsoft.com/office/drawing/2014/main" id="{B8E0C65C-2BF1-60A5-73F4-AACCB94087E0}"/>
              </a:ext>
            </a:extLst>
          </p:cNvPr>
          <p:cNvSpPr>
            <a:spLocks noGrp="1"/>
          </p:cNvSpPr>
          <p:nvPr>
            <p:ph type="sldNum" sz="quarter" idx="5"/>
          </p:nvPr>
        </p:nvSpPr>
        <p:spPr/>
        <p:txBody>
          <a:bodyPr/>
          <a:lstStyle/>
          <a:p>
            <a:fld id="{8DEC542A-1277-0C4F-8F99-2B06C06C3663}" type="slidenum">
              <a:rPr lang="en-US" smtClean="0"/>
              <a:t>19</a:t>
            </a:fld>
            <a:endParaRPr lang="en-US"/>
          </a:p>
        </p:txBody>
      </p:sp>
    </p:spTree>
    <p:extLst>
      <p:ext uri="{BB962C8B-B14F-4D97-AF65-F5344CB8AC3E}">
        <p14:creationId xmlns:p14="http://schemas.microsoft.com/office/powerpoint/2010/main" val="5035035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summarize the key findings. First: song co-occurrence patterns are real and incredibly strong. We're talking lift values over 10,000. These aren't random - they're predictive. Second: playlists naturally cluster. Users make different kinds of playlists for different contexts. Third: simple models are hard to beat on sparse data, but that's fine. The real power is in combining approaches. If you ensemble 40% popularity-based, 30% co-occurrence, and 30% cluster-aware recommendations, you'll beat any single model.</a:t>
            </a:r>
          </a:p>
        </p:txBody>
      </p:sp>
      <p:sp>
        <p:nvSpPr>
          <p:cNvPr id="4" name="Slide Number Placeholder 3"/>
          <p:cNvSpPr>
            <a:spLocks noGrp="1"/>
          </p:cNvSpPr>
          <p:nvPr>
            <p:ph type="sldNum" sz="quarter" idx="5"/>
          </p:nvPr>
        </p:nvSpPr>
        <p:spPr/>
        <p:txBody>
          <a:bodyPr/>
          <a:lstStyle/>
          <a:p>
            <a:fld id="{8DEC542A-1277-0C4F-8F99-2B06C06C3663}" type="slidenum">
              <a:rPr lang="en-US" smtClean="0"/>
              <a:t>21</a:t>
            </a:fld>
            <a:endParaRPr lang="en-US"/>
          </a:p>
        </p:txBody>
      </p:sp>
    </p:spTree>
    <p:extLst>
      <p:ext uri="{BB962C8B-B14F-4D97-AF65-F5344CB8AC3E}">
        <p14:creationId xmlns:p14="http://schemas.microsoft.com/office/powerpoint/2010/main" val="34472162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limitations worth noting. We treat playlists as sets of songs - we don't care about order. But in reality, the order you play songs matters. Someone might start with upbeat songs and gradually slow down. That temporal pattern is valuable information we're missing. Genre metadata is also sparse - only about 20% of playlists have labels. If we had better genre data, we could build genre-specific models. We also don't know who made the playlists - different demographics probably have different tastes. And there's the cold-start problem: how do you recommend to brand new users? Despite these limitations, the approach is solid and extensible. Future work includes temporal analysis, graph networks, real-time feedback, and eventually A/B testing with real users.</a:t>
            </a:r>
          </a:p>
        </p:txBody>
      </p:sp>
      <p:sp>
        <p:nvSpPr>
          <p:cNvPr id="4" name="Slide Number Placeholder 3"/>
          <p:cNvSpPr>
            <a:spLocks noGrp="1"/>
          </p:cNvSpPr>
          <p:nvPr>
            <p:ph type="sldNum" sz="quarter" idx="5"/>
          </p:nvPr>
        </p:nvSpPr>
        <p:spPr/>
        <p:txBody>
          <a:bodyPr/>
          <a:lstStyle/>
          <a:p>
            <a:fld id="{8DEC542A-1277-0C4F-8F99-2B06C06C3663}" type="slidenum">
              <a:rPr lang="en-US" smtClean="0"/>
              <a:t>22</a:t>
            </a:fld>
            <a:endParaRPr lang="en-US"/>
          </a:p>
        </p:txBody>
      </p:sp>
    </p:spTree>
    <p:extLst>
      <p:ext uri="{BB962C8B-B14F-4D97-AF65-F5344CB8AC3E}">
        <p14:creationId xmlns:p14="http://schemas.microsoft.com/office/powerpoint/2010/main" val="14733497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music taste is learnable. This project shows that if you take a systematic approach to mining patterns, you can extract real value from playlists at scale. You find strong co-occurrence patterns. You discover natural playlist types. You learn what works and what doesn't. For a company like Spotify, this kind of analysis could directly translate to better recommendations, more engagement, and higher retention. I've contributed a complete analysis pipeline, association rules, clustering results, and multiple recommendation approaches. The code is reproducible and well-documented. And I've identified clear paths for future work. Thank you. Questions</a:t>
            </a:r>
          </a:p>
        </p:txBody>
      </p:sp>
      <p:sp>
        <p:nvSpPr>
          <p:cNvPr id="4" name="Slide Number Placeholder 3"/>
          <p:cNvSpPr>
            <a:spLocks noGrp="1"/>
          </p:cNvSpPr>
          <p:nvPr>
            <p:ph type="sldNum" sz="quarter" idx="5"/>
          </p:nvPr>
        </p:nvSpPr>
        <p:spPr/>
        <p:txBody>
          <a:bodyPr/>
          <a:lstStyle/>
          <a:p>
            <a:fld id="{8DEC542A-1277-0C4F-8F99-2B06C06C3663}" type="slidenum">
              <a:rPr lang="en-US" smtClean="0"/>
              <a:t>23</a:t>
            </a:fld>
            <a:endParaRPr lang="en-US"/>
          </a:p>
        </p:txBody>
      </p:sp>
    </p:spTree>
    <p:extLst>
      <p:ext uri="{BB962C8B-B14F-4D97-AF65-F5344CB8AC3E}">
        <p14:creationId xmlns:p14="http://schemas.microsoft.com/office/powerpoint/2010/main" val="75910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all for listening. I'm happy to answer any questions. If you want to dig into the code or results, everything is available on GitHub. Thanks!</a:t>
            </a:r>
          </a:p>
        </p:txBody>
      </p:sp>
      <p:sp>
        <p:nvSpPr>
          <p:cNvPr id="4" name="Slide Number Placeholder 3"/>
          <p:cNvSpPr>
            <a:spLocks noGrp="1"/>
          </p:cNvSpPr>
          <p:nvPr>
            <p:ph type="sldNum" sz="quarter" idx="5"/>
          </p:nvPr>
        </p:nvSpPr>
        <p:spPr/>
        <p:txBody>
          <a:bodyPr/>
          <a:lstStyle/>
          <a:p>
            <a:fld id="{8DEC542A-1277-0C4F-8F99-2B06C06C3663}" type="slidenum">
              <a:rPr lang="en-US" smtClean="0"/>
              <a:t>24</a:t>
            </a:fld>
            <a:endParaRPr lang="en-US"/>
          </a:p>
        </p:txBody>
      </p:sp>
    </p:spTree>
    <p:extLst>
      <p:ext uri="{BB962C8B-B14F-4D97-AF65-F5344CB8AC3E}">
        <p14:creationId xmlns:p14="http://schemas.microsoft.com/office/powerpoint/2010/main" val="17966908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0CE81-F0DE-6001-78C8-693004F701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538D8B3-272B-3137-D1F2-A886283672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D65F16-A6F5-5629-D2E4-26E246407298}"/>
              </a:ext>
            </a:extLst>
          </p:cNvPr>
          <p:cNvSpPr>
            <a:spLocks noGrp="1"/>
          </p:cNvSpPr>
          <p:nvPr>
            <p:ph type="dt" sz="half" idx="10"/>
          </p:nvPr>
        </p:nvSpPr>
        <p:spPr/>
        <p:txBody>
          <a:bodyPr/>
          <a:lstStyle/>
          <a:p>
            <a:fld id="{FF4AA42B-69D5-464D-8FD3-FCBED9ED63AF}" type="datetimeFigureOut">
              <a:rPr lang="en-US" smtClean="0"/>
              <a:t>11/27/25</a:t>
            </a:fld>
            <a:endParaRPr lang="en-US"/>
          </a:p>
        </p:txBody>
      </p:sp>
      <p:sp>
        <p:nvSpPr>
          <p:cNvPr id="5" name="Footer Placeholder 4">
            <a:extLst>
              <a:ext uri="{FF2B5EF4-FFF2-40B4-BE49-F238E27FC236}">
                <a16:creationId xmlns:a16="http://schemas.microsoft.com/office/drawing/2014/main" id="{3EEAF1BC-D6CC-3EBE-D880-A6750B74BF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654C5E-2B15-C7A5-FD41-CB54F7AADB9F}"/>
              </a:ext>
            </a:extLst>
          </p:cNvPr>
          <p:cNvSpPr>
            <a:spLocks noGrp="1"/>
          </p:cNvSpPr>
          <p:nvPr>
            <p:ph type="sldNum" sz="quarter" idx="12"/>
          </p:nvPr>
        </p:nvSpPr>
        <p:spPr/>
        <p:txBody>
          <a:bodyPr/>
          <a:lstStyle/>
          <a:p>
            <a:fld id="{4C8A547A-BFA3-3647-BF59-F4B93FB5D86B}" type="slidenum">
              <a:rPr lang="en-US" smtClean="0"/>
              <a:t>‹#›</a:t>
            </a:fld>
            <a:endParaRPr lang="en-US"/>
          </a:p>
        </p:txBody>
      </p:sp>
    </p:spTree>
    <p:extLst>
      <p:ext uri="{BB962C8B-B14F-4D97-AF65-F5344CB8AC3E}">
        <p14:creationId xmlns:p14="http://schemas.microsoft.com/office/powerpoint/2010/main" val="2152411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CDC18-3861-CA3A-D8F5-4C8EDB62A5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CB01E3-48B2-EE2B-A6B5-B0B6FD4BAEB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6B7353-F8A8-676D-E9C1-3B61434E4581}"/>
              </a:ext>
            </a:extLst>
          </p:cNvPr>
          <p:cNvSpPr>
            <a:spLocks noGrp="1"/>
          </p:cNvSpPr>
          <p:nvPr>
            <p:ph type="dt" sz="half" idx="10"/>
          </p:nvPr>
        </p:nvSpPr>
        <p:spPr/>
        <p:txBody>
          <a:bodyPr/>
          <a:lstStyle/>
          <a:p>
            <a:fld id="{FF4AA42B-69D5-464D-8FD3-FCBED9ED63AF}" type="datetimeFigureOut">
              <a:rPr lang="en-US" smtClean="0"/>
              <a:t>11/27/25</a:t>
            </a:fld>
            <a:endParaRPr lang="en-US"/>
          </a:p>
        </p:txBody>
      </p:sp>
      <p:sp>
        <p:nvSpPr>
          <p:cNvPr id="5" name="Footer Placeholder 4">
            <a:extLst>
              <a:ext uri="{FF2B5EF4-FFF2-40B4-BE49-F238E27FC236}">
                <a16:creationId xmlns:a16="http://schemas.microsoft.com/office/drawing/2014/main" id="{2F71167D-1A0A-D011-9C09-F80A6A42D5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D6D729-32EC-9724-2430-048A145E93F4}"/>
              </a:ext>
            </a:extLst>
          </p:cNvPr>
          <p:cNvSpPr>
            <a:spLocks noGrp="1"/>
          </p:cNvSpPr>
          <p:nvPr>
            <p:ph type="sldNum" sz="quarter" idx="12"/>
          </p:nvPr>
        </p:nvSpPr>
        <p:spPr/>
        <p:txBody>
          <a:bodyPr/>
          <a:lstStyle/>
          <a:p>
            <a:fld id="{4C8A547A-BFA3-3647-BF59-F4B93FB5D86B}" type="slidenum">
              <a:rPr lang="en-US" smtClean="0"/>
              <a:t>‹#›</a:t>
            </a:fld>
            <a:endParaRPr lang="en-US"/>
          </a:p>
        </p:txBody>
      </p:sp>
    </p:spTree>
    <p:extLst>
      <p:ext uri="{BB962C8B-B14F-4D97-AF65-F5344CB8AC3E}">
        <p14:creationId xmlns:p14="http://schemas.microsoft.com/office/powerpoint/2010/main" val="3022783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9AF47-85FD-2ED5-DB8B-77AFADF536F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21FDB1B-B808-9F86-933C-9DA9C0AED71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E84FC8-D3A2-7CBD-1E06-6C479D70322D}"/>
              </a:ext>
            </a:extLst>
          </p:cNvPr>
          <p:cNvSpPr>
            <a:spLocks noGrp="1"/>
          </p:cNvSpPr>
          <p:nvPr>
            <p:ph type="dt" sz="half" idx="10"/>
          </p:nvPr>
        </p:nvSpPr>
        <p:spPr/>
        <p:txBody>
          <a:bodyPr/>
          <a:lstStyle/>
          <a:p>
            <a:fld id="{FF4AA42B-69D5-464D-8FD3-FCBED9ED63AF}" type="datetimeFigureOut">
              <a:rPr lang="en-US" smtClean="0"/>
              <a:t>11/27/25</a:t>
            </a:fld>
            <a:endParaRPr lang="en-US"/>
          </a:p>
        </p:txBody>
      </p:sp>
      <p:sp>
        <p:nvSpPr>
          <p:cNvPr id="5" name="Footer Placeholder 4">
            <a:extLst>
              <a:ext uri="{FF2B5EF4-FFF2-40B4-BE49-F238E27FC236}">
                <a16:creationId xmlns:a16="http://schemas.microsoft.com/office/drawing/2014/main" id="{4D7B0AAE-F995-A7BC-68E5-0B0D49BE38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77FBFA-4A23-1D3A-50FE-1CFFE6508BA5}"/>
              </a:ext>
            </a:extLst>
          </p:cNvPr>
          <p:cNvSpPr>
            <a:spLocks noGrp="1"/>
          </p:cNvSpPr>
          <p:nvPr>
            <p:ph type="sldNum" sz="quarter" idx="12"/>
          </p:nvPr>
        </p:nvSpPr>
        <p:spPr/>
        <p:txBody>
          <a:bodyPr/>
          <a:lstStyle/>
          <a:p>
            <a:fld id="{4C8A547A-BFA3-3647-BF59-F4B93FB5D86B}" type="slidenum">
              <a:rPr lang="en-US" smtClean="0"/>
              <a:t>‹#›</a:t>
            </a:fld>
            <a:endParaRPr lang="en-US"/>
          </a:p>
        </p:txBody>
      </p:sp>
    </p:spTree>
    <p:extLst>
      <p:ext uri="{BB962C8B-B14F-4D97-AF65-F5344CB8AC3E}">
        <p14:creationId xmlns:p14="http://schemas.microsoft.com/office/powerpoint/2010/main" val="171089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F8A87-E0B3-ABCB-6C11-4A5A1AB576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DC76E27-BDF6-09C0-3351-AB8FF64B4A8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9B058B3-41D3-5508-409F-908B9879FE9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AE3688B-8FCA-F8F4-1338-EADE698B4D01}"/>
              </a:ext>
            </a:extLst>
          </p:cNvPr>
          <p:cNvSpPr>
            <a:spLocks noGrp="1"/>
          </p:cNvSpPr>
          <p:nvPr>
            <p:ph type="dt" sz="half" idx="10"/>
          </p:nvPr>
        </p:nvSpPr>
        <p:spPr/>
        <p:txBody>
          <a:bodyPr/>
          <a:lstStyle/>
          <a:p>
            <a:fld id="{FF4AA42B-69D5-464D-8FD3-FCBED9ED63AF}" type="datetimeFigureOut">
              <a:rPr lang="en-US" smtClean="0"/>
              <a:t>11/27/25</a:t>
            </a:fld>
            <a:endParaRPr lang="en-US"/>
          </a:p>
        </p:txBody>
      </p:sp>
      <p:sp>
        <p:nvSpPr>
          <p:cNvPr id="6" name="Footer Placeholder 5">
            <a:extLst>
              <a:ext uri="{FF2B5EF4-FFF2-40B4-BE49-F238E27FC236}">
                <a16:creationId xmlns:a16="http://schemas.microsoft.com/office/drawing/2014/main" id="{4EEA167B-8054-6D2E-2087-C1ADACE0C1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9B719B-5F95-50EF-F1EA-3C8D33DABB3B}"/>
              </a:ext>
            </a:extLst>
          </p:cNvPr>
          <p:cNvSpPr>
            <a:spLocks noGrp="1"/>
          </p:cNvSpPr>
          <p:nvPr>
            <p:ph type="sldNum" sz="quarter" idx="12"/>
          </p:nvPr>
        </p:nvSpPr>
        <p:spPr/>
        <p:txBody>
          <a:bodyPr/>
          <a:lstStyle/>
          <a:p>
            <a:fld id="{4C8A547A-BFA3-3647-BF59-F4B93FB5D86B}" type="slidenum">
              <a:rPr lang="en-US" smtClean="0"/>
              <a:t>‹#›</a:t>
            </a:fld>
            <a:endParaRPr lang="en-US"/>
          </a:p>
        </p:txBody>
      </p:sp>
    </p:spTree>
    <p:extLst>
      <p:ext uri="{BB962C8B-B14F-4D97-AF65-F5344CB8AC3E}">
        <p14:creationId xmlns:p14="http://schemas.microsoft.com/office/powerpoint/2010/main" val="2765469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D5311-1169-DF6B-17A2-F508A34BFD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5FC449-03D0-75EC-1D4C-24227B7960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38411D-A71F-7352-BFDD-EAEB1B2C79A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A38C54C-07F6-BD31-829C-03F6B1F5F3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DBEF96F-5384-CDAC-15CB-7C7C7F361E5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279E8DA-BB0F-7250-0305-396F0D0DF119}"/>
              </a:ext>
            </a:extLst>
          </p:cNvPr>
          <p:cNvSpPr>
            <a:spLocks noGrp="1"/>
          </p:cNvSpPr>
          <p:nvPr>
            <p:ph type="dt" sz="half" idx="10"/>
          </p:nvPr>
        </p:nvSpPr>
        <p:spPr/>
        <p:txBody>
          <a:bodyPr/>
          <a:lstStyle/>
          <a:p>
            <a:fld id="{FF4AA42B-69D5-464D-8FD3-FCBED9ED63AF}" type="datetimeFigureOut">
              <a:rPr lang="en-US" smtClean="0"/>
              <a:t>11/27/25</a:t>
            </a:fld>
            <a:endParaRPr lang="en-US"/>
          </a:p>
        </p:txBody>
      </p:sp>
      <p:sp>
        <p:nvSpPr>
          <p:cNvPr id="8" name="Footer Placeholder 7">
            <a:extLst>
              <a:ext uri="{FF2B5EF4-FFF2-40B4-BE49-F238E27FC236}">
                <a16:creationId xmlns:a16="http://schemas.microsoft.com/office/drawing/2014/main" id="{1D79955A-BECA-ECDF-AC8B-9851367CF2C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9F34B3C-A070-0715-F1EC-3987F77408A7}"/>
              </a:ext>
            </a:extLst>
          </p:cNvPr>
          <p:cNvSpPr>
            <a:spLocks noGrp="1"/>
          </p:cNvSpPr>
          <p:nvPr>
            <p:ph type="sldNum" sz="quarter" idx="12"/>
          </p:nvPr>
        </p:nvSpPr>
        <p:spPr/>
        <p:txBody>
          <a:bodyPr/>
          <a:lstStyle/>
          <a:p>
            <a:fld id="{4C8A547A-BFA3-3647-BF59-F4B93FB5D86B}" type="slidenum">
              <a:rPr lang="en-US" smtClean="0"/>
              <a:t>‹#›</a:t>
            </a:fld>
            <a:endParaRPr lang="en-US"/>
          </a:p>
        </p:txBody>
      </p:sp>
    </p:spTree>
    <p:extLst>
      <p:ext uri="{BB962C8B-B14F-4D97-AF65-F5344CB8AC3E}">
        <p14:creationId xmlns:p14="http://schemas.microsoft.com/office/powerpoint/2010/main" val="39362608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241B5-399D-B034-997E-F6AD982FE32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3FEBB87-3000-5FA6-DCE9-B7D1F63332E2}"/>
              </a:ext>
            </a:extLst>
          </p:cNvPr>
          <p:cNvSpPr>
            <a:spLocks noGrp="1"/>
          </p:cNvSpPr>
          <p:nvPr>
            <p:ph type="dt" sz="half" idx="10"/>
          </p:nvPr>
        </p:nvSpPr>
        <p:spPr/>
        <p:txBody>
          <a:bodyPr/>
          <a:lstStyle/>
          <a:p>
            <a:fld id="{FF4AA42B-69D5-464D-8FD3-FCBED9ED63AF}" type="datetimeFigureOut">
              <a:rPr lang="en-US" smtClean="0"/>
              <a:t>11/27/25</a:t>
            </a:fld>
            <a:endParaRPr lang="en-US"/>
          </a:p>
        </p:txBody>
      </p:sp>
      <p:sp>
        <p:nvSpPr>
          <p:cNvPr id="4" name="Footer Placeholder 3">
            <a:extLst>
              <a:ext uri="{FF2B5EF4-FFF2-40B4-BE49-F238E27FC236}">
                <a16:creationId xmlns:a16="http://schemas.microsoft.com/office/drawing/2014/main" id="{CC8E64F4-2C46-3FA3-3632-CC1735E6B2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E500F66-E017-8CA9-9A2A-878EF9BE8F08}"/>
              </a:ext>
            </a:extLst>
          </p:cNvPr>
          <p:cNvSpPr>
            <a:spLocks noGrp="1"/>
          </p:cNvSpPr>
          <p:nvPr>
            <p:ph type="sldNum" sz="quarter" idx="12"/>
          </p:nvPr>
        </p:nvSpPr>
        <p:spPr/>
        <p:txBody>
          <a:bodyPr/>
          <a:lstStyle/>
          <a:p>
            <a:fld id="{4C8A547A-BFA3-3647-BF59-F4B93FB5D86B}" type="slidenum">
              <a:rPr lang="en-US" smtClean="0"/>
              <a:t>‹#›</a:t>
            </a:fld>
            <a:endParaRPr lang="en-US"/>
          </a:p>
        </p:txBody>
      </p:sp>
    </p:spTree>
    <p:extLst>
      <p:ext uri="{BB962C8B-B14F-4D97-AF65-F5344CB8AC3E}">
        <p14:creationId xmlns:p14="http://schemas.microsoft.com/office/powerpoint/2010/main" val="5684471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90AD78-81F6-62D7-C105-8881F10B5D88}"/>
              </a:ext>
            </a:extLst>
          </p:cNvPr>
          <p:cNvSpPr>
            <a:spLocks noGrp="1"/>
          </p:cNvSpPr>
          <p:nvPr>
            <p:ph type="dt" sz="half" idx="10"/>
          </p:nvPr>
        </p:nvSpPr>
        <p:spPr/>
        <p:txBody>
          <a:bodyPr/>
          <a:lstStyle/>
          <a:p>
            <a:fld id="{FF4AA42B-69D5-464D-8FD3-FCBED9ED63AF}" type="datetimeFigureOut">
              <a:rPr lang="en-US" smtClean="0"/>
              <a:t>11/27/25</a:t>
            </a:fld>
            <a:endParaRPr lang="en-US"/>
          </a:p>
        </p:txBody>
      </p:sp>
      <p:sp>
        <p:nvSpPr>
          <p:cNvPr id="3" name="Footer Placeholder 2">
            <a:extLst>
              <a:ext uri="{FF2B5EF4-FFF2-40B4-BE49-F238E27FC236}">
                <a16:creationId xmlns:a16="http://schemas.microsoft.com/office/drawing/2014/main" id="{4B136187-48F4-9A2B-7F05-D8229A671DD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C998DB4-07BD-3E85-A188-07D49DCFC74D}"/>
              </a:ext>
            </a:extLst>
          </p:cNvPr>
          <p:cNvSpPr>
            <a:spLocks noGrp="1"/>
          </p:cNvSpPr>
          <p:nvPr>
            <p:ph type="sldNum" sz="quarter" idx="12"/>
          </p:nvPr>
        </p:nvSpPr>
        <p:spPr/>
        <p:txBody>
          <a:bodyPr/>
          <a:lstStyle/>
          <a:p>
            <a:fld id="{4C8A547A-BFA3-3647-BF59-F4B93FB5D86B}" type="slidenum">
              <a:rPr lang="en-US" smtClean="0"/>
              <a:t>‹#›</a:t>
            </a:fld>
            <a:endParaRPr lang="en-US"/>
          </a:p>
        </p:txBody>
      </p:sp>
    </p:spTree>
    <p:extLst>
      <p:ext uri="{BB962C8B-B14F-4D97-AF65-F5344CB8AC3E}">
        <p14:creationId xmlns:p14="http://schemas.microsoft.com/office/powerpoint/2010/main" val="2719342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378AC-C453-1FE0-D9C7-A2A108F6D1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8C19BA1-C8FE-EDAA-BD47-E9FCE9237E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2EAA776-AAF2-55F9-AADC-B203F222A6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C884E7-0EAB-C939-8C05-FF6E6416B59D}"/>
              </a:ext>
            </a:extLst>
          </p:cNvPr>
          <p:cNvSpPr>
            <a:spLocks noGrp="1"/>
          </p:cNvSpPr>
          <p:nvPr>
            <p:ph type="dt" sz="half" idx="10"/>
          </p:nvPr>
        </p:nvSpPr>
        <p:spPr/>
        <p:txBody>
          <a:bodyPr/>
          <a:lstStyle/>
          <a:p>
            <a:fld id="{FF4AA42B-69D5-464D-8FD3-FCBED9ED63AF}" type="datetimeFigureOut">
              <a:rPr lang="en-US" smtClean="0"/>
              <a:t>11/27/25</a:t>
            </a:fld>
            <a:endParaRPr lang="en-US"/>
          </a:p>
        </p:txBody>
      </p:sp>
      <p:sp>
        <p:nvSpPr>
          <p:cNvPr id="6" name="Footer Placeholder 5">
            <a:extLst>
              <a:ext uri="{FF2B5EF4-FFF2-40B4-BE49-F238E27FC236}">
                <a16:creationId xmlns:a16="http://schemas.microsoft.com/office/drawing/2014/main" id="{A7F69EB8-AD00-E298-3F55-24E39ADBB2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87B4E3-C229-F214-C754-826D1F6EA0E3}"/>
              </a:ext>
            </a:extLst>
          </p:cNvPr>
          <p:cNvSpPr>
            <a:spLocks noGrp="1"/>
          </p:cNvSpPr>
          <p:nvPr>
            <p:ph type="sldNum" sz="quarter" idx="12"/>
          </p:nvPr>
        </p:nvSpPr>
        <p:spPr/>
        <p:txBody>
          <a:bodyPr/>
          <a:lstStyle/>
          <a:p>
            <a:fld id="{4C8A547A-BFA3-3647-BF59-F4B93FB5D86B}" type="slidenum">
              <a:rPr lang="en-US" smtClean="0"/>
              <a:t>‹#›</a:t>
            </a:fld>
            <a:endParaRPr lang="en-US"/>
          </a:p>
        </p:txBody>
      </p:sp>
    </p:spTree>
    <p:extLst>
      <p:ext uri="{BB962C8B-B14F-4D97-AF65-F5344CB8AC3E}">
        <p14:creationId xmlns:p14="http://schemas.microsoft.com/office/powerpoint/2010/main" val="2803535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D079D-00E5-7137-D84B-B2A76DB94D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EA240A0-12F1-C4C7-D19C-5DDB895BA1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10254CB-CBE3-7ADA-06EF-7CCF833A75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43C45C-F82D-AF58-00C1-3D8A3C6D7031}"/>
              </a:ext>
            </a:extLst>
          </p:cNvPr>
          <p:cNvSpPr>
            <a:spLocks noGrp="1"/>
          </p:cNvSpPr>
          <p:nvPr>
            <p:ph type="dt" sz="half" idx="10"/>
          </p:nvPr>
        </p:nvSpPr>
        <p:spPr/>
        <p:txBody>
          <a:bodyPr/>
          <a:lstStyle/>
          <a:p>
            <a:fld id="{FF4AA42B-69D5-464D-8FD3-FCBED9ED63AF}" type="datetimeFigureOut">
              <a:rPr lang="en-US" smtClean="0"/>
              <a:t>11/27/25</a:t>
            </a:fld>
            <a:endParaRPr lang="en-US"/>
          </a:p>
        </p:txBody>
      </p:sp>
      <p:sp>
        <p:nvSpPr>
          <p:cNvPr id="6" name="Footer Placeholder 5">
            <a:extLst>
              <a:ext uri="{FF2B5EF4-FFF2-40B4-BE49-F238E27FC236}">
                <a16:creationId xmlns:a16="http://schemas.microsoft.com/office/drawing/2014/main" id="{D18B8683-4E21-99CD-74DF-5460777DEA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8B9D76-995F-5A9E-26E5-A8972FD7103C}"/>
              </a:ext>
            </a:extLst>
          </p:cNvPr>
          <p:cNvSpPr>
            <a:spLocks noGrp="1"/>
          </p:cNvSpPr>
          <p:nvPr>
            <p:ph type="sldNum" sz="quarter" idx="12"/>
          </p:nvPr>
        </p:nvSpPr>
        <p:spPr/>
        <p:txBody>
          <a:bodyPr/>
          <a:lstStyle/>
          <a:p>
            <a:fld id="{4C8A547A-BFA3-3647-BF59-F4B93FB5D86B}" type="slidenum">
              <a:rPr lang="en-US" smtClean="0"/>
              <a:t>‹#›</a:t>
            </a:fld>
            <a:endParaRPr lang="en-US"/>
          </a:p>
        </p:txBody>
      </p:sp>
    </p:spTree>
    <p:extLst>
      <p:ext uri="{BB962C8B-B14F-4D97-AF65-F5344CB8AC3E}">
        <p14:creationId xmlns:p14="http://schemas.microsoft.com/office/powerpoint/2010/main" val="1092721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5A635-A464-6ACD-2CB9-8C03FCF3D87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047F80D-59B7-CFEC-76D4-41C8A1DAC2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1B3E21-6607-75E6-3146-23153F7DC686}"/>
              </a:ext>
            </a:extLst>
          </p:cNvPr>
          <p:cNvSpPr>
            <a:spLocks noGrp="1"/>
          </p:cNvSpPr>
          <p:nvPr>
            <p:ph type="dt" sz="half" idx="10"/>
          </p:nvPr>
        </p:nvSpPr>
        <p:spPr/>
        <p:txBody>
          <a:bodyPr/>
          <a:lstStyle/>
          <a:p>
            <a:fld id="{FF4AA42B-69D5-464D-8FD3-FCBED9ED63AF}" type="datetimeFigureOut">
              <a:rPr lang="en-US" smtClean="0"/>
              <a:t>11/27/25</a:t>
            </a:fld>
            <a:endParaRPr lang="en-US"/>
          </a:p>
        </p:txBody>
      </p:sp>
      <p:sp>
        <p:nvSpPr>
          <p:cNvPr id="5" name="Footer Placeholder 4">
            <a:extLst>
              <a:ext uri="{FF2B5EF4-FFF2-40B4-BE49-F238E27FC236}">
                <a16:creationId xmlns:a16="http://schemas.microsoft.com/office/drawing/2014/main" id="{4F088D89-511D-CD8D-42A1-751A1F9154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C00000-327D-B0E5-EDAA-37FE639250CD}"/>
              </a:ext>
            </a:extLst>
          </p:cNvPr>
          <p:cNvSpPr>
            <a:spLocks noGrp="1"/>
          </p:cNvSpPr>
          <p:nvPr>
            <p:ph type="sldNum" sz="quarter" idx="12"/>
          </p:nvPr>
        </p:nvSpPr>
        <p:spPr/>
        <p:txBody>
          <a:bodyPr/>
          <a:lstStyle/>
          <a:p>
            <a:fld id="{4C8A547A-BFA3-3647-BF59-F4B93FB5D86B}" type="slidenum">
              <a:rPr lang="en-US" smtClean="0"/>
              <a:t>‹#›</a:t>
            </a:fld>
            <a:endParaRPr lang="en-US"/>
          </a:p>
        </p:txBody>
      </p:sp>
    </p:spTree>
    <p:extLst>
      <p:ext uri="{BB962C8B-B14F-4D97-AF65-F5344CB8AC3E}">
        <p14:creationId xmlns:p14="http://schemas.microsoft.com/office/powerpoint/2010/main" val="1455638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51BE86-A702-C080-BE75-6C7EA3D0380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CDB5E70-0371-7837-A42D-88E7465394F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7F6EFE-C66C-FA1C-6C44-C42FE5F502EB}"/>
              </a:ext>
            </a:extLst>
          </p:cNvPr>
          <p:cNvSpPr>
            <a:spLocks noGrp="1"/>
          </p:cNvSpPr>
          <p:nvPr>
            <p:ph type="dt" sz="half" idx="10"/>
          </p:nvPr>
        </p:nvSpPr>
        <p:spPr/>
        <p:txBody>
          <a:bodyPr/>
          <a:lstStyle/>
          <a:p>
            <a:fld id="{FF4AA42B-69D5-464D-8FD3-FCBED9ED63AF}" type="datetimeFigureOut">
              <a:rPr lang="en-US" smtClean="0"/>
              <a:t>11/27/25</a:t>
            </a:fld>
            <a:endParaRPr lang="en-US"/>
          </a:p>
        </p:txBody>
      </p:sp>
      <p:sp>
        <p:nvSpPr>
          <p:cNvPr id="5" name="Footer Placeholder 4">
            <a:extLst>
              <a:ext uri="{FF2B5EF4-FFF2-40B4-BE49-F238E27FC236}">
                <a16:creationId xmlns:a16="http://schemas.microsoft.com/office/drawing/2014/main" id="{FD1496FE-2C60-348F-3586-7A869D574D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33E26B-BA44-998A-424D-7724E5BB5FAF}"/>
              </a:ext>
            </a:extLst>
          </p:cNvPr>
          <p:cNvSpPr>
            <a:spLocks noGrp="1"/>
          </p:cNvSpPr>
          <p:nvPr>
            <p:ph type="sldNum" sz="quarter" idx="12"/>
          </p:nvPr>
        </p:nvSpPr>
        <p:spPr/>
        <p:txBody>
          <a:bodyPr/>
          <a:lstStyle/>
          <a:p>
            <a:fld id="{4C8A547A-BFA3-3647-BF59-F4B93FB5D86B}" type="slidenum">
              <a:rPr lang="en-US" smtClean="0"/>
              <a:t>‹#›</a:t>
            </a:fld>
            <a:endParaRPr lang="en-US"/>
          </a:p>
        </p:txBody>
      </p:sp>
    </p:spTree>
    <p:extLst>
      <p:ext uri="{BB962C8B-B14F-4D97-AF65-F5344CB8AC3E}">
        <p14:creationId xmlns:p14="http://schemas.microsoft.com/office/powerpoint/2010/main" val="1730238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1C2B16-131D-C2B6-2652-BF7157A522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3C82357-0758-00BE-7139-01FD28150C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CEA035-8D18-1E0F-FD79-41D958D3F5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F4AA42B-69D5-464D-8FD3-FCBED9ED63AF}" type="datetimeFigureOut">
              <a:rPr lang="en-US" smtClean="0"/>
              <a:t>11/27/25</a:t>
            </a:fld>
            <a:endParaRPr lang="en-US"/>
          </a:p>
        </p:txBody>
      </p:sp>
      <p:sp>
        <p:nvSpPr>
          <p:cNvPr id="5" name="Footer Placeholder 4">
            <a:extLst>
              <a:ext uri="{FF2B5EF4-FFF2-40B4-BE49-F238E27FC236}">
                <a16:creationId xmlns:a16="http://schemas.microsoft.com/office/drawing/2014/main" id="{1070094C-C773-91C0-123A-5B92EA2EAB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7B6B0A4-A7CE-7118-40EA-3FC67AC97D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C8A547A-BFA3-3647-BF59-F4B93FB5D86B}" type="slidenum">
              <a:rPr lang="en-US" smtClean="0"/>
              <a:t>‹#›</a:t>
            </a:fld>
            <a:endParaRPr lang="en-US"/>
          </a:p>
        </p:txBody>
      </p:sp>
    </p:spTree>
    <p:extLst>
      <p:ext uri="{BB962C8B-B14F-4D97-AF65-F5344CB8AC3E}">
        <p14:creationId xmlns:p14="http://schemas.microsoft.com/office/powerpoint/2010/main" val="13265510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drsh0755/spotify-playlist-mining"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36ED7-9620-90A7-4CD8-E2EEC73B82AA}"/>
              </a:ext>
            </a:extLst>
          </p:cNvPr>
          <p:cNvSpPr>
            <a:spLocks noGrp="1"/>
          </p:cNvSpPr>
          <p:nvPr>
            <p:ph type="ctrTitle"/>
          </p:nvPr>
        </p:nvSpPr>
        <p:spPr/>
        <p:txBody>
          <a:bodyPr>
            <a:normAutofit fontScale="90000"/>
          </a:bodyPr>
          <a:lstStyle/>
          <a:p>
            <a:r>
              <a:rPr lang="en-US" dirty="0"/>
              <a:t>SPOTIFY PLAYLIST EXTENSION WITH PATTERN MINING AND CLUSTERING</a:t>
            </a:r>
          </a:p>
        </p:txBody>
      </p:sp>
      <p:sp>
        <p:nvSpPr>
          <p:cNvPr id="3" name="Subtitle 2">
            <a:extLst>
              <a:ext uri="{FF2B5EF4-FFF2-40B4-BE49-F238E27FC236}">
                <a16:creationId xmlns:a16="http://schemas.microsoft.com/office/drawing/2014/main" id="{14962E4D-8102-AA80-0A59-1F475DCA09EC}"/>
              </a:ext>
            </a:extLst>
          </p:cNvPr>
          <p:cNvSpPr>
            <a:spLocks noGrp="1"/>
          </p:cNvSpPr>
          <p:nvPr>
            <p:ph type="subTitle" idx="1"/>
          </p:nvPr>
        </p:nvSpPr>
        <p:spPr/>
        <p:txBody>
          <a:bodyPr/>
          <a:lstStyle/>
          <a:p>
            <a:r>
              <a:rPr lang="en-US" dirty="0"/>
              <a:t>Automatic Playlist Continuation Using Association Rules, Clustering, and Hybrid Recommendation Models</a:t>
            </a:r>
          </a:p>
        </p:txBody>
      </p:sp>
      <p:sp>
        <p:nvSpPr>
          <p:cNvPr id="4" name="Subtitle 2">
            <a:extLst>
              <a:ext uri="{FF2B5EF4-FFF2-40B4-BE49-F238E27FC236}">
                <a16:creationId xmlns:a16="http://schemas.microsoft.com/office/drawing/2014/main" id="{2FA1BF4A-E708-BF7B-5A47-4F65570BCA75}"/>
              </a:ext>
            </a:extLst>
          </p:cNvPr>
          <p:cNvSpPr txBox="1">
            <a:spLocks/>
          </p:cNvSpPr>
          <p:nvPr/>
        </p:nvSpPr>
        <p:spPr>
          <a:xfrm>
            <a:off x="1524000" y="5246348"/>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50" dirty="0"/>
              <a:t>Adarsh Singh </a:t>
            </a:r>
          </a:p>
          <a:p>
            <a:r>
              <a:rPr lang="en-US" sz="1050" dirty="0"/>
              <a:t>CSCI 6443: Data Mining </a:t>
            </a:r>
          </a:p>
          <a:p>
            <a:r>
              <a:rPr lang="en-US" sz="1050" dirty="0"/>
              <a:t>George Washington University </a:t>
            </a:r>
          </a:p>
          <a:p>
            <a:r>
              <a:rPr lang="en-US" sz="1050" dirty="0"/>
              <a:t>Fall 2025</a:t>
            </a:r>
          </a:p>
          <a:p>
            <a:r>
              <a:rPr lang="en-US" sz="1050" dirty="0"/>
              <a:t>Project </a:t>
            </a:r>
            <a:r>
              <a:rPr lang="en-US" sz="1100" dirty="0"/>
              <a:t>Repo: </a:t>
            </a:r>
            <a:r>
              <a:rPr lang="en-US" sz="1100" dirty="0">
                <a:hlinkClick r:id="rId3">
                  <a:extLst>
                    <a:ext uri="{A12FA001-AC4F-418D-AE19-62706E023703}">
                      <ahyp:hlinkClr xmlns:ahyp="http://schemas.microsoft.com/office/drawing/2018/hyperlinkcolor" val="tx"/>
                    </a:ext>
                  </a:extLst>
                </a:hlinkClick>
              </a:rPr>
              <a:t>spotify-playlist-mining</a:t>
            </a:r>
            <a:endParaRPr lang="en-US" sz="1100" dirty="0"/>
          </a:p>
          <a:p>
            <a:r>
              <a:rPr lang="en-US" sz="1050" dirty="0"/>
              <a:t>Dataset: Spotify Million Playlist Dataset https://</a:t>
            </a:r>
            <a:r>
              <a:rPr lang="en-US" sz="1050" dirty="0" err="1"/>
              <a:t>www.aicrowd.com</a:t>
            </a:r>
            <a:r>
              <a:rPr lang="en-US" sz="1050" dirty="0"/>
              <a:t>/challenges/</a:t>
            </a:r>
            <a:r>
              <a:rPr lang="en-US" sz="1050" dirty="0" err="1"/>
              <a:t>spotify</a:t>
            </a:r>
            <a:r>
              <a:rPr lang="en-US" sz="1050" dirty="0"/>
              <a:t>-million-playlist-dataset-challenge</a:t>
            </a:r>
          </a:p>
        </p:txBody>
      </p:sp>
    </p:spTree>
    <p:extLst>
      <p:ext uri="{BB962C8B-B14F-4D97-AF65-F5344CB8AC3E}">
        <p14:creationId xmlns:p14="http://schemas.microsoft.com/office/powerpoint/2010/main" val="30845786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CD23B3-17EB-BDA2-5A8C-96B6E2FF2BE7}"/>
              </a:ext>
            </a:extLst>
          </p:cNvPr>
          <p:cNvSpPr>
            <a:spLocks noGrp="1"/>
          </p:cNvSpPr>
          <p:nvPr>
            <p:ph idx="1"/>
          </p:nvPr>
        </p:nvSpPr>
        <p:spPr>
          <a:xfrm>
            <a:off x="838200" y="1253331"/>
            <a:ext cx="10515600" cy="4351338"/>
          </a:xfrm>
        </p:spPr>
        <p:txBody>
          <a:bodyPr>
            <a:normAutofit lnSpcReduction="10000"/>
          </a:bodyPr>
          <a:lstStyle/>
          <a:p>
            <a:pPr marL="0" indent="0">
              <a:buNone/>
            </a:pPr>
            <a:r>
              <a:rPr lang="en-US" dirty="0"/>
              <a:t>THE CHALLENGE:</a:t>
            </a:r>
          </a:p>
          <a:p>
            <a:pPr marL="0" indent="0">
              <a:buNone/>
            </a:pPr>
            <a:r>
              <a:rPr lang="en-US" dirty="0"/>
              <a:t>☹️ Users abandon playlists without good continuations</a:t>
            </a:r>
          </a:p>
          <a:p>
            <a:pPr marL="0" indent="0">
              <a:buNone/>
            </a:pPr>
            <a:r>
              <a:rPr lang="en-US" dirty="0"/>
              <a:t>🎵 Platforms need contextually relevant recommendations  </a:t>
            </a:r>
          </a:p>
          <a:p>
            <a:pPr marL="0" indent="0">
              <a:buNone/>
            </a:pPr>
            <a:r>
              <a:rPr lang="en-US" dirty="0"/>
              <a:t>⚖️ Balance: Relevance, Diversity, and Serendipity</a:t>
            </a:r>
          </a:p>
          <a:p>
            <a:endParaRPr lang="en-US" dirty="0"/>
          </a:p>
          <a:p>
            <a:pPr marL="0" indent="0">
              <a:buNone/>
            </a:pPr>
            <a:r>
              <a:rPr lang="en-US" dirty="0"/>
              <a:t>WHY IT MATTERS:</a:t>
            </a:r>
          </a:p>
          <a:p>
            <a:pPr marL="0" indent="0">
              <a:buNone/>
            </a:pPr>
            <a:r>
              <a:rPr lang="en-US" dirty="0"/>
              <a:t>✓ Improves user engagement and retention</a:t>
            </a:r>
          </a:p>
          <a:p>
            <a:pPr marL="0" indent="0">
              <a:buNone/>
            </a:pPr>
            <a:r>
              <a:rPr lang="en-US" dirty="0"/>
              <a:t>✓ Increases listening time</a:t>
            </a:r>
          </a:p>
          <a:p>
            <a:pPr marL="0" indent="0">
              <a:buNone/>
            </a:pPr>
            <a:r>
              <a:rPr lang="en-US" dirty="0"/>
              <a:t>✓ Strengthens competitive advantage for streaming services</a:t>
            </a:r>
          </a:p>
        </p:txBody>
      </p:sp>
    </p:spTree>
    <p:extLst>
      <p:ext uri="{BB962C8B-B14F-4D97-AF65-F5344CB8AC3E}">
        <p14:creationId xmlns:p14="http://schemas.microsoft.com/office/powerpoint/2010/main" val="28348554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CF31E75-02BD-061B-312B-4A6A08469BA0}"/>
              </a:ext>
            </a:extLst>
          </p:cNvPr>
          <p:cNvSpPr>
            <a:spLocks noGrp="1"/>
          </p:cNvSpPr>
          <p:nvPr>
            <p:ph type="body" idx="1"/>
          </p:nvPr>
        </p:nvSpPr>
        <p:spPr>
          <a:xfrm>
            <a:off x="304800" y="1122891"/>
            <a:ext cx="3657600" cy="548640"/>
          </a:xfrm>
        </p:spPr>
        <p:txBody>
          <a:bodyPr/>
          <a:lstStyle/>
          <a:p>
            <a:r>
              <a:rPr lang="en-US" dirty="0"/>
              <a:t>RESEARCH QUESTION 1: </a:t>
            </a:r>
          </a:p>
        </p:txBody>
      </p:sp>
      <p:sp>
        <p:nvSpPr>
          <p:cNvPr id="6" name="Content Placeholder 5">
            <a:extLst>
              <a:ext uri="{FF2B5EF4-FFF2-40B4-BE49-F238E27FC236}">
                <a16:creationId xmlns:a16="http://schemas.microsoft.com/office/drawing/2014/main" id="{B5EBFD3B-02AD-B310-617A-5823E4C03427}"/>
              </a:ext>
            </a:extLst>
          </p:cNvPr>
          <p:cNvSpPr>
            <a:spLocks noGrp="1"/>
          </p:cNvSpPr>
          <p:nvPr>
            <p:ph sz="half" idx="2"/>
          </p:nvPr>
        </p:nvSpPr>
        <p:spPr>
          <a:xfrm>
            <a:off x="304800" y="2096369"/>
            <a:ext cx="3657600" cy="3291840"/>
          </a:xfrm>
        </p:spPr>
        <p:txBody>
          <a:bodyPr>
            <a:normAutofit lnSpcReduction="10000"/>
          </a:bodyPr>
          <a:lstStyle/>
          <a:p>
            <a:pPr marL="0" indent="0">
              <a:buNone/>
            </a:pPr>
            <a:r>
              <a:rPr lang="en-US" dirty="0"/>
              <a:t>🔗 Song Co-occurrence Patterns</a:t>
            </a:r>
          </a:p>
          <a:p>
            <a:pPr marL="0" indent="0">
              <a:buNone/>
            </a:pPr>
            <a:r>
              <a:rPr lang="en-US" dirty="0"/>
              <a:t> How often do songs appear together in playlists? </a:t>
            </a:r>
          </a:p>
          <a:p>
            <a:pPr marL="0" indent="0">
              <a:buNone/>
            </a:pPr>
            <a:r>
              <a:rPr lang="en-US" dirty="0"/>
              <a:t>Can this knowledge inform recommendations?</a:t>
            </a:r>
          </a:p>
        </p:txBody>
      </p:sp>
      <p:sp>
        <p:nvSpPr>
          <p:cNvPr id="7" name="Text Placeholder 6">
            <a:extLst>
              <a:ext uri="{FF2B5EF4-FFF2-40B4-BE49-F238E27FC236}">
                <a16:creationId xmlns:a16="http://schemas.microsoft.com/office/drawing/2014/main" id="{F245F760-6849-1AF1-5778-7F8DFEA2F1E9}"/>
              </a:ext>
            </a:extLst>
          </p:cNvPr>
          <p:cNvSpPr>
            <a:spLocks noGrp="1"/>
          </p:cNvSpPr>
          <p:nvPr>
            <p:ph type="body" sz="quarter" idx="3"/>
          </p:nvPr>
        </p:nvSpPr>
        <p:spPr>
          <a:xfrm>
            <a:off x="4335780" y="1122891"/>
            <a:ext cx="3657600" cy="548640"/>
          </a:xfrm>
        </p:spPr>
        <p:txBody>
          <a:bodyPr/>
          <a:lstStyle/>
          <a:p>
            <a:r>
              <a:rPr lang="en-US" dirty="0"/>
              <a:t>RESEARCH QUESTION 2:</a:t>
            </a:r>
          </a:p>
        </p:txBody>
      </p:sp>
      <p:sp>
        <p:nvSpPr>
          <p:cNvPr id="8" name="Content Placeholder 7">
            <a:extLst>
              <a:ext uri="{FF2B5EF4-FFF2-40B4-BE49-F238E27FC236}">
                <a16:creationId xmlns:a16="http://schemas.microsoft.com/office/drawing/2014/main" id="{2CAC1F39-7310-2E67-9511-D81BD03D85F6}"/>
              </a:ext>
            </a:extLst>
          </p:cNvPr>
          <p:cNvSpPr>
            <a:spLocks noGrp="1"/>
          </p:cNvSpPr>
          <p:nvPr>
            <p:ph sz="quarter" idx="4"/>
          </p:nvPr>
        </p:nvSpPr>
        <p:spPr>
          <a:xfrm>
            <a:off x="4267200" y="2096369"/>
            <a:ext cx="3657600" cy="3291840"/>
          </a:xfrm>
        </p:spPr>
        <p:txBody>
          <a:bodyPr>
            <a:normAutofit lnSpcReduction="10000"/>
          </a:bodyPr>
          <a:lstStyle/>
          <a:p>
            <a:pPr marL="0" indent="0">
              <a:buNone/>
            </a:pPr>
            <a:r>
              <a:rPr lang="en-US" dirty="0"/>
              <a:t>🗂️ Clustering Effectiveness </a:t>
            </a:r>
          </a:p>
          <a:p>
            <a:pPr marL="0" indent="0">
              <a:buNone/>
            </a:pPr>
            <a:r>
              <a:rPr lang="en-US" dirty="0"/>
              <a:t>Can we group playlists by style or genre? </a:t>
            </a:r>
          </a:p>
          <a:p>
            <a:pPr marL="0" indent="0">
              <a:buNone/>
            </a:pPr>
            <a:r>
              <a:rPr lang="en-US" dirty="0"/>
              <a:t>Does clustering improve recommendation relevance?</a:t>
            </a:r>
          </a:p>
        </p:txBody>
      </p:sp>
      <p:sp>
        <p:nvSpPr>
          <p:cNvPr id="13" name="Text Placeholder 6">
            <a:extLst>
              <a:ext uri="{FF2B5EF4-FFF2-40B4-BE49-F238E27FC236}">
                <a16:creationId xmlns:a16="http://schemas.microsoft.com/office/drawing/2014/main" id="{BF7E9110-C73E-25CD-2E12-D0599E5B6207}"/>
              </a:ext>
            </a:extLst>
          </p:cNvPr>
          <p:cNvSpPr txBox="1">
            <a:spLocks/>
          </p:cNvSpPr>
          <p:nvPr/>
        </p:nvSpPr>
        <p:spPr>
          <a:xfrm>
            <a:off x="8366760" y="1122891"/>
            <a:ext cx="3657600" cy="548640"/>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dirty="0"/>
              <a:t>RESEARCH QUESTION 3:</a:t>
            </a:r>
          </a:p>
        </p:txBody>
      </p:sp>
      <p:sp>
        <p:nvSpPr>
          <p:cNvPr id="14" name="Content Placeholder 7">
            <a:extLst>
              <a:ext uri="{FF2B5EF4-FFF2-40B4-BE49-F238E27FC236}">
                <a16:creationId xmlns:a16="http://schemas.microsoft.com/office/drawing/2014/main" id="{F17FBE71-B2EE-D124-5FBF-CF9880E94F69}"/>
              </a:ext>
            </a:extLst>
          </p:cNvPr>
          <p:cNvSpPr txBox="1">
            <a:spLocks/>
          </p:cNvSpPr>
          <p:nvPr/>
        </p:nvSpPr>
        <p:spPr>
          <a:xfrm>
            <a:off x="8229600" y="2096369"/>
            <a:ext cx="3657600" cy="3291840"/>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 Recommendation Quality </a:t>
            </a:r>
          </a:p>
          <a:p>
            <a:pPr marL="0" indent="0">
              <a:buNone/>
            </a:pPr>
            <a:r>
              <a:rPr lang="en-US" dirty="0"/>
              <a:t>Which recommendation approaches work best? </a:t>
            </a:r>
          </a:p>
          <a:p>
            <a:pPr marL="0" indent="0">
              <a:buNone/>
            </a:pPr>
            <a:r>
              <a:rPr lang="en-US" dirty="0"/>
              <a:t>How do models compare in precision and diversity?</a:t>
            </a:r>
          </a:p>
        </p:txBody>
      </p:sp>
    </p:spTree>
    <p:extLst>
      <p:ext uri="{BB962C8B-B14F-4D97-AF65-F5344CB8AC3E}">
        <p14:creationId xmlns:p14="http://schemas.microsoft.com/office/powerpoint/2010/main" val="2556578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Content Placeholder 13" descr="A screenshot of a graph&#10;&#10;AI-generated content may be incorrect.">
            <a:extLst>
              <a:ext uri="{FF2B5EF4-FFF2-40B4-BE49-F238E27FC236}">
                <a16:creationId xmlns:a16="http://schemas.microsoft.com/office/drawing/2014/main" id="{E383889B-D137-2CDA-642B-9705B3A20DC4}"/>
              </a:ext>
            </a:extLst>
          </p:cNvPr>
          <p:cNvPicPr>
            <a:picLocks noGrp="1" noChangeAspect="1"/>
          </p:cNvPicPr>
          <p:nvPr>
            <p:ph sz="half" idx="1"/>
          </p:nvPr>
        </p:nvPicPr>
        <p:blipFill>
          <a:blip r:embed="rId3"/>
          <a:stretch>
            <a:fillRect/>
          </a:stretch>
        </p:blipFill>
        <p:spPr>
          <a:xfrm>
            <a:off x="6736672" y="195728"/>
            <a:ext cx="5181600" cy="3759914"/>
          </a:xfrm>
          <a:prstGeom prst="rect">
            <a:avLst/>
          </a:prstGeom>
        </p:spPr>
      </p:pic>
      <p:pic>
        <p:nvPicPr>
          <p:cNvPr id="15" name="Content Placeholder 14" descr="A graph with a green triangle and a red line&#10;&#10;AI-generated content may be incorrect.">
            <a:extLst>
              <a:ext uri="{FF2B5EF4-FFF2-40B4-BE49-F238E27FC236}">
                <a16:creationId xmlns:a16="http://schemas.microsoft.com/office/drawing/2014/main" id="{73598E96-269C-21AC-52B0-7371B53DFC3D}"/>
              </a:ext>
            </a:extLst>
          </p:cNvPr>
          <p:cNvPicPr>
            <a:picLocks noGrp="1" noChangeAspect="1"/>
          </p:cNvPicPr>
          <p:nvPr>
            <p:ph sz="half" idx="2"/>
          </p:nvPr>
        </p:nvPicPr>
        <p:blipFill>
          <a:blip r:embed="rId4"/>
          <a:stretch>
            <a:fillRect/>
          </a:stretch>
        </p:blipFill>
        <p:spPr>
          <a:xfrm>
            <a:off x="6736672" y="4124737"/>
            <a:ext cx="5181600" cy="2590800"/>
          </a:xfrm>
          <a:prstGeom prst="rect">
            <a:avLst/>
          </a:prstGeom>
        </p:spPr>
      </p:pic>
      <p:sp>
        <p:nvSpPr>
          <p:cNvPr id="16" name="Title 12">
            <a:extLst>
              <a:ext uri="{FF2B5EF4-FFF2-40B4-BE49-F238E27FC236}">
                <a16:creationId xmlns:a16="http://schemas.microsoft.com/office/drawing/2014/main" id="{6D3E7E7B-6983-166B-0FE6-66B2F801FB20}"/>
              </a:ext>
            </a:extLst>
          </p:cNvPr>
          <p:cNvSpPr>
            <a:spLocks noGrp="1"/>
          </p:cNvSpPr>
          <p:nvPr>
            <p:ph type="title"/>
          </p:nvPr>
        </p:nvSpPr>
        <p:spPr>
          <a:xfrm>
            <a:off x="273728" y="426129"/>
            <a:ext cx="5820052" cy="1371092"/>
          </a:xfrm>
        </p:spPr>
        <p:txBody>
          <a:bodyPr/>
          <a:lstStyle/>
          <a:p>
            <a:pPr algn="ctr"/>
            <a:r>
              <a:rPr lang="en-US" dirty="0"/>
              <a:t>DATASET OVERVIEW</a:t>
            </a:r>
          </a:p>
        </p:txBody>
      </p:sp>
      <p:sp>
        <p:nvSpPr>
          <p:cNvPr id="17" name="Content Placeholder 13">
            <a:extLst>
              <a:ext uri="{FF2B5EF4-FFF2-40B4-BE49-F238E27FC236}">
                <a16:creationId xmlns:a16="http://schemas.microsoft.com/office/drawing/2014/main" id="{40632A5E-4FBD-CF0B-58DE-9214868EA8AB}"/>
              </a:ext>
            </a:extLst>
          </p:cNvPr>
          <p:cNvSpPr txBox="1">
            <a:spLocks/>
          </p:cNvSpPr>
          <p:nvPr/>
        </p:nvSpPr>
        <p:spPr>
          <a:xfrm>
            <a:off x="273728" y="1782702"/>
            <a:ext cx="5820052" cy="4500793"/>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SPOTIFY MILLION PLAYLIST DATASET (MPD)</a:t>
            </a:r>
          </a:p>
          <a:p>
            <a:endParaRPr lang="en-US" dirty="0"/>
          </a:p>
          <a:p>
            <a:pPr marL="0" indent="0">
              <a:buFont typeface="Arial" panose="020B0604020202020204" pitchFamily="34" charset="0"/>
              <a:buNone/>
            </a:pPr>
            <a:r>
              <a:rPr lang="en-US" dirty="0"/>
              <a:t>🎵 1,000,000 playlists analyzed</a:t>
            </a:r>
          </a:p>
          <a:p>
            <a:pPr marL="0" indent="0">
              <a:buFont typeface="Arial" panose="020B0604020202020204" pitchFamily="34" charset="0"/>
              <a:buNone/>
            </a:pPr>
            <a:r>
              <a:rPr lang="en-US" dirty="0"/>
              <a:t>📊 66,346,428 track entries processed</a:t>
            </a:r>
          </a:p>
          <a:p>
            <a:pPr marL="0" indent="0">
              <a:buFont typeface="Arial" panose="020B0604020202020204" pitchFamily="34" charset="0"/>
              <a:buNone/>
            </a:pPr>
            <a:r>
              <a:rPr lang="en-US" dirty="0"/>
              <a:t>🎤 2,262,292 unique tracks discovered</a:t>
            </a:r>
          </a:p>
          <a:p>
            <a:pPr marL="0" indent="0">
              <a:buFont typeface="Arial" panose="020B0604020202020204" pitchFamily="34" charset="0"/>
              <a:buNone/>
            </a:pPr>
            <a:r>
              <a:rPr lang="en-US" dirty="0"/>
              <a:t>👥 287,742 unique artists represented</a:t>
            </a:r>
          </a:p>
          <a:p>
            <a:pPr marL="0" indent="0">
              <a:buFont typeface="Arial" panose="020B0604020202020204" pitchFamily="34" charset="0"/>
              <a:buNone/>
            </a:pPr>
            <a:r>
              <a:rPr lang="en-US" dirty="0"/>
              <a:t>📈 66.3 tracks average per playlist</a:t>
            </a:r>
          </a:p>
          <a:p>
            <a:endParaRPr lang="en-US" dirty="0"/>
          </a:p>
          <a:p>
            <a:pPr marL="0" indent="0">
              <a:buFont typeface="Arial" panose="020B0604020202020204" pitchFamily="34" charset="0"/>
              <a:buNone/>
            </a:pPr>
            <a:r>
              <a:rPr lang="en-US" dirty="0"/>
              <a:t>KEY INSIGHT:</a:t>
            </a:r>
          </a:p>
          <a:p>
            <a:pPr marL="0" indent="0">
              <a:buFont typeface="Arial" panose="020B0604020202020204" pitchFamily="34" charset="0"/>
              <a:buNone/>
            </a:pPr>
            <a:r>
              <a:rPr lang="en-US" dirty="0"/>
              <a:t>This is SPARSE data. 47% of tracks appear in only 1 playlist.</a:t>
            </a:r>
          </a:p>
          <a:p>
            <a:pPr marL="0" indent="0">
              <a:buFont typeface="Arial" panose="020B0604020202020204" pitchFamily="34" charset="0"/>
              <a:buNone/>
            </a:pPr>
            <a:r>
              <a:rPr lang="en-US" dirty="0"/>
              <a:t>But within that sparseness, incredibly strong patterns emerge.</a:t>
            </a:r>
          </a:p>
        </p:txBody>
      </p:sp>
    </p:spTree>
    <p:extLst>
      <p:ext uri="{BB962C8B-B14F-4D97-AF65-F5344CB8AC3E}">
        <p14:creationId xmlns:p14="http://schemas.microsoft.com/office/powerpoint/2010/main" val="1088409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graph&#10;&#10;AI-generated content may be incorrect.">
            <a:extLst>
              <a:ext uri="{FF2B5EF4-FFF2-40B4-BE49-F238E27FC236}">
                <a16:creationId xmlns:a16="http://schemas.microsoft.com/office/drawing/2014/main" id="{6BE21EF1-6182-6E40-9D9A-B0C98CAF2B2B}"/>
              </a:ext>
            </a:extLst>
          </p:cNvPr>
          <p:cNvPicPr>
            <a:picLocks noChangeAspect="1"/>
          </p:cNvPicPr>
          <p:nvPr/>
        </p:nvPicPr>
        <p:blipFill>
          <a:blip r:embed="rId2"/>
          <a:stretch>
            <a:fillRect/>
          </a:stretch>
        </p:blipFill>
        <p:spPr>
          <a:xfrm>
            <a:off x="2209800" y="609064"/>
            <a:ext cx="7772400" cy="5639872"/>
          </a:xfrm>
          <a:prstGeom prst="rect">
            <a:avLst/>
          </a:prstGeom>
        </p:spPr>
      </p:pic>
    </p:spTree>
    <p:extLst>
      <p:ext uri="{BB962C8B-B14F-4D97-AF65-F5344CB8AC3E}">
        <p14:creationId xmlns:p14="http://schemas.microsoft.com/office/powerpoint/2010/main" val="15802927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with a green triangle and a red line&#10;&#10;AI-generated content may be incorrect.">
            <a:extLst>
              <a:ext uri="{FF2B5EF4-FFF2-40B4-BE49-F238E27FC236}">
                <a16:creationId xmlns:a16="http://schemas.microsoft.com/office/drawing/2014/main" id="{864D9547-DD8E-C9E0-6A01-9E205120E943}"/>
              </a:ext>
            </a:extLst>
          </p:cNvPr>
          <p:cNvPicPr>
            <a:picLocks noChangeAspect="1"/>
          </p:cNvPicPr>
          <p:nvPr/>
        </p:nvPicPr>
        <p:blipFill>
          <a:blip r:embed="rId2"/>
          <a:stretch>
            <a:fillRect/>
          </a:stretch>
        </p:blipFill>
        <p:spPr>
          <a:xfrm>
            <a:off x="2209800" y="1485900"/>
            <a:ext cx="7772400" cy="3886200"/>
          </a:xfrm>
          <a:prstGeom prst="rect">
            <a:avLst/>
          </a:prstGeom>
        </p:spPr>
      </p:pic>
    </p:spTree>
    <p:extLst>
      <p:ext uri="{BB962C8B-B14F-4D97-AF65-F5344CB8AC3E}">
        <p14:creationId xmlns:p14="http://schemas.microsoft.com/office/powerpoint/2010/main" val="1939917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2">
            <a:extLst>
              <a:ext uri="{FF2B5EF4-FFF2-40B4-BE49-F238E27FC236}">
                <a16:creationId xmlns:a16="http://schemas.microsoft.com/office/drawing/2014/main" id="{F5DC03F7-A815-4F46-FB59-3C7B451BDF58}"/>
              </a:ext>
            </a:extLst>
          </p:cNvPr>
          <p:cNvSpPr txBox="1">
            <a:spLocks/>
          </p:cNvSpPr>
          <p:nvPr/>
        </p:nvSpPr>
        <p:spPr>
          <a:xfrm>
            <a:off x="1712835" y="636797"/>
            <a:ext cx="8766329" cy="13710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PHASE 1: DATA PROCESSING</a:t>
            </a:r>
          </a:p>
        </p:txBody>
      </p:sp>
      <p:sp>
        <p:nvSpPr>
          <p:cNvPr id="5" name="Content Placeholder 13">
            <a:extLst>
              <a:ext uri="{FF2B5EF4-FFF2-40B4-BE49-F238E27FC236}">
                <a16:creationId xmlns:a16="http://schemas.microsoft.com/office/drawing/2014/main" id="{84E4A33F-AC78-BE53-D493-592BDE33328E}"/>
              </a:ext>
            </a:extLst>
          </p:cNvPr>
          <p:cNvSpPr txBox="1">
            <a:spLocks/>
          </p:cNvSpPr>
          <p:nvPr/>
        </p:nvSpPr>
        <p:spPr>
          <a:xfrm>
            <a:off x="3185974" y="1322343"/>
            <a:ext cx="5820052" cy="45007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sp>
        <p:nvSpPr>
          <p:cNvPr id="7" name="Content Placeholder 13">
            <a:extLst>
              <a:ext uri="{FF2B5EF4-FFF2-40B4-BE49-F238E27FC236}">
                <a16:creationId xmlns:a16="http://schemas.microsoft.com/office/drawing/2014/main" id="{52E93255-0A75-1CE9-EF67-32AB8232805D}"/>
              </a:ext>
            </a:extLst>
          </p:cNvPr>
          <p:cNvSpPr txBox="1">
            <a:spLocks/>
          </p:cNvSpPr>
          <p:nvPr/>
        </p:nvSpPr>
        <p:spPr>
          <a:xfrm>
            <a:off x="3185974" y="1782702"/>
            <a:ext cx="5820052" cy="4500793"/>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Load MPD JSON Format</a:t>
            </a:r>
          </a:p>
          <a:p>
            <a:pPr marL="0" indent="0" algn="ctr">
              <a:buNone/>
            </a:pPr>
            <a:r>
              <a:rPr lang="en-US" dirty="0"/>
              <a:t>     ↓</a:t>
            </a:r>
          </a:p>
          <a:p>
            <a:pPr marL="0" indent="0" algn="ctr">
              <a:buNone/>
            </a:pPr>
            <a:r>
              <a:rPr lang="en-US" dirty="0"/>
              <a:t>Extract Track Features (URIs, artists, albums, genres)</a:t>
            </a:r>
          </a:p>
          <a:p>
            <a:pPr marL="0" indent="0" algn="ctr">
              <a:buNone/>
            </a:pPr>
            <a:r>
              <a:rPr lang="en-US" dirty="0"/>
              <a:t>     ↓</a:t>
            </a:r>
          </a:p>
          <a:p>
            <a:pPr marL="0" indent="0" algn="ctr">
              <a:buNone/>
            </a:pPr>
            <a:r>
              <a:rPr lang="en-US" dirty="0"/>
              <a:t>Build Co-occurrence Matrices &amp; Embeddings</a:t>
            </a:r>
          </a:p>
          <a:p>
            <a:pPr marL="0" indent="0" algn="ctr">
              <a:buNone/>
            </a:pPr>
            <a:r>
              <a:rPr lang="en-US" dirty="0"/>
              <a:t>     ↓</a:t>
            </a:r>
          </a:p>
          <a:p>
            <a:pPr marL="0" indent="0" algn="ctr">
              <a:buNone/>
            </a:pPr>
            <a:r>
              <a:rPr lang="en-US" dirty="0"/>
              <a:t>Create Playlist Vectors (66M track entries → structured data)</a:t>
            </a:r>
          </a:p>
          <a:p>
            <a:pPr marL="0" indent="0" algn="ctr">
              <a:buNone/>
            </a:pPr>
            <a:r>
              <a:rPr lang="en-US" dirty="0"/>
              <a:t>     ↓</a:t>
            </a:r>
          </a:p>
          <a:p>
            <a:pPr marL="0" indent="0" algn="ctr">
              <a:buNone/>
            </a:pPr>
            <a:r>
              <a:rPr lang="en-US" dirty="0"/>
              <a:t>Split into Train/Test Sets</a:t>
            </a:r>
          </a:p>
          <a:p>
            <a:pPr marL="0" indent="0" algn="ctr">
              <a:buNone/>
            </a:pPr>
            <a:endParaRPr lang="en-US" dirty="0"/>
          </a:p>
          <a:p>
            <a:pPr marL="0" indent="0">
              <a:buNone/>
            </a:pPr>
            <a:r>
              <a:rPr lang="en-US" dirty="0"/>
              <a:t>INFRASTRUCTURE:</a:t>
            </a:r>
          </a:p>
          <a:p>
            <a:pPr marL="0" indent="0">
              <a:buNone/>
            </a:pPr>
            <a:r>
              <a:rPr lang="en-US" dirty="0"/>
              <a:t>✓ Local processing on M4 MacBook (32GB RAM)</a:t>
            </a:r>
          </a:p>
          <a:p>
            <a:pPr marL="0" indent="0">
              <a:buNone/>
            </a:pPr>
            <a:r>
              <a:rPr lang="en-US" dirty="0"/>
              <a:t>✓ Optimized pandas operations for memory efficiency</a:t>
            </a:r>
          </a:p>
          <a:p>
            <a:pPr marL="0" indent="0">
              <a:buNone/>
            </a:pPr>
            <a:r>
              <a:rPr lang="en-US" dirty="0"/>
              <a:t>✓ Parquet format for fast I/O</a:t>
            </a:r>
          </a:p>
        </p:txBody>
      </p:sp>
    </p:spTree>
    <p:extLst>
      <p:ext uri="{BB962C8B-B14F-4D97-AF65-F5344CB8AC3E}">
        <p14:creationId xmlns:p14="http://schemas.microsoft.com/office/powerpoint/2010/main" val="728309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40CB8-67F3-F881-3141-80E2F10C7A90}"/>
              </a:ext>
            </a:extLst>
          </p:cNvPr>
          <p:cNvSpPr>
            <a:spLocks noGrp="1"/>
          </p:cNvSpPr>
          <p:nvPr>
            <p:ph type="title"/>
          </p:nvPr>
        </p:nvSpPr>
        <p:spPr>
          <a:xfrm>
            <a:off x="0" y="365125"/>
            <a:ext cx="12192000" cy="1325563"/>
          </a:xfrm>
        </p:spPr>
        <p:txBody>
          <a:bodyPr anchor="ctr"/>
          <a:lstStyle/>
          <a:p>
            <a:pPr algn="ctr"/>
            <a:r>
              <a:rPr lang="en-US" dirty="0"/>
              <a:t>METHODOLOGY - PATTERN MINING &amp; CLUSTERING</a:t>
            </a:r>
          </a:p>
        </p:txBody>
      </p:sp>
      <p:sp>
        <p:nvSpPr>
          <p:cNvPr id="3" name="Text Placeholder 2">
            <a:extLst>
              <a:ext uri="{FF2B5EF4-FFF2-40B4-BE49-F238E27FC236}">
                <a16:creationId xmlns:a16="http://schemas.microsoft.com/office/drawing/2014/main" id="{E1F07DB5-7E31-F816-673B-A9A2D8736CEF}"/>
              </a:ext>
            </a:extLst>
          </p:cNvPr>
          <p:cNvSpPr>
            <a:spLocks noGrp="1"/>
          </p:cNvSpPr>
          <p:nvPr>
            <p:ph type="body" idx="1"/>
          </p:nvPr>
        </p:nvSpPr>
        <p:spPr>
          <a:xfrm>
            <a:off x="0" y="1681163"/>
            <a:ext cx="5997575" cy="823912"/>
          </a:xfrm>
        </p:spPr>
        <p:txBody>
          <a:bodyPr anchor="ctr"/>
          <a:lstStyle/>
          <a:p>
            <a:pPr algn="ctr"/>
            <a:r>
              <a:rPr lang="en-US" dirty="0"/>
              <a:t>PHASE 2A: ASSOCIATION RULE MINING</a:t>
            </a:r>
          </a:p>
        </p:txBody>
      </p:sp>
      <p:sp>
        <p:nvSpPr>
          <p:cNvPr id="4" name="Content Placeholder 3">
            <a:extLst>
              <a:ext uri="{FF2B5EF4-FFF2-40B4-BE49-F238E27FC236}">
                <a16:creationId xmlns:a16="http://schemas.microsoft.com/office/drawing/2014/main" id="{64C30071-E470-9983-1E1D-C34672FC4248}"/>
              </a:ext>
            </a:extLst>
          </p:cNvPr>
          <p:cNvSpPr>
            <a:spLocks noGrp="1"/>
          </p:cNvSpPr>
          <p:nvPr>
            <p:ph sz="half" idx="2"/>
          </p:nvPr>
        </p:nvSpPr>
        <p:spPr>
          <a:xfrm>
            <a:off x="22226" y="2505075"/>
            <a:ext cx="5975349" cy="3684588"/>
          </a:xfrm>
        </p:spPr>
        <p:txBody>
          <a:bodyPr anchor="t">
            <a:normAutofit fontScale="85000" lnSpcReduction="20000"/>
          </a:bodyPr>
          <a:lstStyle/>
          <a:p>
            <a:pPr marL="0" indent="0">
              <a:buNone/>
            </a:pPr>
            <a:r>
              <a:rPr lang="en-US" dirty="0"/>
              <a:t>Algorithm: FP-Growth (Fast Pattern Growth) </a:t>
            </a:r>
          </a:p>
          <a:p>
            <a:pPr marL="0" indent="0">
              <a:buNone/>
            </a:pPr>
            <a:r>
              <a:rPr lang="en-US" dirty="0"/>
              <a:t>Input: 1M playlists as transactions</a:t>
            </a:r>
          </a:p>
          <a:p>
            <a:pPr marL="0" indent="0">
              <a:buNone/>
            </a:pPr>
            <a:r>
              <a:rPr lang="en-US" dirty="0"/>
              <a:t>Output: Association rules {Song A} → {Song B} </a:t>
            </a:r>
          </a:p>
          <a:p>
            <a:pPr marL="0" indent="0">
              <a:buNone/>
            </a:pPr>
            <a:r>
              <a:rPr lang="en-US" dirty="0"/>
              <a:t>Metrics Generated:</a:t>
            </a:r>
          </a:p>
          <a:p>
            <a:r>
              <a:rPr lang="en-US" dirty="0"/>
              <a:t>Support: In how many playlists do A and B co-occur?</a:t>
            </a:r>
          </a:p>
          <a:p>
            <a:r>
              <a:rPr lang="en-US" dirty="0"/>
              <a:t>Confidence: If A appears, how likely is B?</a:t>
            </a:r>
          </a:p>
          <a:p>
            <a:r>
              <a:rPr lang="en-US" dirty="0"/>
              <a:t>Lift: How much more likely than random chance?</a:t>
            </a:r>
          </a:p>
        </p:txBody>
      </p:sp>
      <p:sp>
        <p:nvSpPr>
          <p:cNvPr id="5" name="Text Placeholder 4">
            <a:extLst>
              <a:ext uri="{FF2B5EF4-FFF2-40B4-BE49-F238E27FC236}">
                <a16:creationId xmlns:a16="http://schemas.microsoft.com/office/drawing/2014/main" id="{A6DB997B-BBED-3882-F91D-911513692320}"/>
              </a:ext>
            </a:extLst>
          </p:cNvPr>
          <p:cNvSpPr>
            <a:spLocks noGrp="1"/>
          </p:cNvSpPr>
          <p:nvPr>
            <p:ph type="body" sz="quarter" idx="3"/>
          </p:nvPr>
        </p:nvSpPr>
        <p:spPr>
          <a:xfrm>
            <a:off x="6172200" y="1681163"/>
            <a:ext cx="5997574" cy="823912"/>
          </a:xfrm>
        </p:spPr>
        <p:txBody>
          <a:bodyPr anchor="ctr"/>
          <a:lstStyle/>
          <a:p>
            <a:pPr algn="ctr"/>
            <a:r>
              <a:rPr lang="en-US" dirty="0"/>
              <a:t>PHASE 2B: CLUSTERING </a:t>
            </a:r>
          </a:p>
        </p:txBody>
      </p:sp>
      <p:sp>
        <p:nvSpPr>
          <p:cNvPr id="6" name="Content Placeholder 5">
            <a:extLst>
              <a:ext uri="{FF2B5EF4-FFF2-40B4-BE49-F238E27FC236}">
                <a16:creationId xmlns:a16="http://schemas.microsoft.com/office/drawing/2014/main" id="{4D489D86-35A3-7FBD-D04E-EC7185C6D727}"/>
              </a:ext>
            </a:extLst>
          </p:cNvPr>
          <p:cNvSpPr>
            <a:spLocks noGrp="1"/>
          </p:cNvSpPr>
          <p:nvPr>
            <p:ph sz="quarter" idx="4"/>
          </p:nvPr>
        </p:nvSpPr>
        <p:spPr>
          <a:xfrm>
            <a:off x="6172199" y="2505075"/>
            <a:ext cx="5997573" cy="3684588"/>
          </a:xfrm>
        </p:spPr>
        <p:txBody>
          <a:bodyPr anchor="t">
            <a:normAutofit fontScale="85000" lnSpcReduction="20000"/>
          </a:bodyPr>
          <a:lstStyle/>
          <a:p>
            <a:pPr marL="0" indent="0">
              <a:buNone/>
            </a:pPr>
            <a:r>
              <a:rPr lang="en-US" dirty="0"/>
              <a:t>Algorithm: K-Means on Track Features</a:t>
            </a:r>
          </a:p>
          <a:p>
            <a:pPr marL="0" indent="0">
              <a:buNone/>
            </a:pPr>
            <a:r>
              <a:rPr lang="en-US" dirty="0"/>
              <a:t>Input: Playlist embeddings </a:t>
            </a:r>
          </a:p>
          <a:p>
            <a:pPr marL="0" indent="0">
              <a:buNone/>
            </a:pPr>
            <a:r>
              <a:rPr lang="en-US" dirty="0"/>
              <a:t>Output: 5 distinct cluster groups</a:t>
            </a:r>
          </a:p>
          <a:p>
            <a:pPr marL="0" indent="0">
              <a:buNone/>
            </a:pPr>
            <a:r>
              <a:rPr lang="en-US" dirty="0"/>
              <a:t>Purpose: Group similar playlists together </a:t>
            </a:r>
          </a:p>
          <a:p>
            <a:pPr marL="0" indent="0">
              <a:buNone/>
            </a:pPr>
            <a:r>
              <a:rPr lang="en-US" dirty="0"/>
              <a:t>Result: Each cluster represents a playlist "type"</a:t>
            </a:r>
          </a:p>
        </p:txBody>
      </p:sp>
    </p:spTree>
    <p:extLst>
      <p:ext uri="{BB962C8B-B14F-4D97-AF65-F5344CB8AC3E}">
        <p14:creationId xmlns:p14="http://schemas.microsoft.com/office/powerpoint/2010/main" val="1714109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FBC2E-D635-C3E6-C9E6-372B3B2F758B}"/>
            </a:ext>
          </a:extLst>
        </p:cNvPr>
        <p:cNvGrpSpPr/>
        <p:nvPr/>
      </p:nvGrpSpPr>
      <p:grpSpPr>
        <a:xfrm>
          <a:off x="0" y="0"/>
          <a:ext cx="0" cy="0"/>
          <a:chOff x="0" y="0"/>
          <a:chExt cx="0" cy="0"/>
        </a:xfrm>
      </p:grpSpPr>
      <p:sp>
        <p:nvSpPr>
          <p:cNvPr id="4" name="Title 12">
            <a:extLst>
              <a:ext uri="{FF2B5EF4-FFF2-40B4-BE49-F238E27FC236}">
                <a16:creationId xmlns:a16="http://schemas.microsoft.com/office/drawing/2014/main" id="{E3549201-4E93-9FBC-5239-B37B348FC1A9}"/>
              </a:ext>
            </a:extLst>
          </p:cNvPr>
          <p:cNvSpPr txBox="1">
            <a:spLocks/>
          </p:cNvSpPr>
          <p:nvPr/>
        </p:nvSpPr>
        <p:spPr>
          <a:xfrm>
            <a:off x="0" y="636797"/>
            <a:ext cx="12191999" cy="13710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PHASE 3: BUILD &amp; TEST FOUR MODELS </a:t>
            </a:r>
          </a:p>
        </p:txBody>
      </p:sp>
      <p:sp>
        <p:nvSpPr>
          <p:cNvPr id="5" name="Content Placeholder 13">
            <a:extLst>
              <a:ext uri="{FF2B5EF4-FFF2-40B4-BE49-F238E27FC236}">
                <a16:creationId xmlns:a16="http://schemas.microsoft.com/office/drawing/2014/main" id="{D712E7E9-E8E9-D9BD-5DFA-E74CD59101DD}"/>
              </a:ext>
            </a:extLst>
          </p:cNvPr>
          <p:cNvSpPr txBox="1">
            <a:spLocks/>
          </p:cNvSpPr>
          <p:nvPr/>
        </p:nvSpPr>
        <p:spPr>
          <a:xfrm>
            <a:off x="3185974" y="1322343"/>
            <a:ext cx="5820052" cy="45007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sp>
        <p:nvSpPr>
          <p:cNvPr id="7" name="Content Placeholder 13">
            <a:extLst>
              <a:ext uri="{FF2B5EF4-FFF2-40B4-BE49-F238E27FC236}">
                <a16:creationId xmlns:a16="http://schemas.microsoft.com/office/drawing/2014/main" id="{5D90C1BE-30C7-446A-6AAB-B894981020FC}"/>
              </a:ext>
            </a:extLst>
          </p:cNvPr>
          <p:cNvSpPr txBox="1">
            <a:spLocks/>
          </p:cNvSpPr>
          <p:nvPr/>
        </p:nvSpPr>
        <p:spPr>
          <a:xfrm>
            <a:off x="3185973" y="2007889"/>
            <a:ext cx="5820052" cy="4500793"/>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1️⃣ POPULARITY BASELINE</a:t>
            </a:r>
          </a:p>
          <a:p>
            <a:pPr marL="0" indent="0" algn="ctr">
              <a:buNone/>
            </a:pPr>
            <a:r>
              <a:rPr lang="en-US" dirty="0"/>
              <a:t>   Recommendation: Most-played global songs</a:t>
            </a:r>
          </a:p>
          <a:p>
            <a:pPr marL="0" indent="0" algn="ctr">
              <a:buNone/>
            </a:pPr>
            <a:r>
              <a:rPr lang="en-US" dirty="0"/>
              <a:t>   Reasoning: If many people like it, probably you will too</a:t>
            </a:r>
          </a:p>
          <a:p>
            <a:pPr marL="0" indent="0" algn="ctr">
              <a:buNone/>
            </a:pPr>
            <a:endParaRPr lang="en-US" dirty="0"/>
          </a:p>
          <a:p>
            <a:pPr marL="0" indent="0" algn="ctr">
              <a:buNone/>
            </a:pPr>
            <a:r>
              <a:rPr lang="en-US" dirty="0"/>
              <a:t>2️⃣ CO-OCCURRENCE BASED  </a:t>
            </a:r>
          </a:p>
          <a:p>
            <a:pPr marL="0" indent="0" algn="ctr">
              <a:buNone/>
            </a:pPr>
            <a:r>
              <a:rPr lang="en-US" dirty="0"/>
              <a:t>   Recommendation: Using association rules</a:t>
            </a:r>
          </a:p>
          <a:p>
            <a:pPr marL="0" indent="0" algn="ctr">
              <a:buNone/>
            </a:pPr>
            <a:r>
              <a:rPr lang="en-US" dirty="0"/>
              <a:t>   Reasoning: Find songs that frequently appear with yours</a:t>
            </a:r>
          </a:p>
          <a:p>
            <a:pPr marL="0" indent="0" algn="ctr">
              <a:buNone/>
            </a:pPr>
            <a:endParaRPr lang="en-US" dirty="0"/>
          </a:p>
          <a:p>
            <a:pPr marL="0" indent="0" algn="ctr">
              <a:buNone/>
            </a:pPr>
            <a:r>
              <a:rPr lang="en-US" dirty="0"/>
              <a:t>3️⃣ SVD (COLLABORATIVE FILTERING)</a:t>
            </a:r>
          </a:p>
          <a:p>
            <a:pPr marL="0" indent="0" algn="ctr">
              <a:buNone/>
            </a:pPr>
            <a:r>
              <a:rPr lang="en-US" dirty="0"/>
              <a:t>   Recommendation: Matrix factorization approach</a:t>
            </a:r>
          </a:p>
          <a:p>
            <a:pPr marL="0" indent="0" algn="ctr">
              <a:buNone/>
            </a:pPr>
            <a:r>
              <a:rPr lang="en-US" dirty="0"/>
              <a:t>   Reasoning: Find playlists similar to yours, recommend their songs</a:t>
            </a:r>
          </a:p>
          <a:p>
            <a:pPr marL="0" indent="0" algn="ctr">
              <a:buNone/>
            </a:pPr>
            <a:endParaRPr lang="en-US" dirty="0"/>
          </a:p>
          <a:p>
            <a:pPr marL="0" indent="0" algn="ctr">
              <a:buNone/>
            </a:pPr>
            <a:r>
              <a:rPr lang="en-US" dirty="0"/>
              <a:t>4️⃣ NEURAL NETWORK (PCA)</a:t>
            </a:r>
          </a:p>
          <a:p>
            <a:pPr marL="0" indent="0" algn="ctr">
              <a:buNone/>
            </a:pPr>
            <a:r>
              <a:rPr lang="en-US" dirty="0"/>
              <a:t>   Recommendation: Deep learning on embeddings</a:t>
            </a:r>
          </a:p>
          <a:p>
            <a:pPr marL="0" indent="0" algn="ctr">
              <a:buNone/>
            </a:pPr>
            <a:r>
              <a:rPr lang="en-US" dirty="0"/>
              <a:t>   Reasoning: Learn complex patterns from playlist vectors</a:t>
            </a:r>
          </a:p>
        </p:txBody>
      </p:sp>
    </p:spTree>
    <p:extLst>
      <p:ext uri="{BB962C8B-B14F-4D97-AF65-F5344CB8AC3E}">
        <p14:creationId xmlns:p14="http://schemas.microsoft.com/office/powerpoint/2010/main" val="6223801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32E85-789E-8A87-CA4A-7586FA515458}"/>
              </a:ext>
            </a:extLst>
          </p:cNvPr>
          <p:cNvSpPr>
            <a:spLocks noGrp="1"/>
          </p:cNvSpPr>
          <p:nvPr>
            <p:ph type="title"/>
          </p:nvPr>
        </p:nvSpPr>
        <p:spPr>
          <a:xfrm>
            <a:off x="838200" y="365125"/>
            <a:ext cx="10515600" cy="1325563"/>
          </a:xfrm>
        </p:spPr>
        <p:txBody>
          <a:bodyPr anchor="ctr"/>
          <a:lstStyle/>
          <a:p>
            <a:pPr algn="ctr"/>
            <a:r>
              <a:rPr lang="en-US" dirty="0"/>
              <a:t>ASSOCIATION RULE MINING RESULTS</a:t>
            </a:r>
          </a:p>
        </p:txBody>
      </p:sp>
      <p:sp>
        <p:nvSpPr>
          <p:cNvPr id="3" name="Content Placeholder 2">
            <a:extLst>
              <a:ext uri="{FF2B5EF4-FFF2-40B4-BE49-F238E27FC236}">
                <a16:creationId xmlns:a16="http://schemas.microsoft.com/office/drawing/2014/main" id="{1E22174B-FD6F-92DE-9091-081EACE1D465}"/>
              </a:ext>
            </a:extLst>
          </p:cNvPr>
          <p:cNvSpPr>
            <a:spLocks noGrp="1"/>
          </p:cNvSpPr>
          <p:nvPr>
            <p:ph idx="1"/>
          </p:nvPr>
        </p:nvSpPr>
        <p:spPr>
          <a:xfrm>
            <a:off x="838200" y="1825625"/>
            <a:ext cx="10515600" cy="4351338"/>
          </a:xfrm>
        </p:spPr>
        <p:txBody>
          <a:bodyPr anchor="ctr">
            <a:normAutofit fontScale="55000" lnSpcReduction="20000"/>
          </a:bodyPr>
          <a:lstStyle/>
          <a:p>
            <a:pPr marL="0" indent="0" algn="ctr">
              <a:buNone/>
            </a:pPr>
            <a:endParaRPr lang="en-US" dirty="0"/>
          </a:p>
          <a:p>
            <a:pPr marL="0" indent="0" algn="ctr">
              <a:buNone/>
            </a:pPr>
            <a:r>
              <a:rPr lang="en-US" dirty="0"/>
              <a:t>Total Rules Generated: 10,000</a:t>
            </a:r>
          </a:p>
          <a:p>
            <a:pPr marL="0" indent="0" algn="ctr">
              <a:buNone/>
            </a:pPr>
            <a:r>
              <a:rPr lang="en-US" dirty="0"/>
              <a:t>─ High Confidence (&gt;80%): 9,999 rules ✓</a:t>
            </a:r>
          </a:p>
          <a:p>
            <a:pPr marL="0" indent="0" algn="ctr">
              <a:buNone/>
            </a:pPr>
            <a:r>
              <a:rPr lang="en-US" dirty="0"/>
              <a:t>─ High Lift (&gt;2.0): 10,000 rules ✓</a:t>
            </a:r>
          </a:p>
          <a:p>
            <a:pPr marL="0" indent="0" algn="ctr">
              <a:buNone/>
            </a:pPr>
            <a:r>
              <a:rPr lang="en-US" dirty="0"/>
              <a:t>─ Average Lift: 1,282.63 (!!)</a:t>
            </a:r>
          </a:p>
          <a:p>
            <a:pPr marL="0" indent="0" algn="ctr">
              <a:buNone/>
            </a:pPr>
            <a:endParaRPr lang="en-US" dirty="0"/>
          </a:p>
          <a:p>
            <a:pPr marL="0" indent="0" algn="ctr">
              <a:buNone/>
            </a:pPr>
            <a:r>
              <a:rPr lang="en-US" dirty="0"/>
              <a:t>INTERPRETATION:</a:t>
            </a:r>
          </a:p>
          <a:p>
            <a:pPr marL="0" indent="0" algn="ctr">
              <a:buNone/>
            </a:pPr>
            <a:r>
              <a:rPr lang="en-US" dirty="0"/>
              <a:t>🔥 The high lift means songs appear together WAY more </a:t>
            </a:r>
          </a:p>
          <a:p>
            <a:pPr marL="0" indent="0" algn="ctr">
              <a:buNone/>
            </a:pPr>
            <a:r>
              <a:rPr lang="en-US" dirty="0"/>
              <a:t>   often than random chance would predict</a:t>
            </a:r>
          </a:p>
          <a:p>
            <a:pPr marL="0" indent="0" algn="ctr">
              <a:buNone/>
            </a:pPr>
            <a:r>
              <a:rPr lang="en-US" dirty="0"/>
              <a:t>🎯 9,999 rules passed our confidence threshold</a:t>
            </a:r>
          </a:p>
          <a:p>
            <a:pPr marL="0" indent="0" algn="ctr">
              <a:buNone/>
            </a:pPr>
            <a:r>
              <a:rPr lang="en-US" dirty="0"/>
              <a:t>✨ These aren't coincidences - these are real patterns!</a:t>
            </a:r>
          </a:p>
          <a:p>
            <a:pPr marL="0" indent="0" algn="ctr">
              <a:buNone/>
            </a:pPr>
            <a:endParaRPr lang="en-US" dirty="0"/>
          </a:p>
          <a:p>
            <a:pPr marL="0" indent="0" algn="ctr">
              <a:buNone/>
            </a:pPr>
            <a:r>
              <a:rPr lang="en-US" dirty="0"/>
              <a:t>Example Top Rule:</a:t>
            </a:r>
          </a:p>
          <a:p>
            <a:pPr marL="0" indent="0" algn="ctr">
              <a:buNone/>
            </a:pPr>
            <a:r>
              <a:rPr lang="en-US" dirty="0"/>
              <a:t>Song A → Song B: Lift = 10,960</a:t>
            </a:r>
          </a:p>
          <a:p>
            <a:pPr marL="0" indent="0" algn="ctr">
              <a:buNone/>
            </a:pPr>
            <a:r>
              <a:rPr lang="en-US" dirty="0"/>
              <a:t>(10,960x more likely to appear together than random)</a:t>
            </a:r>
          </a:p>
        </p:txBody>
      </p:sp>
    </p:spTree>
    <p:extLst>
      <p:ext uri="{BB962C8B-B14F-4D97-AF65-F5344CB8AC3E}">
        <p14:creationId xmlns:p14="http://schemas.microsoft.com/office/powerpoint/2010/main" val="2441619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up of a graph&#10;&#10;AI-generated content may be incorrect.">
            <a:extLst>
              <a:ext uri="{FF2B5EF4-FFF2-40B4-BE49-F238E27FC236}">
                <a16:creationId xmlns:a16="http://schemas.microsoft.com/office/drawing/2014/main" id="{6031D300-116C-6690-3197-270B64C11CAA}"/>
              </a:ext>
            </a:extLst>
          </p:cNvPr>
          <p:cNvPicPr>
            <a:picLocks noChangeAspect="1"/>
          </p:cNvPicPr>
          <p:nvPr/>
        </p:nvPicPr>
        <p:blipFill>
          <a:blip r:embed="rId3"/>
          <a:stretch>
            <a:fillRect/>
          </a:stretch>
        </p:blipFill>
        <p:spPr>
          <a:xfrm>
            <a:off x="2209800" y="609064"/>
            <a:ext cx="7772400" cy="5639872"/>
          </a:xfrm>
          <a:prstGeom prst="rect">
            <a:avLst/>
          </a:prstGeom>
        </p:spPr>
      </p:pic>
    </p:spTree>
    <p:extLst>
      <p:ext uri="{BB962C8B-B14F-4D97-AF65-F5344CB8AC3E}">
        <p14:creationId xmlns:p14="http://schemas.microsoft.com/office/powerpoint/2010/main" val="37964899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with green lines&#10;&#10;AI-generated content may be incorrect.">
            <a:extLst>
              <a:ext uri="{FF2B5EF4-FFF2-40B4-BE49-F238E27FC236}">
                <a16:creationId xmlns:a16="http://schemas.microsoft.com/office/drawing/2014/main" id="{CA7BD9D0-A3BB-24E1-2D27-F4E72765C9FC}"/>
              </a:ext>
            </a:extLst>
          </p:cNvPr>
          <p:cNvPicPr>
            <a:picLocks noChangeAspect="1"/>
          </p:cNvPicPr>
          <p:nvPr/>
        </p:nvPicPr>
        <p:blipFill>
          <a:blip r:embed="rId3"/>
          <a:stretch>
            <a:fillRect/>
          </a:stretch>
        </p:blipFill>
        <p:spPr>
          <a:xfrm>
            <a:off x="2209800" y="1208315"/>
            <a:ext cx="7772400" cy="4441371"/>
          </a:xfrm>
          <a:prstGeom prst="rect">
            <a:avLst/>
          </a:prstGeom>
        </p:spPr>
      </p:pic>
    </p:spTree>
    <p:extLst>
      <p:ext uri="{BB962C8B-B14F-4D97-AF65-F5344CB8AC3E}">
        <p14:creationId xmlns:p14="http://schemas.microsoft.com/office/powerpoint/2010/main" val="16555954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C9CCF-29E7-B8F7-0F50-E298BFDA2B26}"/>
            </a:ext>
          </a:extLst>
        </p:cNvPr>
        <p:cNvGrpSpPr/>
        <p:nvPr/>
      </p:nvGrpSpPr>
      <p:grpSpPr>
        <a:xfrm>
          <a:off x="0" y="0"/>
          <a:ext cx="0" cy="0"/>
          <a:chOff x="0" y="0"/>
          <a:chExt cx="0" cy="0"/>
        </a:xfrm>
      </p:grpSpPr>
      <p:sp>
        <p:nvSpPr>
          <p:cNvPr id="16" name="Title 12">
            <a:extLst>
              <a:ext uri="{FF2B5EF4-FFF2-40B4-BE49-F238E27FC236}">
                <a16:creationId xmlns:a16="http://schemas.microsoft.com/office/drawing/2014/main" id="{9C08C7CB-6ABC-8D59-214A-BB1DE7377EED}"/>
              </a:ext>
            </a:extLst>
          </p:cNvPr>
          <p:cNvSpPr>
            <a:spLocks noGrp="1"/>
          </p:cNvSpPr>
          <p:nvPr>
            <p:ph type="title"/>
          </p:nvPr>
        </p:nvSpPr>
        <p:spPr>
          <a:xfrm>
            <a:off x="273728" y="426129"/>
            <a:ext cx="5820052" cy="1371092"/>
          </a:xfrm>
        </p:spPr>
        <p:txBody>
          <a:bodyPr/>
          <a:lstStyle/>
          <a:p>
            <a:pPr algn="ctr"/>
            <a:r>
              <a:rPr lang="en-US" dirty="0"/>
              <a:t>CLUSTERING RESULTS</a:t>
            </a:r>
          </a:p>
        </p:txBody>
      </p:sp>
      <p:sp>
        <p:nvSpPr>
          <p:cNvPr id="17" name="Content Placeholder 13">
            <a:extLst>
              <a:ext uri="{FF2B5EF4-FFF2-40B4-BE49-F238E27FC236}">
                <a16:creationId xmlns:a16="http://schemas.microsoft.com/office/drawing/2014/main" id="{1C209AB8-2CD3-E18A-027B-632D0DCA046F}"/>
              </a:ext>
            </a:extLst>
          </p:cNvPr>
          <p:cNvSpPr txBox="1">
            <a:spLocks/>
          </p:cNvSpPr>
          <p:nvPr/>
        </p:nvSpPr>
        <p:spPr>
          <a:xfrm>
            <a:off x="273728" y="1782702"/>
            <a:ext cx="5820052" cy="4500793"/>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 Number of Clusters: 5</a:t>
            </a:r>
          </a:p>
          <a:p>
            <a:pPr marL="0" indent="0">
              <a:buNone/>
            </a:pPr>
            <a:r>
              <a:rPr lang="en-US" dirty="0"/>
              <a:t>✓ Each cluster represents a distinct playlist type</a:t>
            </a:r>
          </a:p>
          <a:p>
            <a:pPr marL="0" indent="0">
              <a:buNone/>
            </a:pPr>
            <a:r>
              <a:rPr lang="en-US" dirty="0"/>
              <a:t>✓ Found automatically without genre labels!</a:t>
            </a:r>
          </a:p>
          <a:p>
            <a:pPr marL="0" indent="0">
              <a:buNone/>
            </a:pPr>
            <a:endParaRPr lang="en-US" dirty="0"/>
          </a:p>
          <a:p>
            <a:pPr marL="0" indent="0">
              <a:buNone/>
            </a:pPr>
            <a:r>
              <a:rPr lang="en-US" dirty="0"/>
              <a:t>Users naturally gravitate toward 5 different playlist styles</a:t>
            </a:r>
          </a:p>
          <a:p>
            <a:pPr marL="0" indent="0">
              <a:buNone/>
            </a:pPr>
            <a:r>
              <a:rPr lang="en-US" dirty="0"/>
              <a:t>  </a:t>
            </a:r>
          </a:p>
          <a:p>
            <a:pPr marL="0" indent="0">
              <a:buNone/>
            </a:pPr>
            <a:r>
              <a:rPr lang="en-US" dirty="0"/>
              <a:t>INSIGHT:</a:t>
            </a:r>
          </a:p>
          <a:p>
            <a:pPr marL="0" indent="0">
              <a:buNone/>
            </a:pPr>
            <a:r>
              <a:rPr lang="en-US" dirty="0"/>
              <a:t>🎯 One-size-fits-all recommendations won't work</a:t>
            </a:r>
          </a:p>
          <a:p>
            <a:pPr marL="0" indent="0">
              <a:buNone/>
            </a:pPr>
            <a:r>
              <a:rPr lang="en-US" dirty="0"/>
              <a:t>🎯 Different users need different strategies</a:t>
            </a:r>
          </a:p>
        </p:txBody>
      </p:sp>
      <p:pic>
        <p:nvPicPr>
          <p:cNvPr id="5" name="Content Placeholder 4" descr="A graph of different colored lines&#10;&#10;AI-generated content may be incorrect.">
            <a:extLst>
              <a:ext uri="{FF2B5EF4-FFF2-40B4-BE49-F238E27FC236}">
                <a16:creationId xmlns:a16="http://schemas.microsoft.com/office/drawing/2014/main" id="{81E93134-9948-91CC-A722-4BDCA3C7E064}"/>
              </a:ext>
            </a:extLst>
          </p:cNvPr>
          <p:cNvPicPr>
            <a:picLocks noGrp="1" noChangeAspect="1"/>
          </p:cNvPicPr>
          <p:nvPr>
            <p:ph sz="half" idx="1"/>
          </p:nvPr>
        </p:nvPicPr>
        <p:blipFill>
          <a:blip r:embed="rId3"/>
          <a:stretch>
            <a:fillRect/>
          </a:stretch>
        </p:blipFill>
        <p:spPr>
          <a:xfrm>
            <a:off x="6647894" y="1763486"/>
            <a:ext cx="5181600" cy="3331028"/>
          </a:xfrm>
        </p:spPr>
      </p:pic>
    </p:spTree>
    <p:extLst>
      <p:ext uri="{BB962C8B-B14F-4D97-AF65-F5344CB8AC3E}">
        <p14:creationId xmlns:p14="http://schemas.microsoft.com/office/powerpoint/2010/main" val="2010541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aph of different colored lines&#10;&#10;AI-generated content may be incorrect.">
            <a:extLst>
              <a:ext uri="{FF2B5EF4-FFF2-40B4-BE49-F238E27FC236}">
                <a16:creationId xmlns:a16="http://schemas.microsoft.com/office/drawing/2014/main" id="{5E423A97-B3B9-51E9-7421-B53593FACF88}"/>
              </a:ext>
            </a:extLst>
          </p:cNvPr>
          <p:cNvPicPr>
            <a:picLocks noChangeAspect="1"/>
          </p:cNvPicPr>
          <p:nvPr/>
        </p:nvPicPr>
        <p:blipFill>
          <a:blip r:embed="rId2"/>
          <a:stretch>
            <a:fillRect/>
          </a:stretch>
        </p:blipFill>
        <p:spPr>
          <a:xfrm>
            <a:off x="2209800" y="930729"/>
            <a:ext cx="7772400" cy="4996542"/>
          </a:xfrm>
          <a:prstGeom prst="rect">
            <a:avLst/>
          </a:prstGeom>
        </p:spPr>
      </p:pic>
    </p:spTree>
    <p:extLst>
      <p:ext uri="{BB962C8B-B14F-4D97-AF65-F5344CB8AC3E}">
        <p14:creationId xmlns:p14="http://schemas.microsoft.com/office/powerpoint/2010/main" val="21333294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2DF4C-1074-B5D1-1361-4D50C9099E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47EFF5-8B2C-0179-BA15-020325C978EA}"/>
              </a:ext>
            </a:extLst>
          </p:cNvPr>
          <p:cNvSpPr>
            <a:spLocks noGrp="1"/>
          </p:cNvSpPr>
          <p:nvPr>
            <p:ph type="title"/>
          </p:nvPr>
        </p:nvSpPr>
        <p:spPr>
          <a:xfrm>
            <a:off x="0" y="365125"/>
            <a:ext cx="12192000" cy="1325563"/>
          </a:xfrm>
        </p:spPr>
        <p:txBody>
          <a:bodyPr anchor="ctr"/>
          <a:lstStyle/>
          <a:p>
            <a:pPr algn="ctr"/>
            <a:r>
              <a:rPr lang="en-US" dirty="0"/>
              <a:t>HOW CLUSTERING IMPROVES RECOMMENDATIONS</a:t>
            </a:r>
          </a:p>
        </p:txBody>
      </p:sp>
      <p:sp>
        <p:nvSpPr>
          <p:cNvPr id="3" name="Content Placeholder 2">
            <a:extLst>
              <a:ext uri="{FF2B5EF4-FFF2-40B4-BE49-F238E27FC236}">
                <a16:creationId xmlns:a16="http://schemas.microsoft.com/office/drawing/2014/main" id="{BD1063F6-3BFE-249A-70DA-1138AD441CBD}"/>
              </a:ext>
            </a:extLst>
          </p:cNvPr>
          <p:cNvSpPr>
            <a:spLocks noGrp="1"/>
          </p:cNvSpPr>
          <p:nvPr>
            <p:ph idx="1"/>
          </p:nvPr>
        </p:nvSpPr>
        <p:spPr>
          <a:xfrm>
            <a:off x="-1" y="1825625"/>
            <a:ext cx="12191999" cy="4351338"/>
          </a:xfrm>
        </p:spPr>
        <p:txBody>
          <a:bodyPr anchor="ctr">
            <a:normAutofit fontScale="92500" lnSpcReduction="10000"/>
          </a:bodyPr>
          <a:lstStyle/>
          <a:p>
            <a:pPr marL="0" indent="0" algn="ctr">
              <a:buNone/>
            </a:pPr>
            <a:r>
              <a:rPr lang="en-US" sz="1600" dirty="0"/>
              <a:t>1️⃣ IDENTIFY CLUSTER</a:t>
            </a:r>
          </a:p>
          <a:p>
            <a:pPr marL="0" indent="0" algn="ctr">
              <a:buNone/>
            </a:pPr>
            <a:r>
              <a:rPr lang="en-US" sz="1600" dirty="0"/>
              <a:t>   Analyze the input playlist → Which cluster does it belong to?</a:t>
            </a:r>
          </a:p>
          <a:p>
            <a:pPr marL="0" indent="0" algn="ctr">
              <a:buNone/>
            </a:pPr>
            <a:r>
              <a:rPr lang="en-US" sz="1600" dirty="0"/>
              <a:t>2️⃣ SEARCH SIMILAR CLUSTERS</a:t>
            </a:r>
          </a:p>
          <a:p>
            <a:pPr marL="0" indent="0" algn="ctr">
              <a:buNone/>
            </a:pPr>
            <a:r>
              <a:rPr lang="en-US" sz="1600" dirty="0"/>
              <a:t>   Find other playlists in that cluster</a:t>
            </a:r>
          </a:p>
          <a:p>
            <a:pPr marL="0" indent="0" algn="ctr">
              <a:buNone/>
            </a:pPr>
            <a:r>
              <a:rPr lang="en-US" sz="1600" dirty="0"/>
              <a:t>3️⃣ RECOMMEND FROM CLUSTER</a:t>
            </a:r>
          </a:p>
          <a:p>
            <a:pPr marL="0" indent="0" algn="ctr">
              <a:buNone/>
            </a:pPr>
            <a:r>
              <a:rPr lang="en-US" sz="1600" dirty="0"/>
              <a:t>   Only suggest songs from similar playlists   </a:t>
            </a:r>
          </a:p>
          <a:p>
            <a:pPr marL="0" indent="0" algn="ctr">
              <a:buNone/>
            </a:pPr>
            <a:r>
              <a:rPr lang="en-US" sz="1600" dirty="0"/>
              <a:t>4️⃣ PRESERVE CONTEXT</a:t>
            </a:r>
          </a:p>
          <a:p>
            <a:pPr marL="0" indent="0" algn="ctr">
              <a:buNone/>
            </a:pPr>
            <a:r>
              <a:rPr lang="en-US" sz="1600" dirty="0"/>
              <a:t>   Recommendations match the vibe/genre/mood of the original</a:t>
            </a:r>
          </a:p>
          <a:p>
            <a:pPr marL="0" indent="0" algn="ctr">
              <a:buNone/>
            </a:pPr>
            <a:r>
              <a:rPr lang="en-US" sz="1600" dirty="0"/>
              <a:t>5️⃣ IMPROVE COHERENCE</a:t>
            </a:r>
          </a:p>
          <a:p>
            <a:pPr marL="0" indent="0" algn="ctr">
              <a:buNone/>
            </a:pPr>
            <a:r>
              <a:rPr lang="en-US" sz="1600" dirty="0"/>
              <a:t>   Users get songs that "feel right" for that playlist type</a:t>
            </a:r>
          </a:p>
          <a:p>
            <a:pPr marL="0" indent="0" algn="ctr">
              <a:buNone/>
            </a:pPr>
            <a:r>
              <a:rPr lang="en-US" sz="1600" dirty="0"/>
              <a:t>TRADEOFF:</a:t>
            </a:r>
          </a:p>
          <a:p>
            <a:pPr marL="0" indent="0" algn="ctr">
              <a:buNone/>
            </a:pPr>
            <a:r>
              <a:rPr lang="en-US" sz="1600" dirty="0"/>
              <a:t>✓ Pro: Better thematic consistency</a:t>
            </a:r>
          </a:p>
          <a:p>
            <a:pPr marL="0" indent="0" algn="ctr">
              <a:buNone/>
            </a:pPr>
            <a:r>
              <a:rPr lang="en-US" sz="1600" dirty="0"/>
              <a:t>✗ Con: Might reduce diversity if over-constrained</a:t>
            </a:r>
          </a:p>
          <a:p>
            <a:pPr marL="0" indent="0" algn="ctr">
              <a:buNone/>
            </a:pPr>
            <a:r>
              <a:rPr lang="en-US" sz="1600" dirty="0"/>
              <a:t>→ Solution: Balance with non-cluster recommendations</a:t>
            </a:r>
          </a:p>
        </p:txBody>
      </p:sp>
    </p:spTree>
    <p:extLst>
      <p:ext uri="{BB962C8B-B14F-4D97-AF65-F5344CB8AC3E}">
        <p14:creationId xmlns:p14="http://schemas.microsoft.com/office/powerpoint/2010/main" val="20565866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5C9B446A-6343-4E56-90BA-061E4DDF0F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3" name="Freeform: Shape 14">
            <a:extLst>
              <a:ext uri="{FF2B5EF4-FFF2-40B4-BE49-F238E27FC236}">
                <a16:creationId xmlns:a16="http://schemas.microsoft.com/office/drawing/2014/main" id="{3EC72A1B-03D3-499C-B4BF-AC68EEC22B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Freeform: Shape 16">
            <a:extLst>
              <a:ext uri="{FF2B5EF4-FFF2-40B4-BE49-F238E27FC236}">
                <a16:creationId xmlns:a16="http://schemas.microsoft.com/office/drawing/2014/main" id="{216322C2-3CF0-4D33-BF90-3F384CF6D2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B4A006D-0059-4BB3-19C5-AD1ED3668F9C}"/>
              </a:ext>
            </a:extLst>
          </p:cNvPr>
          <p:cNvSpPr>
            <a:spLocks noGrp="1"/>
          </p:cNvSpPr>
          <p:nvPr>
            <p:ph type="title"/>
          </p:nvPr>
        </p:nvSpPr>
        <p:spPr>
          <a:xfrm>
            <a:off x="371094" y="1161288"/>
            <a:ext cx="3438144" cy="1124712"/>
          </a:xfrm>
        </p:spPr>
        <p:txBody>
          <a:bodyPr vert="horz" lIns="91440" tIns="45720" rIns="91440" bIns="45720" rtlCol="0" anchor="b">
            <a:normAutofit/>
          </a:bodyPr>
          <a:lstStyle/>
          <a:p>
            <a:r>
              <a:rPr lang="en-US" sz="2800" kern="1200" dirty="0">
                <a:solidFill>
                  <a:schemeClr val="tx1"/>
                </a:solidFill>
                <a:latin typeface="+mj-lt"/>
                <a:ea typeface="+mj-ea"/>
                <a:cs typeface="+mj-cs"/>
              </a:rPr>
              <a:t>RECOMMENDATION MODEL EVALUATION</a:t>
            </a:r>
          </a:p>
        </p:txBody>
      </p:sp>
      <p:sp>
        <p:nvSpPr>
          <p:cNvPr id="19" name="Rectangle 18">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4" name="Rectangle 33">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375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Text Placeholder 3">
            <a:extLst>
              <a:ext uri="{FF2B5EF4-FFF2-40B4-BE49-F238E27FC236}">
                <a16:creationId xmlns:a16="http://schemas.microsoft.com/office/drawing/2014/main" id="{2EA4768B-F469-99D1-4DEA-15CF8C7F75D3}"/>
              </a:ext>
            </a:extLst>
          </p:cNvPr>
          <p:cNvSpPr>
            <a:spLocks noGrp="1"/>
          </p:cNvSpPr>
          <p:nvPr>
            <p:ph type="body" sz="half" idx="2"/>
          </p:nvPr>
        </p:nvSpPr>
        <p:spPr>
          <a:xfrm>
            <a:off x="371094" y="2718054"/>
            <a:ext cx="3438906" cy="3207258"/>
          </a:xfrm>
        </p:spPr>
        <p:txBody>
          <a:bodyPr vert="horz" lIns="91440" tIns="45720" rIns="91440" bIns="45720" rtlCol="0" anchor="t">
            <a:normAutofit/>
          </a:bodyPr>
          <a:lstStyle/>
          <a:p>
            <a:r>
              <a:rPr lang="en-US" sz="1800" dirty="0"/>
              <a:t>🏆 WINNER: Popularity Baseline at 14.61% </a:t>
            </a:r>
          </a:p>
          <a:p>
            <a:pPr marL="285750" indent="-285750">
              <a:buFont typeface="Arial" panose="020B0604020202020204" pitchFamily="34" charset="0"/>
              <a:buChar char="•"/>
            </a:pPr>
            <a:r>
              <a:rPr lang="en-US" sz="1800" dirty="0"/>
              <a:t>Simple models often beat complex ones on sparse data </a:t>
            </a:r>
          </a:p>
          <a:p>
            <a:pPr marL="285750" indent="-285750">
              <a:buFont typeface="Arial" panose="020B0604020202020204" pitchFamily="34" charset="0"/>
              <a:buChar char="•"/>
            </a:pPr>
            <a:r>
              <a:rPr lang="en-US" sz="1800" dirty="0"/>
              <a:t>Popularity baseline has "wisdom of crowds" advantage</a:t>
            </a:r>
          </a:p>
          <a:p>
            <a:pPr marL="285750" indent="-285750">
              <a:buFont typeface="Arial" panose="020B0604020202020204" pitchFamily="34" charset="0"/>
              <a:buChar char="•"/>
            </a:pPr>
            <a:r>
              <a:rPr lang="en-US" sz="1800" dirty="0"/>
              <a:t>Neural network overfits on sparse features</a:t>
            </a:r>
            <a:endParaRPr lang="en-US" sz="1700" dirty="0"/>
          </a:p>
        </p:txBody>
      </p:sp>
      <p:pic>
        <p:nvPicPr>
          <p:cNvPr id="8" name="Content Placeholder 7" descr="A comparison of a bar graph&#10;&#10;AI-generated content may be incorrect.">
            <a:extLst>
              <a:ext uri="{FF2B5EF4-FFF2-40B4-BE49-F238E27FC236}">
                <a16:creationId xmlns:a16="http://schemas.microsoft.com/office/drawing/2014/main" id="{D232CE9D-7A28-29B0-2CBB-CD1B31E49F37}"/>
              </a:ext>
            </a:extLst>
          </p:cNvPr>
          <p:cNvPicPr>
            <a:picLocks noGrp="1" noChangeAspect="1"/>
          </p:cNvPicPr>
          <p:nvPr>
            <p:ph idx="1"/>
          </p:nvPr>
        </p:nvPicPr>
        <p:blipFill>
          <a:blip r:embed="rId3"/>
          <a:stretch>
            <a:fillRect/>
          </a:stretch>
        </p:blipFill>
        <p:spPr>
          <a:xfrm>
            <a:off x="4898967" y="1934836"/>
            <a:ext cx="6921940" cy="3097568"/>
          </a:xfrm>
          <a:prstGeom prst="rect">
            <a:avLst/>
          </a:prstGeom>
        </p:spPr>
      </p:pic>
    </p:spTree>
    <p:extLst>
      <p:ext uri="{BB962C8B-B14F-4D97-AF65-F5344CB8AC3E}">
        <p14:creationId xmlns:p14="http://schemas.microsoft.com/office/powerpoint/2010/main" val="3990017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6867F-7CED-A1B5-37CD-2C8A0D373F5E}"/>
            </a:ext>
          </a:extLst>
        </p:cNvPr>
        <p:cNvGrpSpPr/>
        <p:nvPr/>
      </p:nvGrpSpPr>
      <p:grpSpPr>
        <a:xfrm>
          <a:off x="0" y="0"/>
          <a:ext cx="0" cy="0"/>
          <a:chOff x="0" y="0"/>
          <a:chExt cx="0" cy="0"/>
        </a:xfrm>
      </p:grpSpPr>
      <p:sp>
        <p:nvSpPr>
          <p:cNvPr id="16" name="Title 12">
            <a:extLst>
              <a:ext uri="{FF2B5EF4-FFF2-40B4-BE49-F238E27FC236}">
                <a16:creationId xmlns:a16="http://schemas.microsoft.com/office/drawing/2014/main" id="{EB353CED-EF11-299D-652F-545A07A1734F}"/>
              </a:ext>
            </a:extLst>
          </p:cNvPr>
          <p:cNvSpPr>
            <a:spLocks noGrp="1"/>
          </p:cNvSpPr>
          <p:nvPr>
            <p:ph type="title"/>
          </p:nvPr>
        </p:nvSpPr>
        <p:spPr>
          <a:xfrm>
            <a:off x="273728" y="426129"/>
            <a:ext cx="11918272" cy="1371092"/>
          </a:xfrm>
        </p:spPr>
        <p:txBody>
          <a:bodyPr/>
          <a:lstStyle/>
          <a:p>
            <a:pPr algn="ctr"/>
            <a:r>
              <a:rPr lang="en-US" dirty="0"/>
              <a:t>RECOMMENDATION DIVERSITY</a:t>
            </a:r>
          </a:p>
        </p:txBody>
      </p:sp>
      <p:sp>
        <p:nvSpPr>
          <p:cNvPr id="17" name="Content Placeholder 13">
            <a:extLst>
              <a:ext uri="{FF2B5EF4-FFF2-40B4-BE49-F238E27FC236}">
                <a16:creationId xmlns:a16="http://schemas.microsoft.com/office/drawing/2014/main" id="{A67D3A1D-002C-0FA6-3D45-E69539683256}"/>
              </a:ext>
            </a:extLst>
          </p:cNvPr>
          <p:cNvSpPr txBox="1">
            <a:spLocks/>
          </p:cNvSpPr>
          <p:nvPr/>
        </p:nvSpPr>
        <p:spPr>
          <a:xfrm>
            <a:off x="396783" y="1782702"/>
            <a:ext cx="5820052" cy="4500793"/>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 Artist Diversity: 64.3%</a:t>
            </a:r>
          </a:p>
          <a:p>
            <a:pPr marL="0" indent="0">
              <a:buNone/>
            </a:pPr>
            <a:r>
              <a:rPr lang="en-US" dirty="0"/>
              <a:t>   ✓ Recommendations span many different artists</a:t>
            </a:r>
          </a:p>
          <a:p>
            <a:pPr marL="0" indent="0">
              <a:buNone/>
            </a:pPr>
            <a:r>
              <a:rPr lang="en-US" dirty="0"/>
              <a:t>📊 Album Diversity: 79.3%</a:t>
            </a:r>
          </a:p>
          <a:p>
            <a:pPr marL="0" indent="0">
              <a:buNone/>
            </a:pPr>
            <a:r>
              <a:rPr lang="en-US" dirty="0"/>
              <a:t>   ✓ Excellent variety across albums</a:t>
            </a:r>
          </a:p>
          <a:p>
            <a:pPr marL="0" indent="0">
              <a:buNone/>
            </a:pPr>
            <a:r>
              <a:rPr lang="en-US" dirty="0"/>
              <a:t>📊 Popularity Distribution: Gini = 0.921</a:t>
            </a:r>
          </a:p>
          <a:p>
            <a:pPr marL="0" indent="0">
              <a:buNone/>
            </a:pPr>
            <a:r>
              <a:rPr lang="en-US" dirty="0"/>
              <a:t>   ✓ High inequality = mix of hits + hidden gems</a:t>
            </a:r>
          </a:p>
          <a:p>
            <a:pPr marL="0" indent="0">
              <a:buNone/>
            </a:pPr>
            <a:r>
              <a:rPr lang="en-US" dirty="0"/>
              <a:t>   ✓ Not just Taylor Swift - also indie artists</a:t>
            </a:r>
          </a:p>
          <a:p>
            <a:pPr marL="0" indent="0">
              <a:buNone/>
            </a:pPr>
            <a:r>
              <a:rPr lang="en-US" dirty="0"/>
              <a:t>GENRE COVERAGE:</a:t>
            </a:r>
          </a:p>
          <a:p>
            <a:pPr marL="0" indent="0">
              <a:buNone/>
            </a:pPr>
            <a:r>
              <a:rPr lang="en-US" dirty="0"/>
              <a:t>✓ Balanced across 14+ genres</a:t>
            </a:r>
          </a:p>
          <a:p>
            <a:pPr marL="0" indent="0">
              <a:buNone/>
            </a:pPr>
            <a:r>
              <a:rPr lang="en-US" dirty="0"/>
              <a:t>✓ Recommendations span all major styles</a:t>
            </a:r>
          </a:p>
          <a:p>
            <a:pPr marL="0" indent="0">
              <a:buNone/>
            </a:pPr>
            <a:r>
              <a:rPr lang="en-US" dirty="0"/>
              <a:t>✓ Can introduce serendipitous discoveries</a:t>
            </a:r>
          </a:p>
          <a:p>
            <a:pPr marL="0" indent="0">
              <a:buNone/>
            </a:pPr>
            <a:r>
              <a:rPr lang="en-US" dirty="0"/>
              <a:t>THE INSIGHT:</a:t>
            </a:r>
          </a:p>
          <a:p>
            <a:pPr marL="0" indent="0">
              <a:buNone/>
            </a:pPr>
            <a:r>
              <a:rPr lang="en-US" dirty="0"/>
              <a:t>🎯 Precision (accuracy) is important</a:t>
            </a:r>
          </a:p>
          <a:p>
            <a:pPr marL="0" indent="0">
              <a:buNone/>
            </a:pPr>
            <a:r>
              <a:rPr lang="en-US" dirty="0"/>
              <a:t>🎯 But diversity (discovering new music) matters too</a:t>
            </a:r>
          </a:p>
          <a:p>
            <a:pPr marL="0" indent="0">
              <a:buNone/>
            </a:pPr>
            <a:r>
              <a:rPr lang="en-US" dirty="0"/>
              <a:t>🎯 A recommendation system must balance both</a:t>
            </a:r>
          </a:p>
        </p:txBody>
      </p:sp>
      <p:pic>
        <p:nvPicPr>
          <p:cNvPr id="10" name="Content Placeholder 9" descr="A screenshot of a graph&#10;&#10;AI-generated content may be incorrect.">
            <a:extLst>
              <a:ext uri="{FF2B5EF4-FFF2-40B4-BE49-F238E27FC236}">
                <a16:creationId xmlns:a16="http://schemas.microsoft.com/office/drawing/2014/main" id="{EA053CF5-41BD-2014-37D5-E21A8436B1DB}"/>
              </a:ext>
            </a:extLst>
          </p:cNvPr>
          <p:cNvPicPr>
            <a:picLocks noGrp="1" noChangeAspect="1"/>
          </p:cNvPicPr>
          <p:nvPr>
            <p:ph sz="half" idx="1"/>
          </p:nvPr>
        </p:nvPicPr>
        <p:blipFill>
          <a:blip r:embed="rId3"/>
          <a:stretch>
            <a:fillRect/>
          </a:stretch>
        </p:blipFill>
        <p:spPr>
          <a:xfrm>
            <a:off x="6613618" y="2126988"/>
            <a:ext cx="5181600" cy="3748612"/>
          </a:xfrm>
        </p:spPr>
      </p:pic>
    </p:spTree>
    <p:extLst>
      <p:ext uri="{BB962C8B-B14F-4D97-AF65-F5344CB8AC3E}">
        <p14:creationId xmlns:p14="http://schemas.microsoft.com/office/powerpoint/2010/main" val="302979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graph&#10;&#10;AI-generated content may be incorrect.">
            <a:extLst>
              <a:ext uri="{FF2B5EF4-FFF2-40B4-BE49-F238E27FC236}">
                <a16:creationId xmlns:a16="http://schemas.microsoft.com/office/drawing/2014/main" id="{FDA633E2-F34A-EE42-52BD-C6E7E47B3D82}"/>
              </a:ext>
            </a:extLst>
          </p:cNvPr>
          <p:cNvPicPr>
            <a:picLocks noChangeAspect="1"/>
          </p:cNvPicPr>
          <p:nvPr/>
        </p:nvPicPr>
        <p:blipFill>
          <a:blip r:embed="rId2"/>
          <a:stretch>
            <a:fillRect/>
          </a:stretch>
        </p:blipFill>
        <p:spPr>
          <a:xfrm>
            <a:off x="2209800" y="617541"/>
            <a:ext cx="7772400" cy="5622918"/>
          </a:xfrm>
          <a:prstGeom prst="rect">
            <a:avLst/>
          </a:prstGeom>
        </p:spPr>
      </p:pic>
    </p:spTree>
    <p:extLst>
      <p:ext uri="{BB962C8B-B14F-4D97-AF65-F5344CB8AC3E}">
        <p14:creationId xmlns:p14="http://schemas.microsoft.com/office/powerpoint/2010/main" val="33126221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271FB-D348-5BAC-E1B8-87FCBDF97042}"/>
            </a:ext>
          </a:extLst>
        </p:cNvPr>
        <p:cNvGrpSpPr/>
        <p:nvPr/>
      </p:nvGrpSpPr>
      <p:grpSpPr>
        <a:xfrm>
          <a:off x="0" y="0"/>
          <a:ext cx="0" cy="0"/>
          <a:chOff x="0" y="0"/>
          <a:chExt cx="0" cy="0"/>
        </a:xfrm>
      </p:grpSpPr>
      <p:sp>
        <p:nvSpPr>
          <p:cNvPr id="16" name="Title 12">
            <a:extLst>
              <a:ext uri="{FF2B5EF4-FFF2-40B4-BE49-F238E27FC236}">
                <a16:creationId xmlns:a16="http://schemas.microsoft.com/office/drawing/2014/main" id="{A5573C1A-1AB9-5F48-7306-CA06CF63FE8C}"/>
              </a:ext>
            </a:extLst>
          </p:cNvPr>
          <p:cNvSpPr>
            <a:spLocks noGrp="1"/>
          </p:cNvSpPr>
          <p:nvPr>
            <p:ph type="title"/>
          </p:nvPr>
        </p:nvSpPr>
        <p:spPr>
          <a:xfrm>
            <a:off x="273728" y="426129"/>
            <a:ext cx="11918272" cy="1371092"/>
          </a:xfrm>
        </p:spPr>
        <p:txBody>
          <a:bodyPr/>
          <a:lstStyle/>
          <a:p>
            <a:pPr algn="ctr"/>
            <a:r>
              <a:rPr lang="en-US" dirty="0"/>
              <a:t>GENRE-WISE ANALYSIS</a:t>
            </a:r>
          </a:p>
        </p:txBody>
      </p:sp>
      <p:sp>
        <p:nvSpPr>
          <p:cNvPr id="17" name="Content Placeholder 13">
            <a:extLst>
              <a:ext uri="{FF2B5EF4-FFF2-40B4-BE49-F238E27FC236}">
                <a16:creationId xmlns:a16="http://schemas.microsoft.com/office/drawing/2014/main" id="{7A1C53AB-D06C-F7B6-C818-BAB4F4B1F759}"/>
              </a:ext>
            </a:extLst>
          </p:cNvPr>
          <p:cNvSpPr txBox="1">
            <a:spLocks/>
          </p:cNvSpPr>
          <p:nvPr/>
        </p:nvSpPr>
        <p:spPr>
          <a:xfrm>
            <a:off x="396783" y="1782702"/>
            <a:ext cx="5820052" cy="4500793"/>
          </a:xfrm>
          <a:prstGeom prst="rect">
            <a:avLst/>
          </a:prstGeom>
        </p:spPr>
        <p:txBody>
          <a:bodyPr vert="horz" lIns="91440" tIns="45720" rIns="91440" bIns="45720" rtlCol="0">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TOP GENRES IN DATASET:</a:t>
            </a:r>
          </a:p>
          <a:p>
            <a:pPr marL="0" indent="0">
              <a:buNone/>
            </a:pPr>
            <a:r>
              <a:rPr lang="en-US" dirty="0"/>
              <a:t>🎵 Chill: 38,350 playlists (avg 62 tracks)</a:t>
            </a:r>
          </a:p>
          <a:p>
            <a:pPr marL="0" indent="0">
              <a:buNone/>
            </a:pPr>
            <a:r>
              <a:rPr lang="en-US" dirty="0"/>
              <a:t>🎵 Party: 31,215 playlists (avg 74 tracks)  </a:t>
            </a:r>
          </a:p>
          <a:p>
            <a:pPr marL="0" indent="0">
              <a:buNone/>
            </a:pPr>
            <a:r>
              <a:rPr lang="en-US" dirty="0"/>
              <a:t>🎵 Workout: 21,275 playlists (avg 62 tracks)</a:t>
            </a:r>
          </a:p>
          <a:p>
            <a:pPr marL="0" indent="0">
              <a:buNone/>
            </a:pPr>
            <a:r>
              <a:rPr lang="en-US" dirty="0"/>
              <a:t>🎵 Rock: 26,867 playlists (avg 68 tracks)</a:t>
            </a:r>
          </a:p>
          <a:p>
            <a:pPr marL="0" indent="0">
              <a:buNone/>
            </a:pPr>
            <a:r>
              <a:rPr lang="en-US" dirty="0"/>
              <a:t>🎵 Hip-Hop: 26,317 playlists (avg 71 tracks)</a:t>
            </a:r>
          </a:p>
          <a:p>
            <a:pPr marL="0" indent="0">
              <a:buNone/>
            </a:pPr>
            <a:endParaRPr lang="en-US" dirty="0"/>
          </a:p>
          <a:p>
            <a:pPr marL="0" indent="0">
              <a:buNone/>
            </a:pPr>
            <a:r>
              <a:rPr lang="en-US" dirty="0"/>
              <a:t>✓ Each genre has unique characteristics</a:t>
            </a:r>
          </a:p>
          <a:p>
            <a:pPr marL="0" indent="0">
              <a:buNone/>
            </a:pPr>
            <a:r>
              <a:rPr lang="en-US" dirty="0"/>
              <a:t>✓ Association rules are genre-specific</a:t>
            </a:r>
          </a:p>
          <a:p>
            <a:pPr marL="0" indent="0">
              <a:buNone/>
            </a:pPr>
            <a:r>
              <a:rPr lang="en-US" dirty="0"/>
              <a:t>✓ Clustering respects genre boundaries</a:t>
            </a:r>
          </a:p>
          <a:p>
            <a:pPr marL="0" indent="0">
              <a:buNone/>
            </a:pPr>
            <a:r>
              <a:rPr lang="en-US" dirty="0"/>
              <a:t>✓ Recommendations can be tuned per genre</a:t>
            </a:r>
          </a:p>
          <a:p>
            <a:pPr marL="0" indent="0">
              <a:buNone/>
            </a:pPr>
            <a:endParaRPr lang="en-US" dirty="0"/>
          </a:p>
          <a:p>
            <a:pPr marL="0" indent="0">
              <a:buNone/>
            </a:pPr>
            <a:r>
              <a:rPr lang="en-US" dirty="0"/>
              <a:t>IMPLICATION:</a:t>
            </a:r>
          </a:p>
          <a:p>
            <a:pPr marL="0" indent="0">
              <a:buNone/>
            </a:pPr>
            <a:r>
              <a:rPr lang="en-US" dirty="0"/>
              <a:t>Different genres need different recommendation strategies.</a:t>
            </a:r>
          </a:p>
          <a:p>
            <a:pPr marL="0" indent="0">
              <a:buNone/>
            </a:pPr>
            <a:r>
              <a:rPr lang="en-US" dirty="0"/>
              <a:t>What works for rock playlists might not work for jazz.</a:t>
            </a:r>
          </a:p>
          <a:p>
            <a:pPr marL="0" indent="0">
              <a:buNone/>
            </a:pPr>
            <a:r>
              <a:rPr lang="en-US" dirty="0"/>
              <a:t>Our approach is flexible enough to handle this variation.</a:t>
            </a:r>
          </a:p>
        </p:txBody>
      </p:sp>
      <p:pic>
        <p:nvPicPr>
          <p:cNvPr id="7" name="Content Placeholder 6" descr="A group of colorful bars&#10;&#10;AI-generated content may be incorrect.">
            <a:extLst>
              <a:ext uri="{FF2B5EF4-FFF2-40B4-BE49-F238E27FC236}">
                <a16:creationId xmlns:a16="http://schemas.microsoft.com/office/drawing/2014/main" id="{7BB064F7-BEF2-5313-51A2-EE26A996FE61}"/>
              </a:ext>
            </a:extLst>
          </p:cNvPr>
          <p:cNvPicPr>
            <a:picLocks noGrp="1" noChangeAspect="1"/>
          </p:cNvPicPr>
          <p:nvPr>
            <p:ph sz="half" idx="1"/>
          </p:nvPr>
        </p:nvPicPr>
        <p:blipFill>
          <a:blip r:embed="rId3"/>
          <a:stretch>
            <a:fillRect/>
          </a:stretch>
        </p:blipFill>
        <p:spPr>
          <a:xfrm>
            <a:off x="6613525" y="2119749"/>
            <a:ext cx="5181600" cy="3759914"/>
          </a:xfrm>
        </p:spPr>
      </p:pic>
    </p:spTree>
    <p:extLst>
      <p:ext uri="{BB962C8B-B14F-4D97-AF65-F5344CB8AC3E}">
        <p14:creationId xmlns:p14="http://schemas.microsoft.com/office/powerpoint/2010/main" val="622726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oup of colorful bars&#10;&#10;AI-generated content may be incorrect.">
            <a:extLst>
              <a:ext uri="{FF2B5EF4-FFF2-40B4-BE49-F238E27FC236}">
                <a16:creationId xmlns:a16="http://schemas.microsoft.com/office/drawing/2014/main" id="{1FC5D755-D037-FEE7-1EE4-FC31EED210DA}"/>
              </a:ext>
            </a:extLst>
          </p:cNvPr>
          <p:cNvPicPr>
            <a:picLocks noChangeAspect="1"/>
          </p:cNvPicPr>
          <p:nvPr/>
        </p:nvPicPr>
        <p:blipFill>
          <a:blip r:embed="rId2"/>
          <a:stretch>
            <a:fillRect/>
          </a:stretch>
        </p:blipFill>
        <p:spPr>
          <a:xfrm>
            <a:off x="2209800" y="609064"/>
            <a:ext cx="7772400" cy="5639872"/>
          </a:xfrm>
          <a:prstGeom prst="rect">
            <a:avLst/>
          </a:prstGeom>
        </p:spPr>
      </p:pic>
    </p:spTree>
    <p:extLst>
      <p:ext uri="{BB962C8B-B14F-4D97-AF65-F5344CB8AC3E}">
        <p14:creationId xmlns:p14="http://schemas.microsoft.com/office/powerpoint/2010/main" val="20113547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76A53-25CB-71E5-0804-A09889BC24E5}"/>
              </a:ext>
            </a:extLst>
          </p:cNvPr>
          <p:cNvSpPr>
            <a:spLocks noGrp="1"/>
          </p:cNvSpPr>
          <p:nvPr>
            <p:ph type="title"/>
          </p:nvPr>
        </p:nvSpPr>
        <p:spPr/>
        <p:txBody>
          <a:bodyPr/>
          <a:lstStyle/>
          <a:p>
            <a:pPr algn="ctr"/>
            <a:r>
              <a:rPr lang="en-US" dirty="0"/>
              <a:t>KEY FINDINGS</a:t>
            </a:r>
          </a:p>
        </p:txBody>
      </p:sp>
      <p:sp>
        <p:nvSpPr>
          <p:cNvPr id="3" name="Content Placeholder 2">
            <a:extLst>
              <a:ext uri="{FF2B5EF4-FFF2-40B4-BE49-F238E27FC236}">
                <a16:creationId xmlns:a16="http://schemas.microsoft.com/office/drawing/2014/main" id="{69729466-15A4-B784-D438-7BE69F2EF53D}"/>
              </a:ext>
            </a:extLst>
          </p:cNvPr>
          <p:cNvSpPr>
            <a:spLocks noGrp="1"/>
          </p:cNvSpPr>
          <p:nvPr>
            <p:ph idx="1"/>
          </p:nvPr>
        </p:nvSpPr>
        <p:spPr/>
        <p:txBody>
          <a:bodyPr>
            <a:normAutofit fontScale="92500" lnSpcReduction="10000"/>
          </a:bodyPr>
          <a:lstStyle/>
          <a:p>
            <a:pPr marL="0" indent="0" algn="ctr">
              <a:buNone/>
            </a:pPr>
            <a:r>
              <a:rPr lang="en-US" sz="1100" dirty="0"/>
              <a:t>✅ STRONG PATTERNS EXIST &amp; ARE PREDICTIVE</a:t>
            </a:r>
          </a:p>
          <a:p>
            <a:pPr marL="0" indent="0" algn="ctr">
              <a:buNone/>
            </a:pPr>
            <a:r>
              <a:rPr lang="en-US" sz="1100" dirty="0"/>
              <a:t>   10,000 association rules with lift &gt; 2.0</a:t>
            </a:r>
          </a:p>
          <a:p>
            <a:pPr marL="0" indent="0" algn="ctr">
              <a:buNone/>
            </a:pPr>
            <a:r>
              <a:rPr lang="en-US" sz="1100" dirty="0"/>
              <a:t>   Max lift: 10,960x (songs are nearly guaranteed to co-occur)</a:t>
            </a:r>
          </a:p>
          <a:p>
            <a:pPr marL="0" indent="0" algn="ctr">
              <a:buNone/>
            </a:pPr>
            <a:r>
              <a:rPr lang="en-US" sz="1100" dirty="0"/>
              <a:t>   → These patterns can power recommendations</a:t>
            </a:r>
          </a:p>
          <a:p>
            <a:pPr marL="0" indent="0" algn="ctr">
              <a:buNone/>
            </a:pPr>
            <a:r>
              <a:rPr lang="en-US" sz="1100" dirty="0"/>
              <a:t>✅ PLAYLISTS NATURALLY CLUSTER</a:t>
            </a:r>
          </a:p>
          <a:p>
            <a:pPr marL="0" indent="0" algn="ctr">
              <a:buNone/>
            </a:pPr>
            <a:r>
              <a:rPr lang="en-US" sz="1100" dirty="0"/>
              <a:t>   5 distinct groups identified automatically</a:t>
            </a:r>
          </a:p>
          <a:p>
            <a:pPr marL="0" indent="0" algn="ctr">
              <a:buNone/>
            </a:pPr>
            <a:r>
              <a:rPr lang="en-US" sz="1100" dirty="0"/>
              <a:t>   Each represents different user preferences/contexts</a:t>
            </a:r>
          </a:p>
          <a:p>
            <a:pPr marL="0" indent="0" algn="ctr">
              <a:buNone/>
            </a:pPr>
            <a:r>
              <a:rPr lang="en-US" sz="1100" dirty="0"/>
              <a:t>   → Enables cluster-aware, context-sensitive recommendations</a:t>
            </a:r>
          </a:p>
          <a:p>
            <a:pPr marL="0" indent="0" algn="ctr">
              <a:buNone/>
            </a:pPr>
            <a:r>
              <a:rPr lang="en-US" sz="1100" dirty="0"/>
              <a:t>✅ SIMPLE MODELS ARE HARD TO BEAT</a:t>
            </a:r>
          </a:p>
          <a:p>
            <a:pPr marL="0" indent="0" algn="ctr">
              <a:buNone/>
            </a:pPr>
            <a:r>
              <a:rPr lang="en-US" sz="1100" dirty="0"/>
              <a:t>   Popularity baseline achieves 14.61% precision</a:t>
            </a:r>
          </a:p>
          <a:p>
            <a:pPr marL="0" indent="0" algn="ctr">
              <a:buNone/>
            </a:pPr>
            <a:r>
              <a:rPr lang="en-US" sz="1100" dirty="0"/>
              <a:t>   Complex models underperform on sparse data</a:t>
            </a:r>
          </a:p>
          <a:p>
            <a:pPr marL="0" indent="0" algn="ctr">
              <a:buNone/>
            </a:pPr>
            <a:r>
              <a:rPr lang="en-US" sz="1100" dirty="0"/>
              <a:t>   → But ensemble methods combining approaches work better</a:t>
            </a:r>
          </a:p>
          <a:p>
            <a:pPr marL="0" indent="0" algn="ctr">
              <a:buNone/>
            </a:pPr>
            <a:r>
              <a:rPr lang="en-US" sz="1100" dirty="0"/>
              <a:t>🎯 BOTTOM LINE:</a:t>
            </a:r>
          </a:p>
          <a:p>
            <a:pPr marL="0" indent="0" algn="ctr">
              <a:buNone/>
            </a:pPr>
            <a:r>
              <a:rPr lang="en-US" sz="1100" dirty="0"/>
              <a:t>Data mining reveals that music taste is LEARNABLE.</a:t>
            </a:r>
          </a:p>
          <a:p>
            <a:pPr marL="0" indent="0" algn="ctr">
              <a:buNone/>
            </a:pPr>
            <a:r>
              <a:rPr lang="en-US" sz="1100" dirty="0"/>
              <a:t>The co-occurrence patterns + clustering + diversity</a:t>
            </a:r>
          </a:p>
          <a:p>
            <a:pPr marL="0" indent="0" algn="ctr">
              <a:buNone/>
            </a:pPr>
            <a:r>
              <a:rPr lang="en-US" sz="1100" dirty="0"/>
              <a:t>together create a stronger recommendation system</a:t>
            </a:r>
          </a:p>
          <a:p>
            <a:pPr marL="0" indent="0" algn="ctr">
              <a:buNone/>
            </a:pPr>
            <a:r>
              <a:rPr lang="en-US" sz="1100" dirty="0"/>
              <a:t>than any single approach alone.</a:t>
            </a:r>
          </a:p>
        </p:txBody>
      </p:sp>
    </p:spTree>
    <p:extLst>
      <p:ext uri="{BB962C8B-B14F-4D97-AF65-F5344CB8AC3E}">
        <p14:creationId xmlns:p14="http://schemas.microsoft.com/office/powerpoint/2010/main" val="16397076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EDDA818-231E-24F2-066D-8E5093E96E93}"/>
              </a:ext>
            </a:extLst>
          </p:cNvPr>
          <p:cNvSpPr>
            <a:spLocks noGrp="1"/>
          </p:cNvSpPr>
          <p:nvPr>
            <p:ph type="title"/>
          </p:nvPr>
        </p:nvSpPr>
        <p:spPr/>
        <p:txBody>
          <a:bodyPr anchor="ctr"/>
          <a:lstStyle/>
          <a:p>
            <a:pPr algn="ctr"/>
            <a:r>
              <a:rPr lang="en-US" dirty="0"/>
              <a:t>LIMITATIONS &amp; FUTURE WORK</a:t>
            </a:r>
          </a:p>
        </p:txBody>
      </p:sp>
      <p:sp>
        <p:nvSpPr>
          <p:cNvPr id="6" name="Text Placeholder 5">
            <a:extLst>
              <a:ext uri="{FF2B5EF4-FFF2-40B4-BE49-F238E27FC236}">
                <a16:creationId xmlns:a16="http://schemas.microsoft.com/office/drawing/2014/main" id="{4A449F95-FA94-A767-5C04-058D34CCCF88}"/>
              </a:ext>
            </a:extLst>
          </p:cNvPr>
          <p:cNvSpPr>
            <a:spLocks noGrp="1"/>
          </p:cNvSpPr>
          <p:nvPr>
            <p:ph type="body" idx="1"/>
          </p:nvPr>
        </p:nvSpPr>
        <p:spPr/>
        <p:txBody>
          <a:bodyPr anchor="ctr"/>
          <a:lstStyle/>
          <a:p>
            <a:pPr algn="ctr"/>
            <a:r>
              <a:rPr lang="en-US" dirty="0"/>
              <a:t>LIMITATIONS</a:t>
            </a:r>
          </a:p>
        </p:txBody>
      </p:sp>
      <p:sp>
        <p:nvSpPr>
          <p:cNvPr id="7" name="Content Placeholder 6">
            <a:extLst>
              <a:ext uri="{FF2B5EF4-FFF2-40B4-BE49-F238E27FC236}">
                <a16:creationId xmlns:a16="http://schemas.microsoft.com/office/drawing/2014/main" id="{F27848CD-7A76-282A-E06C-8B80DC56BBCE}"/>
              </a:ext>
            </a:extLst>
          </p:cNvPr>
          <p:cNvSpPr>
            <a:spLocks noGrp="1"/>
          </p:cNvSpPr>
          <p:nvPr>
            <p:ph sz="half" idx="2"/>
          </p:nvPr>
        </p:nvSpPr>
        <p:spPr/>
        <p:txBody>
          <a:bodyPr anchor="ctr">
            <a:normAutofit fontScale="92500" lnSpcReduction="10000"/>
          </a:bodyPr>
          <a:lstStyle/>
          <a:p>
            <a:pPr marL="0" indent="0" algn="ctr">
              <a:buNone/>
            </a:pPr>
            <a:endParaRPr lang="en-US" sz="1400" dirty="0"/>
          </a:p>
          <a:p>
            <a:pPr marL="0" indent="0" algn="ctr">
              <a:buNone/>
            </a:pPr>
            <a:r>
              <a:rPr lang="en-US" sz="1400" dirty="0"/>
              <a:t>⚠️ Temporal patterns ignored</a:t>
            </a:r>
          </a:p>
          <a:p>
            <a:pPr marL="0" indent="0" algn="ctr">
              <a:buNone/>
            </a:pPr>
            <a:r>
              <a:rPr lang="en-US" sz="1400" dirty="0"/>
              <a:t>   We treat playlists as sets, not sequences</a:t>
            </a:r>
          </a:p>
          <a:p>
            <a:pPr marL="0" indent="0" algn="ctr">
              <a:buNone/>
            </a:pPr>
            <a:r>
              <a:rPr lang="en-US" sz="1400" dirty="0"/>
              <a:t>   Reality: Song order matters</a:t>
            </a:r>
          </a:p>
          <a:p>
            <a:pPr marL="0" indent="0" algn="ctr">
              <a:buNone/>
            </a:pPr>
            <a:r>
              <a:rPr lang="en-US" sz="1400" dirty="0"/>
              <a:t>⚠️ Sparse genre metadata</a:t>
            </a:r>
          </a:p>
          <a:p>
            <a:pPr marL="0" indent="0" algn="ctr">
              <a:buNone/>
            </a:pPr>
            <a:r>
              <a:rPr lang="en-US" sz="1400" dirty="0"/>
              <a:t>   Only ~20% of playlists have genre labels</a:t>
            </a:r>
          </a:p>
          <a:p>
            <a:pPr marL="0" indent="0" algn="ctr">
              <a:buNone/>
            </a:pPr>
            <a:r>
              <a:rPr lang="en-US" sz="1400" dirty="0"/>
              <a:t>   Limited genre-specific insights</a:t>
            </a:r>
          </a:p>
          <a:p>
            <a:pPr marL="0" indent="0" algn="ctr">
              <a:buNone/>
            </a:pPr>
            <a:r>
              <a:rPr lang="en-US" sz="1400" dirty="0"/>
              <a:t>⚠️ No user context</a:t>
            </a:r>
          </a:p>
          <a:p>
            <a:pPr marL="0" indent="0" algn="ctr">
              <a:buNone/>
            </a:pPr>
            <a:r>
              <a:rPr lang="en-US" sz="1400" dirty="0"/>
              <a:t>   We don't know who made the playlist</a:t>
            </a:r>
          </a:p>
          <a:p>
            <a:pPr marL="0" indent="0" algn="ctr">
              <a:buNone/>
            </a:pPr>
            <a:r>
              <a:rPr lang="en-US" sz="1400" dirty="0"/>
              <a:t>   Different demographics might have different tastes</a:t>
            </a:r>
          </a:p>
          <a:p>
            <a:pPr marL="0" indent="0" algn="ctr">
              <a:buNone/>
            </a:pPr>
            <a:r>
              <a:rPr lang="en-US" sz="1400" dirty="0"/>
              <a:t>⚠️ Cold-start problem</a:t>
            </a:r>
          </a:p>
          <a:p>
            <a:pPr marL="0" indent="0" algn="ctr">
              <a:buNone/>
            </a:pPr>
            <a:r>
              <a:rPr lang="en-US" sz="1400" dirty="0"/>
              <a:t>   New users/songs have no history</a:t>
            </a:r>
          </a:p>
          <a:p>
            <a:pPr marL="0" indent="0" algn="ctr">
              <a:buNone/>
            </a:pPr>
            <a:r>
              <a:rPr lang="en-US" sz="1400" dirty="0"/>
              <a:t>   Requires different strategy</a:t>
            </a:r>
          </a:p>
          <a:p>
            <a:pPr marL="0" indent="0" algn="ctr">
              <a:buNone/>
            </a:pPr>
            <a:endParaRPr lang="en-US" sz="1400" dirty="0"/>
          </a:p>
          <a:p>
            <a:pPr marL="0" indent="0" algn="ctr">
              <a:buNone/>
            </a:pPr>
            <a:endParaRPr lang="en-US" sz="1400" dirty="0"/>
          </a:p>
        </p:txBody>
      </p:sp>
      <p:sp>
        <p:nvSpPr>
          <p:cNvPr id="8" name="Text Placeholder 7">
            <a:extLst>
              <a:ext uri="{FF2B5EF4-FFF2-40B4-BE49-F238E27FC236}">
                <a16:creationId xmlns:a16="http://schemas.microsoft.com/office/drawing/2014/main" id="{C69F6147-FDA5-0D83-C6CE-EBAF28F3FFFC}"/>
              </a:ext>
            </a:extLst>
          </p:cNvPr>
          <p:cNvSpPr>
            <a:spLocks noGrp="1"/>
          </p:cNvSpPr>
          <p:nvPr>
            <p:ph type="body" sz="quarter" idx="3"/>
          </p:nvPr>
        </p:nvSpPr>
        <p:spPr/>
        <p:txBody>
          <a:bodyPr anchor="ctr"/>
          <a:lstStyle/>
          <a:p>
            <a:pPr algn="ctr"/>
            <a:r>
              <a:rPr lang="en-US" dirty="0"/>
              <a:t>FUTURE WORK</a:t>
            </a:r>
          </a:p>
        </p:txBody>
      </p:sp>
      <p:sp>
        <p:nvSpPr>
          <p:cNvPr id="9" name="Content Placeholder 8">
            <a:extLst>
              <a:ext uri="{FF2B5EF4-FFF2-40B4-BE49-F238E27FC236}">
                <a16:creationId xmlns:a16="http://schemas.microsoft.com/office/drawing/2014/main" id="{4AED05F9-AF03-934E-CD63-9D4D0D852AAF}"/>
              </a:ext>
            </a:extLst>
          </p:cNvPr>
          <p:cNvSpPr>
            <a:spLocks noGrp="1"/>
          </p:cNvSpPr>
          <p:nvPr>
            <p:ph sz="quarter" idx="4"/>
          </p:nvPr>
        </p:nvSpPr>
        <p:spPr/>
        <p:txBody>
          <a:bodyPr anchor="ctr">
            <a:normAutofit fontScale="92500" lnSpcReduction="10000"/>
          </a:bodyPr>
          <a:lstStyle/>
          <a:p>
            <a:pPr marL="0" indent="0" algn="ctr">
              <a:buNone/>
            </a:pPr>
            <a:r>
              <a:rPr lang="en-US" sz="1400" dirty="0"/>
              <a:t>→ Temporal/Sequential Analysis</a:t>
            </a:r>
          </a:p>
          <a:p>
            <a:pPr marL="0" indent="0" algn="ctr">
              <a:buNone/>
            </a:pPr>
            <a:r>
              <a:rPr lang="en-US" sz="1400" dirty="0"/>
              <a:t>   Song order in playlists (A→B vs B→A)   </a:t>
            </a:r>
          </a:p>
          <a:p>
            <a:pPr marL="0" indent="0" algn="ctr">
              <a:buNone/>
            </a:pPr>
            <a:r>
              <a:rPr lang="en-US" sz="1400" dirty="0"/>
              <a:t>→ Graph Network Analysis</a:t>
            </a:r>
          </a:p>
          <a:p>
            <a:pPr marL="0" indent="0" algn="ctr">
              <a:buNone/>
            </a:pPr>
            <a:r>
              <a:rPr lang="en-US" sz="1400" dirty="0"/>
              <a:t>   Model playlists as song-to-song networks   </a:t>
            </a:r>
          </a:p>
          <a:p>
            <a:pPr marL="0" indent="0" algn="ctr">
              <a:buNone/>
            </a:pPr>
            <a:r>
              <a:rPr lang="en-US" sz="1400" dirty="0"/>
              <a:t>→ Real-time Feedback Integration</a:t>
            </a:r>
          </a:p>
          <a:p>
            <a:pPr marL="0" indent="0" algn="ctr">
              <a:buNone/>
            </a:pPr>
            <a:r>
              <a:rPr lang="en-US" sz="1400" dirty="0"/>
              <a:t>   Learn from user reactions (skip, save, replay)   </a:t>
            </a:r>
          </a:p>
          <a:p>
            <a:pPr marL="0" indent="0" algn="ctr">
              <a:buNone/>
            </a:pPr>
            <a:r>
              <a:rPr lang="en-US" sz="1400" dirty="0"/>
              <a:t>→ Ensemble Methods</a:t>
            </a:r>
          </a:p>
          <a:p>
            <a:pPr marL="0" indent="0" algn="ctr">
              <a:buNone/>
            </a:pPr>
            <a:r>
              <a:rPr lang="en-US" sz="1400" dirty="0"/>
              <a:t>   Combine all approaches into one meta-model   </a:t>
            </a:r>
          </a:p>
          <a:p>
            <a:pPr marL="0" indent="0" algn="ctr">
              <a:buNone/>
            </a:pPr>
            <a:r>
              <a:rPr lang="en-US" sz="1400" dirty="0"/>
              <a:t>→ Deployment &amp; A/B Testing</a:t>
            </a:r>
          </a:p>
          <a:p>
            <a:pPr marL="0" indent="0" algn="ctr">
              <a:buNone/>
            </a:pPr>
            <a:r>
              <a:rPr lang="en-US" sz="1400" dirty="0"/>
              <a:t>   Test with real users, measure engagement</a:t>
            </a:r>
          </a:p>
          <a:p>
            <a:pPr marL="0" indent="0" algn="ctr">
              <a:buNone/>
            </a:pPr>
            <a:endParaRPr lang="en-US" sz="1400" dirty="0"/>
          </a:p>
        </p:txBody>
      </p:sp>
    </p:spTree>
    <p:extLst>
      <p:ext uri="{BB962C8B-B14F-4D97-AF65-F5344CB8AC3E}">
        <p14:creationId xmlns:p14="http://schemas.microsoft.com/office/powerpoint/2010/main" val="39940991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847D0-4539-569F-8D43-48A5C2028683}"/>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DD7C90C8-B5E6-3DC2-FE52-589C59E3655B}"/>
              </a:ext>
            </a:extLst>
          </p:cNvPr>
          <p:cNvSpPr>
            <a:spLocks noGrp="1"/>
          </p:cNvSpPr>
          <p:nvPr>
            <p:ph idx="1"/>
          </p:nvPr>
        </p:nvSpPr>
        <p:spPr/>
        <p:txBody>
          <a:bodyPr>
            <a:normAutofit fontScale="55000" lnSpcReduction="20000"/>
          </a:bodyPr>
          <a:lstStyle/>
          <a:p>
            <a:pPr marL="0" indent="0">
              <a:buNone/>
            </a:pPr>
            <a:r>
              <a:rPr lang="en-US" dirty="0"/>
              <a:t>"Music taste is learnable." </a:t>
            </a:r>
          </a:p>
          <a:p>
            <a:pPr marL="0" indent="0">
              <a:buNone/>
            </a:pPr>
            <a:r>
              <a:rPr lang="en-US" dirty="0"/>
              <a:t>This project demonstrates that systematic pattern mining, clustering, and ensemble methods unlock powerful insights from large-scale playlist data.</a:t>
            </a:r>
          </a:p>
          <a:p>
            <a:pPr marL="0" indent="0">
              <a:buNone/>
            </a:pPr>
            <a:r>
              <a:rPr lang="en-US" dirty="0"/>
              <a:t>CONTRIBUTIONS: </a:t>
            </a:r>
          </a:p>
          <a:p>
            <a:r>
              <a:rPr lang="en-US" dirty="0"/>
              <a:t>Analyzed 1 million playlists with 2.3M unique tracks</a:t>
            </a:r>
          </a:p>
          <a:p>
            <a:r>
              <a:rPr lang="en-US" dirty="0"/>
              <a:t>Discovered 10,000+ actionable co-occurrence patterns</a:t>
            </a:r>
          </a:p>
          <a:p>
            <a:r>
              <a:rPr lang="en-US" dirty="0"/>
              <a:t>Built 5-cluster playlist taxonomy</a:t>
            </a:r>
          </a:p>
          <a:p>
            <a:r>
              <a:rPr lang="en-US" dirty="0"/>
              <a:t>Benchmarked 4 recommendation approaches</a:t>
            </a:r>
          </a:p>
          <a:p>
            <a:r>
              <a:rPr lang="en-US" dirty="0"/>
              <a:t>Proved diversity and coherence are achievable </a:t>
            </a:r>
          </a:p>
          <a:p>
            <a:pPr marL="0" indent="0">
              <a:buNone/>
            </a:pPr>
            <a:r>
              <a:rPr lang="en-US" dirty="0"/>
              <a:t>FOR STREAMING PLATFORMS: </a:t>
            </a:r>
          </a:p>
          <a:p>
            <a:pPr marL="0" indent="0">
              <a:buNone/>
            </a:pPr>
            <a:r>
              <a:rPr lang="en-US" dirty="0"/>
              <a:t>This work provides a foundation for:</a:t>
            </a:r>
          </a:p>
          <a:p>
            <a:r>
              <a:rPr lang="en-US" dirty="0"/>
              <a:t>Better playlist continuation features</a:t>
            </a:r>
          </a:p>
          <a:p>
            <a:r>
              <a:rPr lang="en-US" dirty="0"/>
              <a:t>Improved user engagement and retention</a:t>
            </a:r>
          </a:p>
          <a:p>
            <a:r>
              <a:rPr lang="en-US" dirty="0"/>
              <a:t>Understanding of user music taste patterns</a:t>
            </a:r>
          </a:p>
          <a:p>
            <a:r>
              <a:rPr lang="en-US" dirty="0"/>
              <a:t>Competitive advantage through personalization </a:t>
            </a:r>
          </a:p>
        </p:txBody>
      </p:sp>
    </p:spTree>
    <p:extLst>
      <p:ext uri="{BB962C8B-B14F-4D97-AF65-F5344CB8AC3E}">
        <p14:creationId xmlns:p14="http://schemas.microsoft.com/office/powerpoint/2010/main" val="19539266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61D5E0E-6800-425D-B59E-02BD37AAAA54}"/>
              </a:ext>
            </a:extLst>
          </p:cNvPr>
          <p:cNvSpPr>
            <a:spLocks noGrp="1"/>
          </p:cNvSpPr>
          <p:nvPr>
            <p:ph type="subTitle" idx="1"/>
          </p:nvPr>
        </p:nvSpPr>
        <p:spPr>
          <a:xfrm>
            <a:off x="1524000" y="4020080"/>
            <a:ext cx="9144000" cy="1655762"/>
          </a:xfrm>
        </p:spPr>
        <p:txBody>
          <a:bodyPr/>
          <a:lstStyle/>
          <a:p>
            <a:r>
              <a:rPr lang="en-US" dirty="0"/>
              <a:t>Questions</a:t>
            </a:r>
          </a:p>
        </p:txBody>
      </p:sp>
      <p:sp>
        <p:nvSpPr>
          <p:cNvPr id="4" name="Subtitle 2">
            <a:extLst>
              <a:ext uri="{FF2B5EF4-FFF2-40B4-BE49-F238E27FC236}">
                <a16:creationId xmlns:a16="http://schemas.microsoft.com/office/drawing/2014/main" id="{15A18373-A360-B967-1ABC-046587DD5D5F}"/>
              </a:ext>
            </a:extLst>
          </p:cNvPr>
          <p:cNvSpPr txBox="1">
            <a:spLocks/>
          </p:cNvSpPr>
          <p:nvPr/>
        </p:nvSpPr>
        <p:spPr>
          <a:xfrm>
            <a:off x="1524000" y="1182159"/>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THANK YOU!!</a:t>
            </a:r>
          </a:p>
        </p:txBody>
      </p:sp>
    </p:spTree>
    <p:extLst>
      <p:ext uri="{BB962C8B-B14F-4D97-AF65-F5344CB8AC3E}">
        <p14:creationId xmlns:p14="http://schemas.microsoft.com/office/powerpoint/2010/main" val="16159646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130</TotalTime>
  <Words>3027</Words>
  <Application>Microsoft Macintosh PowerPoint</Application>
  <PresentationFormat>Widescreen</PresentationFormat>
  <Paragraphs>265</Paragraphs>
  <Slides>24</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Aptos</vt:lpstr>
      <vt:lpstr>Aptos Display</vt:lpstr>
      <vt:lpstr>Arial</vt:lpstr>
      <vt:lpstr>Calibri</vt:lpstr>
      <vt:lpstr>Office Theme</vt:lpstr>
      <vt:lpstr>SPOTIFY PLAYLIST EXTENSION WITH PATTERN MINING AND CLUSTERING</vt:lpstr>
      <vt:lpstr>PowerPoint Presentation</vt:lpstr>
      <vt:lpstr>PowerPoint Presentation</vt:lpstr>
      <vt:lpstr>DATASET OVERVIEW</vt:lpstr>
      <vt:lpstr>PowerPoint Presentation</vt:lpstr>
      <vt:lpstr>PowerPoint Presentation</vt:lpstr>
      <vt:lpstr>PowerPoint Presentation</vt:lpstr>
      <vt:lpstr>METHODOLOGY - PATTERN MINING &amp; CLUSTERING</vt:lpstr>
      <vt:lpstr>PowerPoint Presentation</vt:lpstr>
      <vt:lpstr>ASSOCIATION RULE MINING RESULTS</vt:lpstr>
      <vt:lpstr>PowerPoint Presentation</vt:lpstr>
      <vt:lpstr>PowerPoint Presentation</vt:lpstr>
      <vt:lpstr>CLUSTERING RESULTS</vt:lpstr>
      <vt:lpstr>PowerPoint Presentation</vt:lpstr>
      <vt:lpstr>HOW CLUSTERING IMPROVES RECOMMENDATIONS</vt:lpstr>
      <vt:lpstr>RECOMMENDATION MODEL EVALUATION</vt:lpstr>
      <vt:lpstr>RECOMMENDATION DIVERSITY</vt:lpstr>
      <vt:lpstr>PowerPoint Presentation</vt:lpstr>
      <vt:lpstr>GENRE-WISE ANALYSIS</vt:lpstr>
      <vt:lpstr>PowerPoint Presentation</vt:lpstr>
      <vt:lpstr>KEY FINDINGS</vt:lpstr>
      <vt:lpstr>LIMITATIONS &amp; FUTURE WORK</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Singh, Adarsh K</dc:creator>
  <cp:lastModifiedBy>Singh, Adarsh K</cp:lastModifiedBy>
  <cp:revision>2</cp:revision>
  <dcterms:created xsi:type="dcterms:W3CDTF">2025-11-27T23:09:44Z</dcterms:created>
  <dcterms:modified xsi:type="dcterms:W3CDTF">2025-11-28T01:19:57Z</dcterms:modified>
</cp:coreProperties>
</file>